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4" Type="http://schemas.openxmlformats.org/officeDocument/2006/relationships/slide" Target="slides/slide10.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 name="Shape 36"/>
        <p:cNvGrpSpPr/>
        <p:nvPr/>
      </p:nvGrpSpPr>
      <p:grpSpPr>
        <a:xfrm>
          <a:off x="0" y="0"/>
          <a:ext cx="0" cy="0"/>
          <a:chOff x="0" y="0"/>
          <a:chExt cx="0" cy="0"/>
        </a:xfrm>
      </p:grpSpPr>
      <p:sp>
        <p:nvSpPr>
          <p:cNvPr id="37" name="Google Shape;3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 name="Google Shape;3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 name="Google Shape;39;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 name="Google Shape;8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 name="Google Shape;81;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 name="Google Shape;14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 name="Google Shape;17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 name="Google Shape;180;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2" name="Google Shape;22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3" name="Google Shape;223;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9" name="Google Shape;309;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0" name="Google Shape;310;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0" name="Google Shape;390;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1" name="Google Shape;391;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8" name="Google Shape;42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9" name="Google Shape;429;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6" name="Google Shape;466;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7" name="Google Shape;467;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2342"/>
        </a:solidFill>
      </p:bgPr>
    </p:bg>
    <p:spTree>
      <p:nvGrpSpPr>
        <p:cNvPr id="15" name="Shape 15"/>
        <p:cNvGrpSpPr/>
        <p:nvPr/>
      </p:nvGrpSpPr>
      <p:grpSpPr>
        <a:xfrm>
          <a:off x="0" y="0"/>
          <a:ext cx="0" cy="0"/>
          <a:chOff x="0" y="0"/>
          <a:chExt cx="0" cy="0"/>
        </a:xfrm>
      </p:grpSpPr>
      <p:sp>
        <p:nvSpPr>
          <p:cNvPr id="16" name="Google Shape;16;p3"/>
          <p:cNvSpPr/>
          <p:nvPr/>
        </p:nvSpPr>
        <p:spPr>
          <a:xfrm>
            <a:off x="0" y="0"/>
            <a:ext cx="73152" cy="5143500"/>
          </a:xfrm>
          <a:prstGeom prst="rect">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365760" y="320040"/>
            <a:ext cx="8229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C39A"/>
              </a:buClr>
              <a:buSzPts val="1000"/>
              <a:buFont typeface="Calibri"/>
              <a:buNone/>
            </a:pPr>
            <a:r>
              <a:rPr b="1" i="0" lang="en-US" sz="1000" u="none" cap="none" strike="noStrike">
                <a:solidFill>
                  <a:srgbClr val="02C39A"/>
                </a:solidFill>
                <a:latin typeface="Calibri"/>
                <a:ea typeface="Calibri"/>
                <a:cs typeface="Calibri"/>
                <a:sym typeface="Calibri"/>
              </a:rPr>
              <a:t>MACHINE LEARNING  ·  </a:t>
            </a:r>
            <a:r>
              <a:rPr b="1" lang="en-US" sz="1000">
                <a:solidFill>
                  <a:srgbClr val="02C39A"/>
                </a:solidFill>
                <a:latin typeface="Calibri"/>
                <a:ea typeface="Calibri"/>
                <a:cs typeface="Calibri"/>
                <a:sym typeface="Calibri"/>
              </a:rPr>
              <a:t>Responsible</a:t>
            </a:r>
            <a:r>
              <a:rPr b="1" i="0" lang="en-US" sz="1000" u="none" cap="none" strike="noStrike">
                <a:solidFill>
                  <a:srgbClr val="02C39A"/>
                </a:solidFill>
                <a:latin typeface="Calibri"/>
                <a:ea typeface="Calibri"/>
                <a:cs typeface="Calibri"/>
                <a:sym typeface="Calibri"/>
              </a:rPr>
              <a:t> AI</a:t>
            </a:r>
            <a:endParaRPr b="0" i="0" sz="1000" u="none" cap="none" strike="noStrike">
              <a:solidFill>
                <a:schemeClr val="dk1"/>
              </a:solidFill>
              <a:latin typeface="Calibri"/>
              <a:ea typeface="Calibri"/>
              <a:cs typeface="Calibri"/>
              <a:sym typeface="Calibri"/>
            </a:endParaRPr>
          </a:p>
        </p:txBody>
      </p:sp>
      <p:sp>
        <p:nvSpPr>
          <p:cNvPr id="18" name="Google Shape;18;p3"/>
          <p:cNvSpPr/>
          <p:nvPr/>
        </p:nvSpPr>
        <p:spPr>
          <a:xfrm>
            <a:off x="365760" y="777240"/>
            <a:ext cx="6858000" cy="1280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800"/>
              <a:buFont typeface="Calibri"/>
              <a:buNone/>
            </a:pPr>
            <a:r>
              <a:rPr b="1" i="0" lang="en-US" sz="4800" u="none" cap="none" strike="noStrike">
                <a:solidFill>
                  <a:srgbClr val="FFFFFF"/>
                </a:solidFill>
                <a:latin typeface="Calibri"/>
                <a:ea typeface="Calibri"/>
                <a:cs typeface="Calibri"/>
                <a:sym typeface="Calibri"/>
              </a:rPr>
              <a:t>Bias Detection Tool</a:t>
            </a:r>
            <a:endParaRPr b="0" i="0" sz="4800" u="none" cap="none" strike="noStrike">
              <a:solidFill>
                <a:schemeClr val="dk1"/>
              </a:solidFill>
              <a:latin typeface="Calibri"/>
              <a:ea typeface="Calibri"/>
              <a:cs typeface="Calibri"/>
              <a:sym typeface="Calibri"/>
            </a:endParaRPr>
          </a:p>
        </p:txBody>
      </p:sp>
      <p:sp>
        <p:nvSpPr>
          <p:cNvPr id="19" name="Google Shape;19;p3"/>
          <p:cNvSpPr/>
          <p:nvPr/>
        </p:nvSpPr>
        <p:spPr>
          <a:xfrm>
            <a:off x="365760" y="2103120"/>
            <a:ext cx="5486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C39A"/>
              </a:buClr>
              <a:buSzPts val="2000"/>
              <a:buFont typeface="Calibri"/>
              <a:buNone/>
            </a:pPr>
            <a:r>
              <a:rPr b="1" i="0" lang="en-US" sz="2000" u="none" cap="none" strike="noStrike">
                <a:solidFill>
                  <a:srgbClr val="02C39A"/>
                </a:solidFill>
                <a:latin typeface="Calibri"/>
                <a:ea typeface="Calibri"/>
                <a:cs typeface="Calibri"/>
                <a:sym typeface="Calibri"/>
              </a:rPr>
              <a:t>Problem Statement</a:t>
            </a:r>
            <a:endParaRPr b="0" i="0" sz="2000" u="none" cap="none" strike="noStrike">
              <a:solidFill>
                <a:schemeClr val="dk1"/>
              </a:solidFill>
              <a:latin typeface="Calibri"/>
              <a:ea typeface="Calibri"/>
              <a:cs typeface="Calibri"/>
              <a:sym typeface="Calibri"/>
            </a:endParaRPr>
          </a:p>
        </p:txBody>
      </p:sp>
      <p:sp>
        <p:nvSpPr>
          <p:cNvPr id="20" name="Google Shape;20;p3"/>
          <p:cNvSpPr/>
          <p:nvPr/>
        </p:nvSpPr>
        <p:spPr>
          <a:xfrm>
            <a:off x="365760" y="2697480"/>
            <a:ext cx="5669280" cy="118872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B0C4D4"/>
              </a:buClr>
              <a:buSzPts val="1400"/>
              <a:buFont typeface="Calibri"/>
              <a:buNone/>
            </a:pPr>
            <a:r>
              <a:rPr b="0" i="0" lang="en-US" sz="1400" u="none" cap="none" strike="noStrike">
                <a:solidFill>
                  <a:srgbClr val="B0C4D4"/>
                </a:solidFill>
                <a:latin typeface="Calibri"/>
                <a:ea typeface="Calibri"/>
                <a:cs typeface="Calibri"/>
                <a:sym typeface="Calibri"/>
              </a:rPr>
              <a:t>AI hiring models trained on historical data inherit and amplify human prejudice — systematically rejecting qualified candidates based on protected attributes like gender, race, and age.</a:t>
            </a:r>
            <a:endParaRPr b="0" i="0" sz="1400" u="none" cap="none" strike="noStrike">
              <a:solidFill>
                <a:schemeClr val="dk1"/>
              </a:solidFill>
              <a:latin typeface="Calibri"/>
              <a:ea typeface="Calibri"/>
              <a:cs typeface="Calibri"/>
              <a:sym typeface="Calibri"/>
            </a:endParaRPr>
          </a:p>
        </p:txBody>
      </p:sp>
      <p:sp>
        <p:nvSpPr>
          <p:cNvPr id="21" name="Google Shape;21;p3"/>
          <p:cNvSpPr/>
          <p:nvPr/>
        </p:nvSpPr>
        <p:spPr>
          <a:xfrm>
            <a:off x="365760" y="3931920"/>
            <a:ext cx="5669280" cy="731520"/>
          </a:xfrm>
          <a:prstGeom prst="rect">
            <a:avLst/>
          </a:prstGeom>
          <a:solidFill>
            <a:srgbClr val="028090">
              <a:alpha val="80000"/>
            </a:srgbClr>
          </a:solidFill>
          <a:ln cap="flat" cmpd="sng" w="1905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a:off x="457200" y="3977640"/>
            <a:ext cx="54864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0" i="1" lang="en-US" sz="1200" u="none" cap="none" strike="noStrike">
                <a:solidFill>
                  <a:srgbClr val="FFFFFF"/>
                </a:solidFill>
                <a:latin typeface="Calibri"/>
                <a:ea typeface="Calibri"/>
                <a:cs typeface="Calibri"/>
                <a:sym typeface="Calibri"/>
              </a:rPr>
              <a:t>Core Question: Does a hiring AI treat Male and Female candidates equally — or does it systematically favor one group?</a:t>
            </a:r>
            <a:endParaRPr b="0" i="0" sz="1200" u="none" cap="none" strike="noStrike">
              <a:solidFill>
                <a:schemeClr val="dk1"/>
              </a:solidFill>
              <a:latin typeface="Calibri"/>
              <a:ea typeface="Calibri"/>
              <a:cs typeface="Calibri"/>
              <a:sym typeface="Calibri"/>
            </a:endParaRPr>
          </a:p>
        </p:txBody>
      </p:sp>
      <p:sp>
        <p:nvSpPr>
          <p:cNvPr id="23" name="Google Shape;23;p3"/>
          <p:cNvSpPr/>
          <p:nvPr/>
        </p:nvSpPr>
        <p:spPr>
          <a:xfrm>
            <a:off x="6583680" y="640080"/>
            <a:ext cx="2286000" cy="914400"/>
          </a:xfrm>
          <a:prstGeom prst="rect">
            <a:avLst/>
          </a:prstGeom>
          <a:solidFill>
            <a:srgbClr val="FFFFFF">
              <a:alpha val="10196"/>
            </a:srgbClr>
          </a:solidFill>
          <a:ln cap="flat" cmpd="sng" w="12700">
            <a:solidFill>
              <a:srgbClr val="02C39A"/>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a:off x="6675120" y="685800"/>
            <a:ext cx="210312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2C39A"/>
              </a:buClr>
              <a:buSzPts val="2600"/>
              <a:buFont typeface="Calibri"/>
              <a:buNone/>
            </a:pPr>
            <a:r>
              <a:rPr b="1" i="0" lang="en-US" sz="2600" u="none" cap="none" strike="noStrike">
                <a:solidFill>
                  <a:srgbClr val="02C39A"/>
                </a:solidFill>
                <a:latin typeface="Calibri"/>
                <a:ea typeface="Calibri"/>
                <a:cs typeface="Calibri"/>
                <a:sym typeface="Calibri"/>
              </a:rPr>
              <a:t>2,000</a:t>
            </a:r>
            <a:endParaRPr b="0" i="0" sz="2600" u="none" cap="none" strike="noStrike">
              <a:solidFill>
                <a:schemeClr val="dk1"/>
              </a:solidFill>
              <a:latin typeface="Calibri"/>
              <a:ea typeface="Calibri"/>
              <a:cs typeface="Calibri"/>
              <a:sym typeface="Calibri"/>
            </a:endParaRPr>
          </a:p>
        </p:txBody>
      </p:sp>
      <p:sp>
        <p:nvSpPr>
          <p:cNvPr id="25" name="Google Shape;25;p3"/>
          <p:cNvSpPr/>
          <p:nvPr/>
        </p:nvSpPr>
        <p:spPr>
          <a:xfrm>
            <a:off x="6675120" y="1115568"/>
            <a:ext cx="21031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0BAC8"/>
              </a:buClr>
              <a:buSzPts val="1000"/>
              <a:buFont typeface="Calibri"/>
              <a:buNone/>
            </a:pPr>
            <a:r>
              <a:rPr b="0" i="0" lang="en-US" sz="1000" u="none" cap="none" strike="noStrike">
                <a:solidFill>
                  <a:srgbClr val="A0BAC8"/>
                </a:solidFill>
                <a:latin typeface="Calibri"/>
                <a:ea typeface="Calibri"/>
                <a:cs typeface="Calibri"/>
                <a:sym typeface="Calibri"/>
              </a:rPr>
              <a:t>Synthetic Candidates</a:t>
            </a:r>
            <a:endParaRPr b="0" i="0" sz="1000" u="none" cap="none" strike="noStrike">
              <a:solidFill>
                <a:schemeClr val="dk1"/>
              </a:solidFill>
              <a:latin typeface="Calibri"/>
              <a:ea typeface="Calibri"/>
              <a:cs typeface="Calibri"/>
              <a:sym typeface="Calibri"/>
            </a:endParaRPr>
          </a:p>
        </p:txBody>
      </p:sp>
      <p:sp>
        <p:nvSpPr>
          <p:cNvPr id="26" name="Google Shape;26;p3"/>
          <p:cNvSpPr/>
          <p:nvPr/>
        </p:nvSpPr>
        <p:spPr>
          <a:xfrm>
            <a:off x="6583680" y="1737360"/>
            <a:ext cx="2286000" cy="914400"/>
          </a:xfrm>
          <a:prstGeom prst="rect">
            <a:avLst/>
          </a:prstGeom>
          <a:solidFill>
            <a:srgbClr val="FFFFFF">
              <a:alpha val="10196"/>
            </a:srgbClr>
          </a:solidFill>
          <a:ln cap="flat" cmpd="sng" w="12700">
            <a:solidFill>
              <a:srgbClr val="02C39A"/>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a:off x="6675120" y="1783080"/>
            <a:ext cx="210312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2C39A"/>
              </a:buClr>
              <a:buSzPts val="2600"/>
              <a:buFont typeface="Calibri"/>
              <a:buNone/>
            </a:pPr>
            <a:r>
              <a:rPr b="1" i="0" lang="en-US" sz="2600" u="none" cap="none" strike="noStrike">
                <a:solidFill>
                  <a:srgbClr val="02C39A"/>
                </a:solidFill>
                <a:latin typeface="Calibri"/>
                <a:ea typeface="Calibri"/>
                <a:cs typeface="Calibri"/>
                <a:sym typeface="Calibri"/>
              </a:rPr>
              <a:t>+12%</a:t>
            </a:r>
            <a:endParaRPr b="0" i="0" sz="2600" u="none" cap="none" strike="noStrike">
              <a:solidFill>
                <a:schemeClr val="dk1"/>
              </a:solidFill>
              <a:latin typeface="Calibri"/>
              <a:ea typeface="Calibri"/>
              <a:cs typeface="Calibri"/>
              <a:sym typeface="Calibri"/>
            </a:endParaRPr>
          </a:p>
        </p:txBody>
      </p:sp>
      <p:sp>
        <p:nvSpPr>
          <p:cNvPr id="28" name="Google Shape;28;p3"/>
          <p:cNvSpPr/>
          <p:nvPr/>
        </p:nvSpPr>
        <p:spPr>
          <a:xfrm>
            <a:off x="6675120" y="2212848"/>
            <a:ext cx="21031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0BAC8"/>
              </a:buClr>
              <a:buSzPts val="1000"/>
              <a:buFont typeface="Calibri"/>
              <a:buNone/>
            </a:pPr>
            <a:r>
              <a:rPr b="0" i="0" lang="en-US" sz="1000" u="none" cap="none" strike="noStrike">
                <a:solidFill>
                  <a:srgbClr val="A0BAC8"/>
                </a:solidFill>
                <a:latin typeface="Calibri"/>
                <a:ea typeface="Calibri"/>
                <a:cs typeface="Calibri"/>
                <a:sym typeface="Calibri"/>
              </a:rPr>
              <a:t>Injected Gender Bias</a:t>
            </a:r>
            <a:endParaRPr b="0" i="0" sz="1000" u="none" cap="none" strike="noStrike">
              <a:solidFill>
                <a:schemeClr val="dk1"/>
              </a:solidFill>
              <a:latin typeface="Calibri"/>
              <a:ea typeface="Calibri"/>
              <a:cs typeface="Calibri"/>
              <a:sym typeface="Calibri"/>
            </a:endParaRPr>
          </a:p>
        </p:txBody>
      </p:sp>
      <p:sp>
        <p:nvSpPr>
          <p:cNvPr id="29" name="Google Shape;29;p3"/>
          <p:cNvSpPr/>
          <p:nvPr/>
        </p:nvSpPr>
        <p:spPr>
          <a:xfrm>
            <a:off x="6583680" y="2834640"/>
            <a:ext cx="2286000" cy="914400"/>
          </a:xfrm>
          <a:prstGeom prst="rect">
            <a:avLst/>
          </a:prstGeom>
          <a:solidFill>
            <a:srgbClr val="FFFFFF">
              <a:alpha val="10196"/>
            </a:srgbClr>
          </a:solidFill>
          <a:ln cap="flat" cmpd="sng" w="12700">
            <a:solidFill>
              <a:srgbClr val="02C39A"/>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a:off x="6675120" y="2880360"/>
            <a:ext cx="210312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2C39A"/>
              </a:buClr>
              <a:buSzPts val="2600"/>
              <a:buFont typeface="Calibri"/>
              <a:buNone/>
            </a:pPr>
            <a:r>
              <a:rPr b="1" i="0" lang="en-US" sz="2600" u="none" cap="none" strike="noStrike">
                <a:solidFill>
                  <a:srgbClr val="02C39A"/>
                </a:solidFill>
                <a:latin typeface="Calibri"/>
                <a:ea typeface="Calibri"/>
                <a:cs typeface="Calibri"/>
                <a:sym typeface="Calibri"/>
              </a:rPr>
              <a:t>3</a:t>
            </a:r>
            <a:endParaRPr b="0" i="0" sz="2600" u="none" cap="none" strike="noStrike">
              <a:solidFill>
                <a:schemeClr val="dk1"/>
              </a:solidFill>
              <a:latin typeface="Calibri"/>
              <a:ea typeface="Calibri"/>
              <a:cs typeface="Calibri"/>
              <a:sym typeface="Calibri"/>
            </a:endParaRPr>
          </a:p>
        </p:txBody>
      </p:sp>
      <p:sp>
        <p:nvSpPr>
          <p:cNvPr id="31" name="Google Shape;31;p3"/>
          <p:cNvSpPr/>
          <p:nvPr/>
        </p:nvSpPr>
        <p:spPr>
          <a:xfrm>
            <a:off x="6675120" y="3310128"/>
            <a:ext cx="21031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0BAC8"/>
              </a:buClr>
              <a:buSzPts val="1000"/>
              <a:buFont typeface="Calibri"/>
              <a:buNone/>
            </a:pPr>
            <a:r>
              <a:rPr b="0" i="0" lang="en-US" sz="1000" u="none" cap="none" strike="noStrike">
                <a:solidFill>
                  <a:srgbClr val="A0BAC8"/>
                </a:solidFill>
                <a:latin typeface="Calibri"/>
                <a:ea typeface="Calibri"/>
                <a:cs typeface="Calibri"/>
                <a:sym typeface="Calibri"/>
              </a:rPr>
              <a:t>Fairness Metrics</a:t>
            </a:r>
            <a:endParaRPr b="0" i="0" sz="1000" u="none" cap="none" strike="noStrike">
              <a:solidFill>
                <a:schemeClr val="dk1"/>
              </a:solidFill>
              <a:latin typeface="Calibri"/>
              <a:ea typeface="Calibri"/>
              <a:cs typeface="Calibri"/>
              <a:sym typeface="Calibri"/>
            </a:endParaRPr>
          </a:p>
        </p:txBody>
      </p:sp>
      <p:sp>
        <p:nvSpPr>
          <p:cNvPr id="32" name="Google Shape;32;p3"/>
          <p:cNvSpPr/>
          <p:nvPr/>
        </p:nvSpPr>
        <p:spPr>
          <a:xfrm>
            <a:off x="6583680" y="3931920"/>
            <a:ext cx="2286000" cy="914400"/>
          </a:xfrm>
          <a:prstGeom prst="rect">
            <a:avLst/>
          </a:prstGeom>
          <a:solidFill>
            <a:srgbClr val="FFFFFF">
              <a:alpha val="10196"/>
            </a:srgbClr>
          </a:solidFill>
          <a:ln cap="flat" cmpd="sng" w="12700">
            <a:solidFill>
              <a:srgbClr val="02C39A"/>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a:off x="6675120" y="3977640"/>
            <a:ext cx="210312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2C39A"/>
              </a:buClr>
              <a:buSzPts val="2600"/>
              <a:buFont typeface="Calibri"/>
              <a:buNone/>
            </a:pPr>
            <a:r>
              <a:rPr b="1" i="0" lang="en-US" sz="2600" u="none" cap="none" strike="noStrike">
                <a:solidFill>
                  <a:srgbClr val="02C39A"/>
                </a:solidFill>
                <a:latin typeface="Calibri"/>
                <a:ea typeface="Calibri"/>
                <a:cs typeface="Calibri"/>
                <a:sym typeface="Calibri"/>
              </a:rPr>
              <a:t>2</a:t>
            </a:r>
            <a:endParaRPr b="0" i="0" sz="2600" u="none" cap="none" strike="noStrike">
              <a:solidFill>
                <a:schemeClr val="dk1"/>
              </a:solidFill>
              <a:latin typeface="Calibri"/>
              <a:ea typeface="Calibri"/>
              <a:cs typeface="Calibri"/>
              <a:sym typeface="Calibri"/>
            </a:endParaRPr>
          </a:p>
        </p:txBody>
      </p:sp>
      <p:sp>
        <p:nvSpPr>
          <p:cNvPr id="34" name="Google Shape;34;p3"/>
          <p:cNvSpPr/>
          <p:nvPr/>
        </p:nvSpPr>
        <p:spPr>
          <a:xfrm>
            <a:off x="6675120" y="4407408"/>
            <a:ext cx="21031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0BAC8"/>
              </a:buClr>
              <a:buSzPts val="1000"/>
              <a:buFont typeface="Calibri"/>
              <a:buNone/>
            </a:pPr>
            <a:r>
              <a:rPr b="0" i="0" lang="en-US" sz="1000" u="none" cap="none" strike="noStrike">
                <a:solidFill>
                  <a:srgbClr val="A0BAC8"/>
                </a:solidFill>
                <a:latin typeface="Calibri"/>
                <a:ea typeface="Calibri"/>
                <a:cs typeface="Calibri"/>
                <a:sym typeface="Calibri"/>
              </a:rPr>
              <a:t>Mitigation Methods</a:t>
            </a:r>
            <a:endParaRPr b="0" i="0" sz="1000" u="none" cap="none" strike="noStrike">
              <a:solidFill>
                <a:schemeClr val="dk1"/>
              </a:solidFill>
              <a:latin typeface="Calibri"/>
              <a:ea typeface="Calibri"/>
              <a:cs typeface="Calibri"/>
              <a:sym typeface="Calibri"/>
            </a:endParaRPr>
          </a:p>
        </p:txBody>
      </p:sp>
      <p:sp>
        <p:nvSpPr>
          <p:cNvPr id="35" name="Google Shape;35;p3"/>
          <p:cNvSpPr/>
          <p:nvPr/>
        </p:nvSpPr>
        <p:spPr>
          <a:xfrm>
            <a:off x="365760" y="4846320"/>
            <a:ext cx="45720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A8A9A"/>
              </a:buClr>
              <a:buSzPts val="1000"/>
              <a:buFont typeface="Calibri"/>
              <a:buNone/>
            </a:pPr>
            <a:r>
              <a:rPr b="0" i="0" lang="en-US" sz="1000" u="none" cap="none" strike="noStrike">
                <a:solidFill>
                  <a:srgbClr val="6A8A9A"/>
                </a:solidFill>
                <a:latin typeface="Calibri"/>
                <a:ea typeface="Calibri"/>
                <a:cs typeface="Calibri"/>
                <a:sym typeface="Calibri"/>
              </a:rPr>
              <a:t>Sonu Kumar  &amp;  Aditya  ·  April 2025</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 name="Shape 40"/>
        <p:cNvGrpSpPr/>
        <p:nvPr/>
      </p:nvGrpSpPr>
      <p:grpSpPr>
        <a:xfrm>
          <a:off x="0" y="0"/>
          <a:ext cx="0" cy="0"/>
          <a:chOff x="0" y="0"/>
          <a:chExt cx="0" cy="0"/>
        </a:xfrm>
      </p:grpSpPr>
      <p:sp>
        <p:nvSpPr>
          <p:cNvPr id="41" name="Google Shape;41;p4"/>
          <p:cNvSpPr/>
          <p:nvPr/>
        </p:nvSpPr>
        <p:spPr>
          <a:xfrm>
            <a:off x="0" y="0"/>
            <a:ext cx="9144000" cy="1005840"/>
          </a:xfrm>
          <a:prstGeom prst="rect">
            <a:avLst/>
          </a:prstGeom>
          <a:solidFill>
            <a:srgbClr val="0A2342"/>
          </a:solidFill>
          <a:ln cap="flat" cmpd="sng" w="12700">
            <a:solidFill>
              <a:srgbClr val="0A23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4"/>
          <p:cNvSpPr/>
          <p:nvPr/>
        </p:nvSpPr>
        <p:spPr>
          <a:xfrm>
            <a:off x="320040" y="137160"/>
            <a:ext cx="64008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C39A"/>
              </a:buClr>
              <a:buSzPts val="2800"/>
              <a:buFont typeface="Calibri"/>
              <a:buNone/>
            </a:pPr>
            <a:r>
              <a:rPr b="1" i="0" lang="en-US" sz="2800" u="none" cap="none" strike="noStrike">
                <a:solidFill>
                  <a:srgbClr val="02C39A"/>
                </a:solidFill>
                <a:latin typeface="Calibri"/>
                <a:ea typeface="Calibri"/>
                <a:cs typeface="Calibri"/>
                <a:sym typeface="Calibri"/>
              </a:rPr>
              <a:t>02</a:t>
            </a:r>
            <a:endParaRPr b="0" i="0" sz="2800" u="none" cap="none" strike="noStrike">
              <a:solidFill>
                <a:schemeClr val="dk1"/>
              </a:solidFill>
              <a:latin typeface="Calibri"/>
              <a:ea typeface="Calibri"/>
              <a:cs typeface="Calibri"/>
              <a:sym typeface="Calibri"/>
            </a:endParaRPr>
          </a:p>
        </p:txBody>
      </p:sp>
      <p:sp>
        <p:nvSpPr>
          <p:cNvPr id="43" name="Google Shape;43;p4"/>
          <p:cNvSpPr/>
          <p:nvPr/>
        </p:nvSpPr>
        <p:spPr>
          <a:xfrm>
            <a:off x="1005840" y="182880"/>
            <a:ext cx="64008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Calibri"/>
              <a:buNone/>
            </a:pPr>
            <a:r>
              <a:rPr b="1" i="0" lang="en-US" sz="2800" u="none" cap="none" strike="noStrike">
                <a:solidFill>
                  <a:srgbClr val="FFFFFF"/>
                </a:solidFill>
                <a:latin typeface="Calibri"/>
                <a:ea typeface="Calibri"/>
                <a:cs typeface="Calibri"/>
                <a:sym typeface="Calibri"/>
              </a:rPr>
              <a:t>Motivation</a:t>
            </a:r>
            <a:endParaRPr b="0" i="0" sz="2800" u="none" cap="none" strike="noStrike">
              <a:solidFill>
                <a:schemeClr val="dk1"/>
              </a:solidFill>
              <a:latin typeface="Calibri"/>
              <a:ea typeface="Calibri"/>
              <a:cs typeface="Calibri"/>
              <a:sym typeface="Calibri"/>
            </a:endParaRPr>
          </a:p>
        </p:txBody>
      </p:sp>
      <p:sp>
        <p:nvSpPr>
          <p:cNvPr id="44" name="Google Shape;44;p4"/>
          <p:cNvSpPr/>
          <p:nvPr/>
        </p:nvSpPr>
        <p:spPr>
          <a:xfrm>
            <a:off x="365760" y="1143000"/>
            <a:ext cx="38404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2342"/>
              </a:buClr>
              <a:buSzPts val="1600"/>
              <a:buFont typeface="Calibri"/>
              <a:buNone/>
            </a:pPr>
            <a:r>
              <a:rPr b="1" i="0" lang="en-US" sz="1600" u="none" cap="none" strike="noStrike">
                <a:solidFill>
                  <a:srgbClr val="0A2342"/>
                </a:solidFill>
                <a:latin typeface="Calibri"/>
                <a:ea typeface="Calibri"/>
                <a:cs typeface="Calibri"/>
                <a:sym typeface="Calibri"/>
              </a:rPr>
              <a:t>Why Does This Matter?</a:t>
            </a:r>
            <a:endParaRPr b="0" i="0" sz="1600" u="none" cap="none" strike="noStrike">
              <a:solidFill>
                <a:schemeClr val="dk1"/>
              </a:solidFill>
              <a:latin typeface="Calibri"/>
              <a:ea typeface="Calibri"/>
              <a:cs typeface="Calibri"/>
              <a:sym typeface="Calibri"/>
            </a:endParaRPr>
          </a:p>
        </p:txBody>
      </p:sp>
      <p:sp>
        <p:nvSpPr>
          <p:cNvPr id="45" name="Google Shape;45;p4"/>
          <p:cNvSpPr/>
          <p:nvPr/>
        </p:nvSpPr>
        <p:spPr>
          <a:xfrm>
            <a:off x="320040" y="1691640"/>
            <a:ext cx="3931920" cy="713232"/>
          </a:xfrm>
          <a:prstGeom prst="rect">
            <a:avLst/>
          </a:prstGeom>
          <a:solidFill>
            <a:srgbClr val="F0F7F8"/>
          </a:solidFill>
          <a:ln cap="flat" cmpd="sng" w="9525">
            <a:solidFill>
              <a:srgbClr val="E2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4"/>
          <p:cNvSpPr/>
          <p:nvPr/>
        </p:nvSpPr>
        <p:spPr>
          <a:xfrm>
            <a:off x="384048" y="1755648"/>
            <a:ext cx="5029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47" name="Google Shape;47;p4"/>
          <p:cNvSpPr/>
          <p:nvPr/>
        </p:nvSpPr>
        <p:spPr>
          <a:xfrm>
            <a:off x="914400" y="1746504"/>
            <a:ext cx="3200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8090"/>
              </a:buClr>
              <a:buSzPts val="1200"/>
              <a:buFont typeface="Calibri"/>
              <a:buNone/>
            </a:pPr>
            <a:r>
              <a:rPr b="1" i="0" lang="en-US" sz="1200" u="none" cap="none" strike="noStrike">
                <a:solidFill>
                  <a:srgbClr val="028090"/>
                </a:solidFill>
                <a:latin typeface="Calibri"/>
                <a:ea typeface="Calibri"/>
                <a:cs typeface="Calibri"/>
                <a:sym typeface="Calibri"/>
              </a:rPr>
              <a:t>Legal Risk</a:t>
            </a:r>
            <a:endParaRPr b="0" i="0" sz="1200" u="none" cap="none" strike="noStrike">
              <a:solidFill>
                <a:schemeClr val="dk1"/>
              </a:solidFill>
              <a:latin typeface="Calibri"/>
              <a:ea typeface="Calibri"/>
              <a:cs typeface="Calibri"/>
              <a:sym typeface="Calibri"/>
            </a:endParaRPr>
          </a:p>
        </p:txBody>
      </p:sp>
      <p:sp>
        <p:nvSpPr>
          <p:cNvPr id="48" name="Google Shape;48;p4"/>
          <p:cNvSpPr/>
          <p:nvPr/>
        </p:nvSpPr>
        <p:spPr>
          <a:xfrm>
            <a:off x="914400" y="2002536"/>
            <a:ext cx="32004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50"/>
              <a:buFont typeface="Calibri"/>
              <a:buNone/>
            </a:pPr>
            <a:r>
              <a:rPr b="0" i="0" lang="en-US" sz="950" u="none" cap="none" strike="noStrike">
                <a:solidFill>
                  <a:srgbClr val="64748B"/>
                </a:solidFill>
                <a:latin typeface="Calibri"/>
                <a:ea typeface="Calibri"/>
                <a:cs typeface="Calibri"/>
                <a:sym typeface="Calibri"/>
              </a:rPr>
              <a:t>Title VII (US), GDPR Art. 22 (EU), Equality Act (UK) — biased AI tools can trigger regulatory action &amp; lawsuits.</a:t>
            </a:r>
            <a:endParaRPr b="0" i="0" sz="950" u="none" cap="none" strike="noStrike">
              <a:solidFill>
                <a:schemeClr val="dk1"/>
              </a:solidFill>
              <a:latin typeface="Calibri"/>
              <a:ea typeface="Calibri"/>
              <a:cs typeface="Calibri"/>
              <a:sym typeface="Calibri"/>
            </a:endParaRPr>
          </a:p>
        </p:txBody>
      </p:sp>
      <p:sp>
        <p:nvSpPr>
          <p:cNvPr id="49" name="Google Shape;49;p4"/>
          <p:cNvSpPr/>
          <p:nvPr/>
        </p:nvSpPr>
        <p:spPr>
          <a:xfrm>
            <a:off x="320040" y="2496312"/>
            <a:ext cx="3931920" cy="713232"/>
          </a:xfrm>
          <a:prstGeom prst="rect">
            <a:avLst/>
          </a:prstGeom>
          <a:solidFill>
            <a:srgbClr val="F0F7F8"/>
          </a:solidFill>
          <a:ln cap="flat" cmpd="sng" w="9525">
            <a:solidFill>
              <a:srgbClr val="E2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4"/>
          <p:cNvSpPr/>
          <p:nvPr/>
        </p:nvSpPr>
        <p:spPr>
          <a:xfrm>
            <a:off x="384048" y="2560320"/>
            <a:ext cx="5029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51" name="Google Shape;51;p4"/>
          <p:cNvSpPr/>
          <p:nvPr/>
        </p:nvSpPr>
        <p:spPr>
          <a:xfrm>
            <a:off x="914400" y="2551176"/>
            <a:ext cx="3200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8090"/>
              </a:buClr>
              <a:buSzPts val="1200"/>
              <a:buFont typeface="Calibri"/>
              <a:buNone/>
            </a:pPr>
            <a:r>
              <a:rPr b="1" i="0" lang="en-US" sz="1200" u="none" cap="none" strike="noStrike">
                <a:solidFill>
                  <a:srgbClr val="028090"/>
                </a:solidFill>
                <a:latin typeface="Calibri"/>
                <a:ea typeface="Calibri"/>
                <a:cs typeface="Calibri"/>
                <a:sym typeface="Calibri"/>
              </a:rPr>
              <a:t>Talent Loss</a:t>
            </a:r>
            <a:endParaRPr b="0" i="0" sz="1200" u="none" cap="none" strike="noStrike">
              <a:solidFill>
                <a:schemeClr val="dk1"/>
              </a:solidFill>
              <a:latin typeface="Calibri"/>
              <a:ea typeface="Calibri"/>
              <a:cs typeface="Calibri"/>
              <a:sym typeface="Calibri"/>
            </a:endParaRPr>
          </a:p>
        </p:txBody>
      </p:sp>
      <p:sp>
        <p:nvSpPr>
          <p:cNvPr id="52" name="Google Shape;52;p4"/>
          <p:cNvSpPr/>
          <p:nvPr/>
        </p:nvSpPr>
        <p:spPr>
          <a:xfrm>
            <a:off x="914400" y="2807208"/>
            <a:ext cx="32004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50"/>
              <a:buFont typeface="Calibri"/>
              <a:buNone/>
            </a:pPr>
            <a:r>
              <a:rPr b="0" i="0" lang="en-US" sz="950" u="none" cap="none" strike="noStrike">
                <a:solidFill>
                  <a:srgbClr val="64748B"/>
                </a:solidFill>
                <a:latin typeface="Calibri"/>
                <a:ea typeface="Calibri"/>
                <a:cs typeface="Calibri"/>
                <a:sym typeface="Calibri"/>
              </a:rPr>
              <a:t>Systematic rejection of qualified candidates from underrepresented groups — economically damaging and ethically wrong.</a:t>
            </a:r>
            <a:endParaRPr b="0" i="0" sz="950" u="none" cap="none" strike="noStrike">
              <a:solidFill>
                <a:schemeClr val="dk1"/>
              </a:solidFill>
              <a:latin typeface="Calibri"/>
              <a:ea typeface="Calibri"/>
              <a:cs typeface="Calibri"/>
              <a:sym typeface="Calibri"/>
            </a:endParaRPr>
          </a:p>
        </p:txBody>
      </p:sp>
      <p:sp>
        <p:nvSpPr>
          <p:cNvPr id="53" name="Google Shape;53;p4"/>
          <p:cNvSpPr/>
          <p:nvPr/>
        </p:nvSpPr>
        <p:spPr>
          <a:xfrm>
            <a:off x="320040" y="3300984"/>
            <a:ext cx="3931920" cy="713232"/>
          </a:xfrm>
          <a:prstGeom prst="rect">
            <a:avLst/>
          </a:prstGeom>
          <a:solidFill>
            <a:srgbClr val="F0F7F8"/>
          </a:solidFill>
          <a:ln cap="flat" cmpd="sng" w="9525">
            <a:solidFill>
              <a:srgbClr val="E2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4"/>
          <p:cNvSpPr/>
          <p:nvPr/>
        </p:nvSpPr>
        <p:spPr>
          <a:xfrm>
            <a:off x="384048" y="3364992"/>
            <a:ext cx="5029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55" name="Google Shape;55;p4"/>
          <p:cNvSpPr/>
          <p:nvPr/>
        </p:nvSpPr>
        <p:spPr>
          <a:xfrm>
            <a:off x="914400" y="3355848"/>
            <a:ext cx="3200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8090"/>
              </a:buClr>
              <a:buSzPts val="1200"/>
              <a:buFont typeface="Calibri"/>
              <a:buNone/>
            </a:pPr>
            <a:r>
              <a:rPr b="1" i="0" lang="en-US" sz="1200" u="none" cap="none" strike="noStrike">
                <a:solidFill>
                  <a:srgbClr val="028090"/>
                </a:solidFill>
                <a:latin typeface="Calibri"/>
                <a:ea typeface="Calibri"/>
                <a:cs typeface="Calibri"/>
                <a:sym typeface="Calibri"/>
              </a:rPr>
              <a:t>Feedback Loops</a:t>
            </a:r>
            <a:endParaRPr b="0" i="0" sz="1200" u="none" cap="none" strike="noStrike">
              <a:solidFill>
                <a:schemeClr val="dk1"/>
              </a:solidFill>
              <a:latin typeface="Calibri"/>
              <a:ea typeface="Calibri"/>
              <a:cs typeface="Calibri"/>
              <a:sym typeface="Calibri"/>
            </a:endParaRPr>
          </a:p>
        </p:txBody>
      </p:sp>
      <p:sp>
        <p:nvSpPr>
          <p:cNvPr id="56" name="Google Shape;56;p4"/>
          <p:cNvSpPr/>
          <p:nvPr/>
        </p:nvSpPr>
        <p:spPr>
          <a:xfrm>
            <a:off x="914400" y="3611880"/>
            <a:ext cx="32004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50"/>
              <a:buFont typeface="Calibri"/>
              <a:buNone/>
            </a:pPr>
            <a:r>
              <a:rPr b="0" i="0" lang="en-US" sz="950" u="none" cap="none" strike="noStrike">
                <a:solidFill>
                  <a:srgbClr val="64748B"/>
                </a:solidFill>
                <a:latin typeface="Calibri"/>
                <a:ea typeface="Calibri"/>
                <a:cs typeface="Calibri"/>
                <a:sym typeface="Calibri"/>
              </a:rPr>
              <a:t>Biased training data → biased model → biased hiring → even more biased future data. Amplification over time.</a:t>
            </a:r>
            <a:endParaRPr b="0" i="0" sz="950" u="none" cap="none" strike="noStrike">
              <a:solidFill>
                <a:schemeClr val="dk1"/>
              </a:solidFill>
              <a:latin typeface="Calibri"/>
              <a:ea typeface="Calibri"/>
              <a:cs typeface="Calibri"/>
              <a:sym typeface="Calibri"/>
            </a:endParaRPr>
          </a:p>
        </p:txBody>
      </p:sp>
      <p:sp>
        <p:nvSpPr>
          <p:cNvPr id="57" name="Google Shape;57;p4"/>
          <p:cNvSpPr/>
          <p:nvPr/>
        </p:nvSpPr>
        <p:spPr>
          <a:xfrm>
            <a:off x="320040" y="4105656"/>
            <a:ext cx="3931920" cy="713232"/>
          </a:xfrm>
          <a:prstGeom prst="rect">
            <a:avLst/>
          </a:prstGeom>
          <a:solidFill>
            <a:srgbClr val="F0F7F8"/>
          </a:solidFill>
          <a:ln cap="flat" cmpd="sng" w="9525">
            <a:solidFill>
              <a:srgbClr val="E2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4"/>
          <p:cNvSpPr/>
          <p:nvPr/>
        </p:nvSpPr>
        <p:spPr>
          <a:xfrm>
            <a:off x="384048" y="4169664"/>
            <a:ext cx="5029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59" name="Google Shape;59;p4"/>
          <p:cNvSpPr/>
          <p:nvPr/>
        </p:nvSpPr>
        <p:spPr>
          <a:xfrm>
            <a:off x="914400" y="4160520"/>
            <a:ext cx="3200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8090"/>
              </a:buClr>
              <a:buSzPts val="1200"/>
              <a:buFont typeface="Calibri"/>
              <a:buNone/>
            </a:pPr>
            <a:r>
              <a:rPr b="1" i="0" lang="en-US" sz="1200" u="none" cap="none" strike="noStrike">
                <a:solidFill>
                  <a:srgbClr val="028090"/>
                </a:solidFill>
                <a:latin typeface="Calibri"/>
                <a:ea typeface="Calibri"/>
                <a:cs typeface="Calibri"/>
                <a:sym typeface="Calibri"/>
              </a:rPr>
              <a:t>Reputational Damage</a:t>
            </a:r>
            <a:endParaRPr b="0" i="0" sz="1200" u="none" cap="none" strike="noStrike">
              <a:solidFill>
                <a:schemeClr val="dk1"/>
              </a:solidFill>
              <a:latin typeface="Calibri"/>
              <a:ea typeface="Calibri"/>
              <a:cs typeface="Calibri"/>
              <a:sym typeface="Calibri"/>
            </a:endParaRPr>
          </a:p>
        </p:txBody>
      </p:sp>
      <p:sp>
        <p:nvSpPr>
          <p:cNvPr id="60" name="Google Shape;60;p4"/>
          <p:cNvSpPr/>
          <p:nvPr/>
        </p:nvSpPr>
        <p:spPr>
          <a:xfrm>
            <a:off x="914400" y="4416552"/>
            <a:ext cx="32004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50"/>
              <a:buFont typeface="Calibri"/>
              <a:buNone/>
            </a:pPr>
            <a:r>
              <a:rPr b="0" i="0" lang="en-US" sz="950" u="none" cap="none" strike="noStrike">
                <a:solidFill>
                  <a:srgbClr val="64748B"/>
                </a:solidFill>
                <a:latin typeface="Calibri"/>
                <a:ea typeface="Calibri"/>
                <a:cs typeface="Calibri"/>
                <a:sym typeface="Calibri"/>
              </a:rPr>
              <a:t>Amazon scrapped their AI recruiter in 2018 after gender bias exposure — lasting brand damage.</a:t>
            </a:r>
            <a:endParaRPr b="0" i="0" sz="950" u="none" cap="none" strike="noStrike">
              <a:solidFill>
                <a:schemeClr val="dk1"/>
              </a:solidFill>
              <a:latin typeface="Calibri"/>
              <a:ea typeface="Calibri"/>
              <a:cs typeface="Calibri"/>
              <a:sym typeface="Calibri"/>
            </a:endParaRPr>
          </a:p>
        </p:txBody>
      </p:sp>
      <p:sp>
        <p:nvSpPr>
          <p:cNvPr id="61" name="Google Shape;61;p4"/>
          <p:cNvSpPr/>
          <p:nvPr/>
        </p:nvSpPr>
        <p:spPr>
          <a:xfrm>
            <a:off x="4663440" y="1143000"/>
            <a:ext cx="4114800" cy="3017520"/>
          </a:xfrm>
          <a:prstGeom prst="rect">
            <a:avLst/>
          </a:prstGeom>
          <a:solidFill>
            <a:srgbClr val="0A2342"/>
          </a:solidFill>
          <a:ln cap="flat" cmpd="sng" w="12700">
            <a:solidFill>
              <a:srgbClr val="0A2342"/>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4"/>
          <p:cNvSpPr/>
          <p:nvPr/>
        </p:nvSpPr>
        <p:spPr>
          <a:xfrm>
            <a:off x="4800600" y="1298448"/>
            <a:ext cx="38404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C39A"/>
              </a:buClr>
              <a:buSzPts val="1300"/>
              <a:buFont typeface="Calibri"/>
              <a:buNone/>
            </a:pPr>
            <a:r>
              <a:rPr b="1" i="0" lang="en-US" sz="1300" u="none" cap="none" strike="noStrike">
                <a:solidFill>
                  <a:srgbClr val="02C39A"/>
                </a:solidFill>
                <a:latin typeface="Calibri"/>
                <a:ea typeface="Calibri"/>
                <a:cs typeface="Calibri"/>
                <a:sym typeface="Calibri"/>
              </a:rPr>
              <a:t>🔍  Real Case: Amazon AI Recruiter</a:t>
            </a:r>
            <a:endParaRPr b="0" i="0" sz="1300" u="none" cap="none" strike="noStrike">
              <a:solidFill>
                <a:schemeClr val="dk1"/>
              </a:solidFill>
              <a:latin typeface="Calibri"/>
              <a:ea typeface="Calibri"/>
              <a:cs typeface="Calibri"/>
              <a:sym typeface="Calibri"/>
            </a:endParaRPr>
          </a:p>
        </p:txBody>
      </p:sp>
      <p:sp>
        <p:nvSpPr>
          <p:cNvPr id="63" name="Google Shape;63;p4"/>
          <p:cNvSpPr/>
          <p:nvPr/>
        </p:nvSpPr>
        <p:spPr>
          <a:xfrm>
            <a:off x="4800600" y="1801368"/>
            <a:ext cx="38404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C39A"/>
              </a:buClr>
              <a:buSzPts val="1050"/>
              <a:buFont typeface="Calibri"/>
              <a:buNone/>
            </a:pPr>
            <a:r>
              <a:rPr b="1" i="0" lang="en-US" sz="1050" u="none" cap="none" strike="noStrike">
                <a:solidFill>
                  <a:srgbClr val="02C39A"/>
                </a:solidFill>
                <a:latin typeface="Calibri"/>
                <a:ea typeface="Calibri"/>
                <a:cs typeface="Calibri"/>
                <a:sym typeface="Calibri"/>
              </a:rPr>
              <a:t>›  </a:t>
            </a:r>
            <a:r>
              <a:rPr b="0" i="0" lang="en-US" sz="1050" u="none" cap="none" strike="noStrike">
                <a:solidFill>
                  <a:srgbClr val="C8D8E0"/>
                </a:solidFill>
                <a:latin typeface="Calibri"/>
                <a:ea typeface="Calibri"/>
                <a:cs typeface="Calibri"/>
                <a:sym typeface="Calibri"/>
              </a:rPr>
              <a:t>Amazon built an AI tool to automate CV screening for engineering roles.</a:t>
            </a:r>
            <a:endParaRPr b="0" i="0" sz="1050" u="none" cap="none" strike="noStrike">
              <a:solidFill>
                <a:schemeClr val="dk1"/>
              </a:solidFill>
              <a:latin typeface="Calibri"/>
              <a:ea typeface="Calibri"/>
              <a:cs typeface="Calibri"/>
              <a:sym typeface="Calibri"/>
            </a:endParaRPr>
          </a:p>
        </p:txBody>
      </p:sp>
      <p:sp>
        <p:nvSpPr>
          <p:cNvPr id="64" name="Google Shape;64;p4"/>
          <p:cNvSpPr/>
          <p:nvPr/>
        </p:nvSpPr>
        <p:spPr>
          <a:xfrm>
            <a:off x="4800600" y="2167128"/>
            <a:ext cx="38404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C39A"/>
              </a:buClr>
              <a:buSzPts val="1050"/>
              <a:buFont typeface="Calibri"/>
              <a:buNone/>
            </a:pPr>
            <a:r>
              <a:rPr b="1" i="0" lang="en-US" sz="1050" u="none" cap="none" strike="noStrike">
                <a:solidFill>
                  <a:srgbClr val="02C39A"/>
                </a:solidFill>
                <a:latin typeface="Calibri"/>
                <a:ea typeface="Calibri"/>
                <a:cs typeface="Calibri"/>
                <a:sym typeface="Calibri"/>
              </a:rPr>
              <a:t>›  </a:t>
            </a:r>
            <a:r>
              <a:rPr b="0" i="0" lang="en-US" sz="1050" u="none" cap="none" strike="noStrike">
                <a:solidFill>
                  <a:srgbClr val="C8D8E0"/>
                </a:solidFill>
                <a:latin typeface="Calibri"/>
                <a:ea typeface="Calibri"/>
                <a:cs typeface="Calibri"/>
                <a:sym typeface="Calibri"/>
              </a:rPr>
              <a:t>The model was trained on 10 years of historical hiring data.</a:t>
            </a:r>
            <a:endParaRPr b="0" i="0" sz="1050" u="none" cap="none" strike="noStrike">
              <a:solidFill>
                <a:schemeClr val="dk1"/>
              </a:solidFill>
              <a:latin typeface="Calibri"/>
              <a:ea typeface="Calibri"/>
              <a:cs typeface="Calibri"/>
              <a:sym typeface="Calibri"/>
            </a:endParaRPr>
          </a:p>
        </p:txBody>
      </p:sp>
      <p:sp>
        <p:nvSpPr>
          <p:cNvPr id="65" name="Google Shape;65;p4"/>
          <p:cNvSpPr/>
          <p:nvPr/>
        </p:nvSpPr>
        <p:spPr>
          <a:xfrm>
            <a:off x="4800600" y="2532888"/>
            <a:ext cx="38404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C39A"/>
              </a:buClr>
              <a:buSzPts val="1050"/>
              <a:buFont typeface="Calibri"/>
              <a:buNone/>
            </a:pPr>
            <a:r>
              <a:rPr b="1" i="0" lang="en-US" sz="1050" u="none" cap="none" strike="noStrike">
                <a:solidFill>
                  <a:srgbClr val="02C39A"/>
                </a:solidFill>
                <a:latin typeface="Calibri"/>
                <a:ea typeface="Calibri"/>
                <a:cs typeface="Calibri"/>
                <a:sym typeface="Calibri"/>
              </a:rPr>
              <a:t>›  </a:t>
            </a:r>
            <a:r>
              <a:rPr b="0" i="0" lang="en-US" sz="1050" u="none" cap="none" strike="noStrike">
                <a:solidFill>
                  <a:srgbClr val="C8D8E0"/>
                </a:solidFill>
                <a:latin typeface="Calibri"/>
                <a:ea typeface="Calibri"/>
                <a:cs typeface="Calibri"/>
                <a:sym typeface="Calibri"/>
              </a:rPr>
              <a:t>Since most past hires were male, the model learned to penalise female applicants.</a:t>
            </a:r>
            <a:endParaRPr b="0" i="0" sz="1050" u="none" cap="none" strike="noStrike">
              <a:solidFill>
                <a:schemeClr val="dk1"/>
              </a:solidFill>
              <a:latin typeface="Calibri"/>
              <a:ea typeface="Calibri"/>
              <a:cs typeface="Calibri"/>
              <a:sym typeface="Calibri"/>
            </a:endParaRPr>
          </a:p>
        </p:txBody>
      </p:sp>
      <p:sp>
        <p:nvSpPr>
          <p:cNvPr id="66" name="Google Shape;66;p4"/>
          <p:cNvSpPr/>
          <p:nvPr/>
        </p:nvSpPr>
        <p:spPr>
          <a:xfrm>
            <a:off x="4800600" y="2898648"/>
            <a:ext cx="38404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C39A"/>
              </a:buClr>
              <a:buSzPts val="1050"/>
              <a:buFont typeface="Calibri"/>
              <a:buNone/>
            </a:pPr>
            <a:r>
              <a:rPr b="1" i="0" lang="en-US" sz="1050" u="none" cap="none" strike="noStrike">
                <a:solidFill>
                  <a:srgbClr val="02C39A"/>
                </a:solidFill>
                <a:latin typeface="Calibri"/>
                <a:ea typeface="Calibri"/>
                <a:cs typeface="Calibri"/>
                <a:sym typeface="Calibri"/>
              </a:rPr>
              <a:t>›  </a:t>
            </a:r>
            <a:r>
              <a:rPr b="0" i="0" lang="en-US" sz="1050" u="none" cap="none" strike="noStrike">
                <a:solidFill>
                  <a:srgbClr val="C8D8E0"/>
                </a:solidFill>
                <a:latin typeface="Calibri"/>
                <a:ea typeface="Calibri"/>
                <a:cs typeface="Calibri"/>
                <a:sym typeface="Calibri"/>
              </a:rPr>
              <a:t>It downgraded CVs with the word women's — e.g. women's chess club.</a:t>
            </a:r>
            <a:endParaRPr b="0" i="0" sz="1050" u="none" cap="none" strike="noStrike">
              <a:solidFill>
                <a:schemeClr val="dk1"/>
              </a:solidFill>
              <a:latin typeface="Calibri"/>
              <a:ea typeface="Calibri"/>
              <a:cs typeface="Calibri"/>
              <a:sym typeface="Calibri"/>
            </a:endParaRPr>
          </a:p>
        </p:txBody>
      </p:sp>
      <p:sp>
        <p:nvSpPr>
          <p:cNvPr id="67" name="Google Shape;67;p4"/>
          <p:cNvSpPr/>
          <p:nvPr/>
        </p:nvSpPr>
        <p:spPr>
          <a:xfrm>
            <a:off x="4800600" y="3264408"/>
            <a:ext cx="38404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C39A"/>
              </a:buClr>
              <a:buSzPts val="1050"/>
              <a:buFont typeface="Calibri"/>
              <a:buNone/>
            </a:pPr>
            <a:r>
              <a:rPr b="1" i="0" lang="en-US" sz="1050" u="none" cap="none" strike="noStrike">
                <a:solidFill>
                  <a:srgbClr val="02C39A"/>
                </a:solidFill>
                <a:latin typeface="Calibri"/>
                <a:ea typeface="Calibri"/>
                <a:cs typeface="Calibri"/>
                <a:sym typeface="Calibri"/>
              </a:rPr>
              <a:t>›  </a:t>
            </a:r>
            <a:r>
              <a:rPr b="0" i="0" lang="en-US" sz="1050" u="none" cap="none" strike="noStrike">
                <a:solidFill>
                  <a:srgbClr val="C8D8E0"/>
                </a:solidFill>
                <a:latin typeface="Calibri"/>
                <a:ea typeface="Calibri"/>
                <a:cs typeface="Calibri"/>
                <a:sym typeface="Calibri"/>
              </a:rPr>
              <a:t>Amazon scrapped the tool entirely in 2018 after the bias was discovered.</a:t>
            </a:r>
            <a:endParaRPr b="0" i="0" sz="1050" u="none" cap="none" strike="noStrike">
              <a:solidFill>
                <a:schemeClr val="dk1"/>
              </a:solidFill>
              <a:latin typeface="Calibri"/>
              <a:ea typeface="Calibri"/>
              <a:cs typeface="Calibri"/>
              <a:sym typeface="Calibri"/>
            </a:endParaRPr>
          </a:p>
        </p:txBody>
      </p:sp>
      <p:sp>
        <p:nvSpPr>
          <p:cNvPr id="68" name="Google Shape;68;p4"/>
          <p:cNvSpPr/>
          <p:nvPr/>
        </p:nvSpPr>
        <p:spPr>
          <a:xfrm>
            <a:off x="4800600" y="3630168"/>
            <a:ext cx="38404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C39A"/>
              </a:buClr>
              <a:buSzPts val="1050"/>
              <a:buFont typeface="Calibri"/>
              <a:buNone/>
            </a:pPr>
            <a:r>
              <a:rPr b="1" i="0" lang="en-US" sz="1050" u="none" cap="none" strike="noStrike">
                <a:solidFill>
                  <a:srgbClr val="02C39A"/>
                </a:solidFill>
                <a:latin typeface="Calibri"/>
                <a:ea typeface="Calibri"/>
                <a:cs typeface="Calibri"/>
                <a:sym typeface="Calibri"/>
              </a:rPr>
              <a:t>›  </a:t>
            </a:r>
            <a:r>
              <a:rPr b="0" i="0" lang="en-US" sz="1050" u="none" cap="none" strike="noStrike">
                <a:solidFill>
                  <a:srgbClr val="C8D8E0"/>
                </a:solidFill>
                <a:latin typeface="Calibri"/>
                <a:ea typeface="Calibri"/>
                <a:cs typeface="Calibri"/>
                <a:sym typeface="Calibri"/>
              </a:rPr>
              <a:t>This project builds the detection &amp; mitigation pipeline that could have caught this.</a:t>
            </a:r>
            <a:endParaRPr b="0" i="0" sz="1050" u="none" cap="none" strike="noStrike">
              <a:solidFill>
                <a:schemeClr val="dk1"/>
              </a:solidFill>
              <a:latin typeface="Calibri"/>
              <a:ea typeface="Calibri"/>
              <a:cs typeface="Calibri"/>
              <a:sym typeface="Calibri"/>
            </a:endParaRPr>
          </a:p>
        </p:txBody>
      </p:sp>
      <p:sp>
        <p:nvSpPr>
          <p:cNvPr id="69" name="Google Shape;69;p4"/>
          <p:cNvSpPr/>
          <p:nvPr/>
        </p:nvSpPr>
        <p:spPr>
          <a:xfrm>
            <a:off x="320040" y="4343400"/>
            <a:ext cx="2743200" cy="640080"/>
          </a:xfrm>
          <a:prstGeom prst="rect">
            <a:avLst/>
          </a:prstGeom>
          <a:solidFill>
            <a:srgbClr val="028090"/>
          </a:solidFill>
          <a:ln cap="flat" cmpd="sng" w="12700">
            <a:solidFill>
              <a:srgbClr val="02809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4"/>
          <p:cNvSpPr/>
          <p:nvPr/>
        </p:nvSpPr>
        <p:spPr>
          <a:xfrm>
            <a:off x="411480" y="4370832"/>
            <a:ext cx="2560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15–25%</a:t>
            </a:r>
            <a:endParaRPr b="0" i="0" sz="1600" u="none" cap="none" strike="noStrike">
              <a:solidFill>
                <a:schemeClr val="dk1"/>
              </a:solidFill>
              <a:latin typeface="Calibri"/>
              <a:ea typeface="Calibri"/>
              <a:cs typeface="Calibri"/>
              <a:sym typeface="Calibri"/>
            </a:endParaRPr>
          </a:p>
        </p:txBody>
      </p:sp>
      <p:sp>
        <p:nvSpPr>
          <p:cNvPr id="71" name="Google Shape;71;p4"/>
          <p:cNvSpPr/>
          <p:nvPr/>
        </p:nvSpPr>
        <p:spPr>
          <a:xfrm>
            <a:off x="411480" y="4574110"/>
            <a:ext cx="25602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0EEF2"/>
              </a:buClr>
              <a:buSzPts val="850"/>
              <a:buFont typeface="Calibri"/>
              <a:buNone/>
            </a:pPr>
            <a:r>
              <a:rPr b="0" i="0" lang="en-US" sz="850" u="none" cap="none" strike="noStrike">
                <a:solidFill>
                  <a:srgbClr val="D0EEF2"/>
                </a:solidFill>
                <a:latin typeface="Calibri"/>
                <a:ea typeface="Calibri"/>
                <a:cs typeface="Calibri"/>
                <a:sym typeface="Calibri"/>
              </a:rPr>
              <a:t>Higher revenue for gender-diverse companies (McKinsey)</a:t>
            </a:r>
            <a:endParaRPr b="0" i="0" sz="850" u="none" cap="none" strike="noStrike">
              <a:solidFill>
                <a:schemeClr val="dk1"/>
              </a:solidFill>
              <a:latin typeface="Calibri"/>
              <a:ea typeface="Calibri"/>
              <a:cs typeface="Calibri"/>
              <a:sym typeface="Calibri"/>
            </a:endParaRPr>
          </a:p>
        </p:txBody>
      </p:sp>
      <p:sp>
        <p:nvSpPr>
          <p:cNvPr id="72" name="Google Shape;72;p4"/>
          <p:cNvSpPr/>
          <p:nvPr/>
        </p:nvSpPr>
        <p:spPr>
          <a:xfrm>
            <a:off x="3246120" y="4343400"/>
            <a:ext cx="2743200" cy="640080"/>
          </a:xfrm>
          <a:prstGeom prst="rect">
            <a:avLst/>
          </a:prstGeom>
          <a:solidFill>
            <a:srgbClr val="028090"/>
          </a:solidFill>
          <a:ln cap="flat" cmpd="sng" w="12700">
            <a:solidFill>
              <a:srgbClr val="02809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4"/>
          <p:cNvSpPr/>
          <p:nvPr/>
        </p:nvSpPr>
        <p:spPr>
          <a:xfrm>
            <a:off x="3337560" y="4370832"/>
            <a:ext cx="2560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2018</a:t>
            </a:r>
            <a:endParaRPr b="0" i="0" sz="1600" u="none" cap="none" strike="noStrike">
              <a:solidFill>
                <a:schemeClr val="dk1"/>
              </a:solidFill>
              <a:latin typeface="Calibri"/>
              <a:ea typeface="Calibri"/>
              <a:cs typeface="Calibri"/>
              <a:sym typeface="Calibri"/>
            </a:endParaRPr>
          </a:p>
        </p:txBody>
      </p:sp>
      <p:sp>
        <p:nvSpPr>
          <p:cNvPr id="74" name="Google Shape;74;p4"/>
          <p:cNvSpPr/>
          <p:nvPr/>
        </p:nvSpPr>
        <p:spPr>
          <a:xfrm>
            <a:off x="3337560" y="4626864"/>
            <a:ext cx="2560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0EEF2"/>
              </a:buClr>
              <a:buSzPts val="850"/>
              <a:buFont typeface="Calibri"/>
              <a:buNone/>
            </a:pPr>
            <a:r>
              <a:rPr b="0" i="0" lang="en-US" sz="850" u="none" cap="none" strike="noStrike">
                <a:solidFill>
                  <a:srgbClr val="D0EEF2"/>
                </a:solidFill>
                <a:latin typeface="Calibri"/>
                <a:ea typeface="Calibri"/>
                <a:cs typeface="Calibri"/>
                <a:sym typeface="Calibri"/>
              </a:rPr>
              <a:t>Year Amazon scrapped its biased AI recruiter</a:t>
            </a:r>
            <a:endParaRPr b="0" i="0" sz="850" u="none" cap="none" strike="noStrike">
              <a:solidFill>
                <a:schemeClr val="dk1"/>
              </a:solidFill>
              <a:latin typeface="Calibri"/>
              <a:ea typeface="Calibri"/>
              <a:cs typeface="Calibri"/>
              <a:sym typeface="Calibri"/>
            </a:endParaRPr>
          </a:p>
        </p:txBody>
      </p:sp>
      <p:sp>
        <p:nvSpPr>
          <p:cNvPr id="75" name="Google Shape;75;p4"/>
          <p:cNvSpPr/>
          <p:nvPr/>
        </p:nvSpPr>
        <p:spPr>
          <a:xfrm>
            <a:off x="6172200" y="4343400"/>
            <a:ext cx="2743200" cy="640080"/>
          </a:xfrm>
          <a:prstGeom prst="rect">
            <a:avLst/>
          </a:prstGeom>
          <a:solidFill>
            <a:srgbClr val="028090"/>
          </a:solidFill>
          <a:ln cap="flat" cmpd="sng" w="12700">
            <a:solidFill>
              <a:srgbClr val="02809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4"/>
          <p:cNvSpPr/>
          <p:nvPr/>
        </p:nvSpPr>
        <p:spPr>
          <a:xfrm>
            <a:off x="6263640" y="4370832"/>
            <a:ext cx="2560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Art. 22</a:t>
            </a:r>
            <a:endParaRPr b="0" i="0" sz="1600" u="none" cap="none" strike="noStrike">
              <a:solidFill>
                <a:schemeClr val="dk1"/>
              </a:solidFill>
              <a:latin typeface="Calibri"/>
              <a:ea typeface="Calibri"/>
              <a:cs typeface="Calibri"/>
              <a:sym typeface="Calibri"/>
            </a:endParaRPr>
          </a:p>
        </p:txBody>
      </p:sp>
      <p:sp>
        <p:nvSpPr>
          <p:cNvPr id="77" name="Google Shape;77;p4"/>
          <p:cNvSpPr/>
          <p:nvPr/>
        </p:nvSpPr>
        <p:spPr>
          <a:xfrm>
            <a:off x="6263640" y="4626864"/>
            <a:ext cx="2560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0EEF2"/>
              </a:buClr>
              <a:buSzPts val="850"/>
              <a:buFont typeface="Calibri"/>
              <a:buNone/>
            </a:pPr>
            <a:r>
              <a:rPr b="0" i="0" lang="en-US" sz="850" u="none" cap="none" strike="noStrike">
                <a:solidFill>
                  <a:srgbClr val="D0EEF2"/>
                </a:solidFill>
                <a:latin typeface="Calibri"/>
                <a:ea typeface="Calibri"/>
                <a:cs typeface="Calibri"/>
                <a:sym typeface="Calibri"/>
              </a:rPr>
              <a:t>GDPR right to explanation for automated decisions</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2" name="Shape 82"/>
        <p:cNvGrpSpPr/>
        <p:nvPr/>
      </p:nvGrpSpPr>
      <p:grpSpPr>
        <a:xfrm>
          <a:off x="0" y="0"/>
          <a:ext cx="0" cy="0"/>
          <a:chOff x="0" y="0"/>
          <a:chExt cx="0" cy="0"/>
        </a:xfrm>
      </p:grpSpPr>
      <p:sp>
        <p:nvSpPr>
          <p:cNvPr id="83" name="Google Shape;83;p5"/>
          <p:cNvSpPr/>
          <p:nvPr/>
        </p:nvSpPr>
        <p:spPr>
          <a:xfrm>
            <a:off x="0" y="0"/>
            <a:ext cx="9144000" cy="1005840"/>
          </a:xfrm>
          <a:prstGeom prst="rect">
            <a:avLst/>
          </a:prstGeom>
          <a:solidFill>
            <a:srgbClr val="0A2342"/>
          </a:solidFill>
          <a:ln cap="flat" cmpd="sng" w="12700">
            <a:solidFill>
              <a:srgbClr val="0A23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5"/>
          <p:cNvSpPr/>
          <p:nvPr/>
        </p:nvSpPr>
        <p:spPr>
          <a:xfrm>
            <a:off x="320040" y="137160"/>
            <a:ext cx="64008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C39A"/>
              </a:buClr>
              <a:buSzPts val="2800"/>
              <a:buFont typeface="Calibri"/>
              <a:buNone/>
            </a:pPr>
            <a:r>
              <a:rPr b="1" i="0" lang="en-US" sz="2800" u="none" cap="none" strike="noStrike">
                <a:solidFill>
                  <a:srgbClr val="02C39A"/>
                </a:solidFill>
                <a:latin typeface="Calibri"/>
                <a:ea typeface="Calibri"/>
                <a:cs typeface="Calibri"/>
                <a:sym typeface="Calibri"/>
              </a:rPr>
              <a:t>03</a:t>
            </a:r>
            <a:endParaRPr b="0" i="0" sz="2800" u="none" cap="none" strike="noStrike">
              <a:solidFill>
                <a:schemeClr val="dk1"/>
              </a:solidFill>
              <a:latin typeface="Calibri"/>
              <a:ea typeface="Calibri"/>
              <a:cs typeface="Calibri"/>
              <a:sym typeface="Calibri"/>
            </a:endParaRPr>
          </a:p>
        </p:txBody>
      </p:sp>
      <p:sp>
        <p:nvSpPr>
          <p:cNvPr id="85" name="Google Shape;85;p5"/>
          <p:cNvSpPr/>
          <p:nvPr/>
        </p:nvSpPr>
        <p:spPr>
          <a:xfrm>
            <a:off x="1005840" y="182880"/>
            <a:ext cx="64008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Calibri"/>
              <a:buNone/>
            </a:pPr>
            <a:r>
              <a:rPr b="1" i="0" lang="en-US" sz="2800" u="none" cap="none" strike="noStrike">
                <a:solidFill>
                  <a:srgbClr val="FFFFFF"/>
                </a:solidFill>
                <a:latin typeface="Calibri"/>
                <a:ea typeface="Calibri"/>
                <a:cs typeface="Calibri"/>
                <a:sym typeface="Calibri"/>
              </a:rPr>
              <a:t>Dataset &amp; Features</a:t>
            </a:r>
            <a:endParaRPr b="0" i="0" sz="2800" u="none" cap="none" strike="noStrike">
              <a:solidFill>
                <a:schemeClr val="dk1"/>
              </a:solidFill>
              <a:latin typeface="Calibri"/>
              <a:ea typeface="Calibri"/>
              <a:cs typeface="Calibri"/>
              <a:sym typeface="Calibri"/>
            </a:endParaRPr>
          </a:p>
        </p:txBody>
      </p:sp>
      <p:sp>
        <p:nvSpPr>
          <p:cNvPr id="86" name="Google Shape;86;p5"/>
          <p:cNvSpPr/>
          <p:nvPr/>
        </p:nvSpPr>
        <p:spPr>
          <a:xfrm>
            <a:off x="320040" y="1097280"/>
            <a:ext cx="45720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2342"/>
              </a:buClr>
              <a:buSzPts val="1300"/>
              <a:buFont typeface="Calibri"/>
              <a:buNone/>
            </a:pPr>
            <a:r>
              <a:rPr b="1" i="0" lang="en-US" sz="1300" u="none" cap="none" strike="noStrike">
                <a:solidFill>
                  <a:srgbClr val="0A2342"/>
                </a:solidFill>
                <a:latin typeface="Calibri"/>
                <a:ea typeface="Calibri"/>
                <a:cs typeface="Calibri"/>
                <a:sym typeface="Calibri"/>
              </a:rPr>
              <a:t>AI-Powered Job Market Insights Dataset (Synthetic)</a:t>
            </a:r>
            <a:endParaRPr b="0" i="0" sz="1300" u="none" cap="none" strike="noStrike">
              <a:solidFill>
                <a:schemeClr val="dk1"/>
              </a:solidFill>
              <a:latin typeface="Calibri"/>
              <a:ea typeface="Calibri"/>
              <a:cs typeface="Calibri"/>
              <a:sym typeface="Calibri"/>
            </a:endParaRPr>
          </a:p>
        </p:txBody>
      </p:sp>
      <p:sp>
        <p:nvSpPr>
          <p:cNvPr id="87" name="Google Shape;87;p5"/>
          <p:cNvSpPr/>
          <p:nvPr/>
        </p:nvSpPr>
        <p:spPr>
          <a:xfrm>
            <a:off x="320040" y="1536192"/>
            <a:ext cx="4663440" cy="320040"/>
          </a:xfrm>
          <a:prstGeom prst="rect">
            <a:avLst/>
          </a:prstGeom>
          <a:solidFill>
            <a:srgbClr val="028090"/>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5"/>
          <p:cNvSpPr/>
          <p:nvPr/>
        </p:nvSpPr>
        <p:spPr>
          <a:xfrm>
            <a:off x="347472" y="1572768"/>
            <a:ext cx="146304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Feature</a:t>
            </a:r>
            <a:endParaRPr b="0" i="0" sz="1050" u="none" cap="none" strike="noStrike">
              <a:solidFill>
                <a:schemeClr val="dk1"/>
              </a:solidFill>
              <a:latin typeface="Calibri"/>
              <a:ea typeface="Calibri"/>
              <a:cs typeface="Calibri"/>
              <a:sym typeface="Calibri"/>
            </a:endParaRPr>
          </a:p>
        </p:txBody>
      </p:sp>
      <p:sp>
        <p:nvSpPr>
          <p:cNvPr id="89" name="Google Shape;89;p5"/>
          <p:cNvSpPr/>
          <p:nvPr/>
        </p:nvSpPr>
        <p:spPr>
          <a:xfrm>
            <a:off x="1810512" y="1572768"/>
            <a:ext cx="201168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Description</a:t>
            </a:r>
            <a:endParaRPr b="0" i="0" sz="1050" u="none" cap="none" strike="noStrike">
              <a:solidFill>
                <a:schemeClr val="dk1"/>
              </a:solidFill>
              <a:latin typeface="Calibri"/>
              <a:ea typeface="Calibri"/>
              <a:cs typeface="Calibri"/>
              <a:sym typeface="Calibri"/>
            </a:endParaRPr>
          </a:p>
        </p:txBody>
      </p:sp>
      <p:sp>
        <p:nvSpPr>
          <p:cNvPr id="90" name="Google Shape;90;p5"/>
          <p:cNvSpPr/>
          <p:nvPr/>
        </p:nvSpPr>
        <p:spPr>
          <a:xfrm>
            <a:off x="3822192" y="1572768"/>
            <a:ext cx="118872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Role</a:t>
            </a:r>
            <a:endParaRPr b="0" i="0" sz="1050" u="none" cap="none" strike="noStrike">
              <a:solidFill>
                <a:schemeClr val="dk1"/>
              </a:solidFill>
              <a:latin typeface="Calibri"/>
              <a:ea typeface="Calibri"/>
              <a:cs typeface="Calibri"/>
              <a:sym typeface="Calibri"/>
            </a:endParaRPr>
          </a:p>
        </p:txBody>
      </p:sp>
      <p:sp>
        <p:nvSpPr>
          <p:cNvPr id="91" name="Google Shape;91;p5"/>
          <p:cNvSpPr/>
          <p:nvPr/>
        </p:nvSpPr>
        <p:spPr>
          <a:xfrm>
            <a:off x="320040" y="1874520"/>
            <a:ext cx="4663440" cy="320040"/>
          </a:xfrm>
          <a:prstGeom prst="rect">
            <a:avLst/>
          </a:prstGeom>
          <a:solidFill>
            <a:srgbClr val="FFFFFF"/>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5"/>
          <p:cNvSpPr/>
          <p:nvPr/>
        </p:nvSpPr>
        <p:spPr>
          <a:xfrm>
            <a:off x="347472" y="1911096"/>
            <a:ext cx="146304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950"/>
              <a:buFont typeface="Calibri"/>
              <a:buNone/>
            </a:pPr>
            <a:r>
              <a:rPr b="0" i="0" lang="en-US" sz="950" u="none" cap="none" strike="noStrike">
                <a:solidFill>
                  <a:srgbClr val="1E293B"/>
                </a:solidFill>
                <a:latin typeface="Calibri"/>
                <a:ea typeface="Calibri"/>
                <a:cs typeface="Calibri"/>
                <a:sym typeface="Calibri"/>
              </a:rPr>
              <a:t>Age</a:t>
            </a:r>
            <a:endParaRPr b="0" i="0" sz="950" u="none" cap="none" strike="noStrike">
              <a:solidFill>
                <a:schemeClr val="dk1"/>
              </a:solidFill>
              <a:latin typeface="Calibri"/>
              <a:ea typeface="Calibri"/>
              <a:cs typeface="Calibri"/>
              <a:sym typeface="Calibri"/>
            </a:endParaRPr>
          </a:p>
        </p:txBody>
      </p:sp>
      <p:sp>
        <p:nvSpPr>
          <p:cNvPr id="93" name="Google Shape;93;p5"/>
          <p:cNvSpPr/>
          <p:nvPr/>
        </p:nvSpPr>
        <p:spPr>
          <a:xfrm>
            <a:off x="1810512" y="1911096"/>
            <a:ext cx="201168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950"/>
              <a:buFont typeface="Calibri"/>
              <a:buNone/>
            </a:pPr>
            <a:r>
              <a:rPr b="0" i="0" lang="en-US" sz="950" u="none" cap="none" strike="noStrike">
                <a:solidFill>
                  <a:srgbClr val="1E293B"/>
                </a:solidFill>
                <a:latin typeface="Calibri"/>
                <a:ea typeface="Calibri"/>
                <a:cs typeface="Calibri"/>
                <a:sym typeface="Calibri"/>
              </a:rPr>
              <a:t>Candidate age (22–55)</a:t>
            </a:r>
            <a:endParaRPr b="0" i="0" sz="950" u="none" cap="none" strike="noStrike">
              <a:solidFill>
                <a:schemeClr val="dk1"/>
              </a:solidFill>
              <a:latin typeface="Calibri"/>
              <a:ea typeface="Calibri"/>
              <a:cs typeface="Calibri"/>
              <a:sym typeface="Calibri"/>
            </a:endParaRPr>
          </a:p>
        </p:txBody>
      </p:sp>
      <p:sp>
        <p:nvSpPr>
          <p:cNvPr id="94" name="Google Shape;94;p5"/>
          <p:cNvSpPr/>
          <p:nvPr/>
        </p:nvSpPr>
        <p:spPr>
          <a:xfrm>
            <a:off x="3822192" y="1911096"/>
            <a:ext cx="118872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950"/>
              <a:buFont typeface="Calibri"/>
              <a:buNone/>
            </a:pPr>
            <a:r>
              <a:rPr b="0" i="0" lang="en-US" sz="950" u="none" cap="none" strike="noStrike">
                <a:solidFill>
                  <a:srgbClr val="1E293B"/>
                </a:solidFill>
                <a:latin typeface="Calibri"/>
                <a:ea typeface="Calibri"/>
                <a:cs typeface="Calibri"/>
                <a:sym typeface="Calibri"/>
              </a:rPr>
              <a:t>Input</a:t>
            </a:r>
            <a:endParaRPr b="0" i="0" sz="950" u="none" cap="none" strike="noStrike">
              <a:solidFill>
                <a:schemeClr val="dk1"/>
              </a:solidFill>
              <a:latin typeface="Calibri"/>
              <a:ea typeface="Calibri"/>
              <a:cs typeface="Calibri"/>
              <a:sym typeface="Calibri"/>
            </a:endParaRPr>
          </a:p>
        </p:txBody>
      </p:sp>
      <p:sp>
        <p:nvSpPr>
          <p:cNvPr id="95" name="Google Shape;95;p5"/>
          <p:cNvSpPr/>
          <p:nvPr/>
        </p:nvSpPr>
        <p:spPr>
          <a:xfrm>
            <a:off x="320040" y="2212848"/>
            <a:ext cx="4663440" cy="320040"/>
          </a:xfrm>
          <a:prstGeom prst="rect">
            <a:avLst/>
          </a:prstGeom>
          <a:solidFill>
            <a:srgbClr val="F0F7F8"/>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5"/>
          <p:cNvSpPr/>
          <p:nvPr/>
        </p:nvSpPr>
        <p:spPr>
          <a:xfrm>
            <a:off x="347472" y="2249424"/>
            <a:ext cx="146304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950"/>
              <a:buFont typeface="Calibri"/>
              <a:buNone/>
            </a:pPr>
            <a:r>
              <a:rPr b="0" i="0" lang="en-US" sz="950" u="none" cap="none" strike="noStrike">
                <a:solidFill>
                  <a:srgbClr val="1E293B"/>
                </a:solidFill>
                <a:latin typeface="Calibri"/>
                <a:ea typeface="Calibri"/>
                <a:cs typeface="Calibri"/>
                <a:sym typeface="Calibri"/>
              </a:rPr>
              <a:t>Gender</a:t>
            </a:r>
            <a:endParaRPr b="0" i="0" sz="950" u="none" cap="none" strike="noStrike">
              <a:solidFill>
                <a:schemeClr val="dk1"/>
              </a:solidFill>
              <a:latin typeface="Calibri"/>
              <a:ea typeface="Calibri"/>
              <a:cs typeface="Calibri"/>
              <a:sym typeface="Calibri"/>
            </a:endParaRPr>
          </a:p>
        </p:txBody>
      </p:sp>
      <p:sp>
        <p:nvSpPr>
          <p:cNvPr id="97" name="Google Shape;97;p5"/>
          <p:cNvSpPr/>
          <p:nvPr/>
        </p:nvSpPr>
        <p:spPr>
          <a:xfrm>
            <a:off x="1810512" y="2249424"/>
            <a:ext cx="201168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950"/>
              <a:buFont typeface="Calibri"/>
              <a:buNone/>
            </a:pPr>
            <a:r>
              <a:rPr b="0" i="0" lang="en-US" sz="950" u="none" cap="none" strike="noStrike">
                <a:solidFill>
                  <a:srgbClr val="1E293B"/>
                </a:solidFill>
                <a:latin typeface="Calibri"/>
                <a:ea typeface="Calibri"/>
                <a:cs typeface="Calibri"/>
                <a:sym typeface="Calibri"/>
              </a:rPr>
              <a:t>Male / Female</a:t>
            </a:r>
            <a:endParaRPr b="0" i="0" sz="950" u="none" cap="none" strike="noStrike">
              <a:solidFill>
                <a:schemeClr val="dk1"/>
              </a:solidFill>
              <a:latin typeface="Calibri"/>
              <a:ea typeface="Calibri"/>
              <a:cs typeface="Calibri"/>
              <a:sym typeface="Calibri"/>
            </a:endParaRPr>
          </a:p>
        </p:txBody>
      </p:sp>
      <p:sp>
        <p:nvSpPr>
          <p:cNvPr id="98" name="Google Shape;98;p5"/>
          <p:cNvSpPr/>
          <p:nvPr/>
        </p:nvSpPr>
        <p:spPr>
          <a:xfrm>
            <a:off x="3822192" y="2249424"/>
            <a:ext cx="118872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950"/>
              <a:buFont typeface="Calibri"/>
              <a:buNone/>
            </a:pPr>
            <a:r>
              <a:rPr b="1" i="0" lang="en-US" sz="950" u="none" cap="none" strike="noStrike">
                <a:solidFill>
                  <a:srgbClr val="F59E0B"/>
                </a:solidFill>
                <a:latin typeface="Calibri"/>
                <a:ea typeface="Calibri"/>
                <a:cs typeface="Calibri"/>
                <a:sym typeface="Calibri"/>
              </a:rPr>
              <a:t>⚠️ Sensitive</a:t>
            </a:r>
            <a:endParaRPr b="0" i="0" sz="950" u="none" cap="none" strike="noStrike">
              <a:solidFill>
                <a:schemeClr val="dk1"/>
              </a:solidFill>
              <a:latin typeface="Calibri"/>
              <a:ea typeface="Calibri"/>
              <a:cs typeface="Calibri"/>
              <a:sym typeface="Calibri"/>
            </a:endParaRPr>
          </a:p>
        </p:txBody>
      </p:sp>
      <p:sp>
        <p:nvSpPr>
          <p:cNvPr id="99" name="Google Shape;99;p5"/>
          <p:cNvSpPr/>
          <p:nvPr/>
        </p:nvSpPr>
        <p:spPr>
          <a:xfrm>
            <a:off x="320040" y="2551176"/>
            <a:ext cx="4663440" cy="320040"/>
          </a:xfrm>
          <a:prstGeom prst="rect">
            <a:avLst/>
          </a:prstGeom>
          <a:solidFill>
            <a:srgbClr val="FFFFFF"/>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5"/>
          <p:cNvSpPr/>
          <p:nvPr/>
        </p:nvSpPr>
        <p:spPr>
          <a:xfrm>
            <a:off x="347472" y="2587752"/>
            <a:ext cx="146304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950"/>
              <a:buFont typeface="Calibri"/>
              <a:buNone/>
            </a:pPr>
            <a:r>
              <a:rPr b="0" i="0" lang="en-US" sz="950" u="none" cap="none" strike="noStrike">
                <a:solidFill>
                  <a:srgbClr val="1E293B"/>
                </a:solidFill>
                <a:latin typeface="Calibri"/>
                <a:ea typeface="Calibri"/>
                <a:cs typeface="Calibri"/>
                <a:sym typeface="Calibri"/>
              </a:rPr>
              <a:t>EducationLevel</a:t>
            </a:r>
            <a:endParaRPr b="0" i="0" sz="950" u="none" cap="none" strike="noStrike">
              <a:solidFill>
                <a:schemeClr val="dk1"/>
              </a:solidFill>
              <a:latin typeface="Calibri"/>
              <a:ea typeface="Calibri"/>
              <a:cs typeface="Calibri"/>
              <a:sym typeface="Calibri"/>
            </a:endParaRPr>
          </a:p>
        </p:txBody>
      </p:sp>
      <p:sp>
        <p:nvSpPr>
          <p:cNvPr id="101" name="Google Shape;101;p5"/>
          <p:cNvSpPr/>
          <p:nvPr/>
        </p:nvSpPr>
        <p:spPr>
          <a:xfrm>
            <a:off x="1810512" y="2587752"/>
            <a:ext cx="201168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950"/>
              <a:buFont typeface="Calibri"/>
              <a:buNone/>
            </a:pPr>
            <a:r>
              <a:rPr b="0" i="0" lang="en-US" sz="950" u="none" cap="none" strike="noStrike">
                <a:solidFill>
                  <a:srgbClr val="1E293B"/>
                </a:solidFill>
                <a:latin typeface="Calibri"/>
                <a:ea typeface="Calibri"/>
                <a:cs typeface="Calibri"/>
                <a:sym typeface="Calibri"/>
              </a:rPr>
              <a:t>High School → PhD</a:t>
            </a:r>
            <a:endParaRPr b="0" i="0" sz="950" u="none" cap="none" strike="noStrike">
              <a:solidFill>
                <a:schemeClr val="dk1"/>
              </a:solidFill>
              <a:latin typeface="Calibri"/>
              <a:ea typeface="Calibri"/>
              <a:cs typeface="Calibri"/>
              <a:sym typeface="Calibri"/>
            </a:endParaRPr>
          </a:p>
        </p:txBody>
      </p:sp>
      <p:sp>
        <p:nvSpPr>
          <p:cNvPr id="102" name="Google Shape;102;p5"/>
          <p:cNvSpPr/>
          <p:nvPr/>
        </p:nvSpPr>
        <p:spPr>
          <a:xfrm>
            <a:off x="3822192" y="2587752"/>
            <a:ext cx="118872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950"/>
              <a:buFont typeface="Calibri"/>
              <a:buNone/>
            </a:pPr>
            <a:r>
              <a:rPr b="0" i="0" lang="en-US" sz="950" u="none" cap="none" strike="noStrike">
                <a:solidFill>
                  <a:srgbClr val="1E293B"/>
                </a:solidFill>
                <a:latin typeface="Calibri"/>
                <a:ea typeface="Calibri"/>
                <a:cs typeface="Calibri"/>
                <a:sym typeface="Calibri"/>
              </a:rPr>
              <a:t>Input</a:t>
            </a:r>
            <a:endParaRPr b="0" i="0" sz="950" u="none" cap="none" strike="noStrike">
              <a:solidFill>
                <a:schemeClr val="dk1"/>
              </a:solidFill>
              <a:latin typeface="Calibri"/>
              <a:ea typeface="Calibri"/>
              <a:cs typeface="Calibri"/>
              <a:sym typeface="Calibri"/>
            </a:endParaRPr>
          </a:p>
        </p:txBody>
      </p:sp>
      <p:sp>
        <p:nvSpPr>
          <p:cNvPr id="103" name="Google Shape;103;p5"/>
          <p:cNvSpPr/>
          <p:nvPr/>
        </p:nvSpPr>
        <p:spPr>
          <a:xfrm>
            <a:off x="320040" y="2889504"/>
            <a:ext cx="4663440" cy="320040"/>
          </a:xfrm>
          <a:prstGeom prst="rect">
            <a:avLst/>
          </a:prstGeom>
          <a:solidFill>
            <a:srgbClr val="F0F7F8"/>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5"/>
          <p:cNvSpPr/>
          <p:nvPr/>
        </p:nvSpPr>
        <p:spPr>
          <a:xfrm>
            <a:off x="347472" y="2926080"/>
            <a:ext cx="146304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950"/>
              <a:buFont typeface="Calibri"/>
              <a:buNone/>
            </a:pPr>
            <a:r>
              <a:rPr b="0" i="0" lang="en-US" sz="950" u="none" cap="none" strike="noStrike">
                <a:solidFill>
                  <a:srgbClr val="1E293B"/>
                </a:solidFill>
                <a:latin typeface="Calibri"/>
                <a:ea typeface="Calibri"/>
                <a:cs typeface="Calibri"/>
                <a:sym typeface="Calibri"/>
              </a:rPr>
              <a:t>ExperienceYears</a:t>
            </a:r>
            <a:endParaRPr b="0" i="0" sz="950" u="none" cap="none" strike="noStrike">
              <a:solidFill>
                <a:schemeClr val="dk1"/>
              </a:solidFill>
              <a:latin typeface="Calibri"/>
              <a:ea typeface="Calibri"/>
              <a:cs typeface="Calibri"/>
              <a:sym typeface="Calibri"/>
            </a:endParaRPr>
          </a:p>
        </p:txBody>
      </p:sp>
      <p:sp>
        <p:nvSpPr>
          <p:cNvPr id="105" name="Google Shape;105;p5"/>
          <p:cNvSpPr/>
          <p:nvPr/>
        </p:nvSpPr>
        <p:spPr>
          <a:xfrm>
            <a:off x="1810512" y="2926080"/>
            <a:ext cx="201168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950"/>
              <a:buFont typeface="Calibri"/>
              <a:buNone/>
            </a:pPr>
            <a:r>
              <a:rPr b="0" i="0" lang="en-US" sz="950" u="none" cap="none" strike="noStrike">
                <a:solidFill>
                  <a:srgbClr val="1E293B"/>
                </a:solidFill>
                <a:latin typeface="Calibri"/>
                <a:ea typeface="Calibri"/>
                <a:cs typeface="Calibri"/>
                <a:sym typeface="Calibri"/>
              </a:rPr>
              <a:t>Years of work exp.</a:t>
            </a:r>
            <a:endParaRPr b="0" i="0" sz="950" u="none" cap="none" strike="noStrike">
              <a:solidFill>
                <a:schemeClr val="dk1"/>
              </a:solidFill>
              <a:latin typeface="Calibri"/>
              <a:ea typeface="Calibri"/>
              <a:cs typeface="Calibri"/>
              <a:sym typeface="Calibri"/>
            </a:endParaRPr>
          </a:p>
        </p:txBody>
      </p:sp>
      <p:sp>
        <p:nvSpPr>
          <p:cNvPr id="106" name="Google Shape;106;p5"/>
          <p:cNvSpPr/>
          <p:nvPr/>
        </p:nvSpPr>
        <p:spPr>
          <a:xfrm>
            <a:off x="3822192" y="2926080"/>
            <a:ext cx="118872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950"/>
              <a:buFont typeface="Calibri"/>
              <a:buNone/>
            </a:pPr>
            <a:r>
              <a:rPr b="0" i="0" lang="en-US" sz="950" u="none" cap="none" strike="noStrike">
                <a:solidFill>
                  <a:srgbClr val="1E293B"/>
                </a:solidFill>
                <a:latin typeface="Calibri"/>
                <a:ea typeface="Calibri"/>
                <a:cs typeface="Calibri"/>
                <a:sym typeface="Calibri"/>
              </a:rPr>
              <a:t>Input</a:t>
            </a:r>
            <a:endParaRPr b="0" i="0" sz="950" u="none" cap="none" strike="noStrike">
              <a:solidFill>
                <a:schemeClr val="dk1"/>
              </a:solidFill>
              <a:latin typeface="Calibri"/>
              <a:ea typeface="Calibri"/>
              <a:cs typeface="Calibri"/>
              <a:sym typeface="Calibri"/>
            </a:endParaRPr>
          </a:p>
        </p:txBody>
      </p:sp>
      <p:sp>
        <p:nvSpPr>
          <p:cNvPr id="107" name="Google Shape;107;p5"/>
          <p:cNvSpPr/>
          <p:nvPr/>
        </p:nvSpPr>
        <p:spPr>
          <a:xfrm>
            <a:off x="320040" y="3227832"/>
            <a:ext cx="4663440" cy="320040"/>
          </a:xfrm>
          <a:prstGeom prst="rect">
            <a:avLst/>
          </a:prstGeom>
          <a:solidFill>
            <a:srgbClr val="FFFFFF"/>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5"/>
          <p:cNvSpPr/>
          <p:nvPr/>
        </p:nvSpPr>
        <p:spPr>
          <a:xfrm>
            <a:off x="347472" y="3264408"/>
            <a:ext cx="146304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950"/>
              <a:buFont typeface="Calibri"/>
              <a:buNone/>
            </a:pPr>
            <a:r>
              <a:rPr b="0" i="0" lang="en-US" sz="950" u="none" cap="none" strike="noStrike">
                <a:solidFill>
                  <a:srgbClr val="1E293B"/>
                </a:solidFill>
                <a:latin typeface="Calibri"/>
                <a:ea typeface="Calibri"/>
                <a:cs typeface="Calibri"/>
                <a:sym typeface="Calibri"/>
              </a:rPr>
              <a:t>InterviewScore</a:t>
            </a:r>
            <a:endParaRPr b="0" i="0" sz="950" u="none" cap="none" strike="noStrike">
              <a:solidFill>
                <a:schemeClr val="dk1"/>
              </a:solidFill>
              <a:latin typeface="Calibri"/>
              <a:ea typeface="Calibri"/>
              <a:cs typeface="Calibri"/>
              <a:sym typeface="Calibri"/>
            </a:endParaRPr>
          </a:p>
        </p:txBody>
      </p:sp>
      <p:sp>
        <p:nvSpPr>
          <p:cNvPr id="109" name="Google Shape;109;p5"/>
          <p:cNvSpPr/>
          <p:nvPr/>
        </p:nvSpPr>
        <p:spPr>
          <a:xfrm>
            <a:off x="1810512" y="3264408"/>
            <a:ext cx="201168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950"/>
              <a:buFont typeface="Calibri"/>
              <a:buNone/>
            </a:pPr>
            <a:r>
              <a:rPr b="0" i="0" lang="en-US" sz="950" u="none" cap="none" strike="noStrike">
                <a:solidFill>
                  <a:srgbClr val="1E293B"/>
                </a:solidFill>
                <a:latin typeface="Calibri"/>
                <a:ea typeface="Calibri"/>
                <a:cs typeface="Calibri"/>
                <a:sym typeface="Calibri"/>
              </a:rPr>
              <a:t>Performance score (0–100)</a:t>
            </a:r>
            <a:endParaRPr b="0" i="0" sz="950" u="none" cap="none" strike="noStrike">
              <a:solidFill>
                <a:schemeClr val="dk1"/>
              </a:solidFill>
              <a:latin typeface="Calibri"/>
              <a:ea typeface="Calibri"/>
              <a:cs typeface="Calibri"/>
              <a:sym typeface="Calibri"/>
            </a:endParaRPr>
          </a:p>
        </p:txBody>
      </p:sp>
      <p:sp>
        <p:nvSpPr>
          <p:cNvPr id="110" name="Google Shape;110;p5"/>
          <p:cNvSpPr/>
          <p:nvPr/>
        </p:nvSpPr>
        <p:spPr>
          <a:xfrm>
            <a:off x="3822192" y="3264408"/>
            <a:ext cx="118872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950"/>
              <a:buFont typeface="Calibri"/>
              <a:buNone/>
            </a:pPr>
            <a:r>
              <a:rPr b="0" i="0" lang="en-US" sz="950" u="none" cap="none" strike="noStrike">
                <a:solidFill>
                  <a:srgbClr val="1E293B"/>
                </a:solidFill>
                <a:latin typeface="Calibri"/>
                <a:ea typeface="Calibri"/>
                <a:cs typeface="Calibri"/>
                <a:sym typeface="Calibri"/>
              </a:rPr>
              <a:t>Input</a:t>
            </a:r>
            <a:endParaRPr b="0" i="0" sz="950" u="none" cap="none" strike="noStrike">
              <a:solidFill>
                <a:schemeClr val="dk1"/>
              </a:solidFill>
              <a:latin typeface="Calibri"/>
              <a:ea typeface="Calibri"/>
              <a:cs typeface="Calibri"/>
              <a:sym typeface="Calibri"/>
            </a:endParaRPr>
          </a:p>
        </p:txBody>
      </p:sp>
      <p:sp>
        <p:nvSpPr>
          <p:cNvPr id="111" name="Google Shape;111;p5"/>
          <p:cNvSpPr/>
          <p:nvPr/>
        </p:nvSpPr>
        <p:spPr>
          <a:xfrm>
            <a:off x="320040" y="3566160"/>
            <a:ext cx="4663440" cy="320040"/>
          </a:xfrm>
          <a:prstGeom prst="rect">
            <a:avLst/>
          </a:prstGeom>
          <a:solidFill>
            <a:srgbClr val="F0F7F8"/>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5"/>
          <p:cNvSpPr/>
          <p:nvPr/>
        </p:nvSpPr>
        <p:spPr>
          <a:xfrm>
            <a:off x="347472" y="3602736"/>
            <a:ext cx="146304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950"/>
              <a:buFont typeface="Calibri"/>
              <a:buNone/>
            </a:pPr>
            <a:r>
              <a:rPr b="0" i="0" lang="en-US" sz="950" u="none" cap="none" strike="noStrike">
                <a:solidFill>
                  <a:srgbClr val="1E293B"/>
                </a:solidFill>
                <a:latin typeface="Calibri"/>
                <a:ea typeface="Calibri"/>
                <a:cs typeface="Calibri"/>
                <a:sym typeface="Calibri"/>
              </a:rPr>
              <a:t>SkillScore</a:t>
            </a:r>
            <a:endParaRPr b="0" i="0" sz="950" u="none" cap="none" strike="noStrike">
              <a:solidFill>
                <a:schemeClr val="dk1"/>
              </a:solidFill>
              <a:latin typeface="Calibri"/>
              <a:ea typeface="Calibri"/>
              <a:cs typeface="Calibri"/>
              <a:sym typeface="Calibri"/>
            </a:endParaRPr>
          </a:p>
        </p:txBody>
      </p:sp>
      <p:sp>
        <p:nvSpPr>
          <p:cNvPr id="113" name="Google Shape;113;p5"/>
          <p:cNvSpPr/>
          <p:nvPr/>
        </p:nvSpPr>
        <p:spPr>
          <a:xfrm>
            <a:off x="1810512" y="3602736"/>
            <a:ext cx="201168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950"/>
              <a:buFont typeface="Calibri"/>
              <a:buNone/>
            </a:pPr>
            <a:r>
              <a:rPr b="0" i="0" lang="en-US" sz="950" u="none" cap="none" strike="noStrike">
                <a:solidFill>
                  <a:srgbClr val="1E293B"/>
                </a:solidFill>
                <a:latin typeface="Calibri"/>
                <a:ea typeface="Calibri"/>
                <a:cs typeface="Calibri"/>
                <a:sym typeface="Calibri"/>
              </a:rPr>
              <a:t>Technical assessment (0–100)</a:t>
            </a:r>
            <a:endParaRPr b="0" i="0" sz="950" u="none" cap="none" strike="noStrike">
              <a:solidFill>
                <a:schemeClr val="dk1"/>
              </a:solidFill>
              <a:latin typeface="Calibri"/>
              <a:ea typeface="Calibri"/>
              <a:cs typeface="Calibri"/>
              <a:sym typeface="Calibri"/>
            </a:endParaRPr>
          </a:p>
        </p:txBody>
      </p:sp>
      <p:sp>
        <p:nvSpPr>
          <p:cNvPr id="114" name="Google Shape;114;p5"/>
          <p:cNvSpPr/>
          <p:nvPr/>
        </p:nvSpPr>
        <p:spPr>
          <a:xfrm>
            <a:off x="3822192" y="3602736"/>
            <a:ext cx="118872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950"/>
              <a:buFont typeface="Calibri"/>
              <a:buNone/>
            </a:pPr>
            <a:r>
              <a:rPr b="0" i="0" lang="en-US" sz="950" u="none" cap="none" strike="noStrike">
                <a:solidFill>
                  <a:srgbClr val="1E293B"/>
                </a:solidFill>
                <a:latin typeface="Calibri"/>
                <a:ea typeface="Calibri"/>
                <a:cs typeface="Calibri"/>
                <a:sym typeface="Calibri"/>
              </a:rPr>
              <a:t>Input</a:t>
            </a:r>
            <a:endParaRPr b="0" i="0" sz="950" u="none" cap="none" strike="noStrike">
              <a:solidFill>
                <a:schemeClr val="dk1"/>
              </a:solidFill>
              <a:latin typeface="Calibri"/>
              <a:ea typeface="Calibri"/>
              <a:cs typeface="Calibri"/>
              <a:sym typeface="Calibri"/>
            </a:endParaRPr>
          </a:p>
        </p:txBody>
      </p:sp>
      <p:sp>
        <p:nvSpPr>
          <p:cNvPr id="115" name="Google Shape;115;p5"/>
          <p:cNvSpPr/>
          <p:nvPr/>
        </p:nvSpPr>
        <p:spPr>
          <a:xfrm>
            <a:off x="320040" y="3904488"/>
            <a:ext cx="4663440" cy="320040"/>
          </a:xfrm>
          <a:prstGeom prst="rect">
            <a:avLst/>
          </a:prstGeom>
          <a:solidFill>
            <a:srgbClr val="FFFFFF"/>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5"/>
          <p:cNvSpPr/>
          <p:nvPr/>
        </p:nvSpPr>
        <p:spPr>
          <a:xfrm>
            <a:off x="347472" y="3941064"/>
            <a:ext cx="146304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950"/>
              <a:buFont typeface="Calibri"/>
              <a:buNone/>
            </a:pPr>
            <a:r>
              <a:rPr b="0" i="0" lang="en-US" sz="950" u="none" cap="none" strike="noStrike">
                <a:solidFill>
                  <a:srgbClr val="1E293B"/>
                </a:solidFill>
                <a:latin typeface="Calibri"/>
                <a:ea typeface="Calibri"/>
                <a:cs typeface="Calibri"/>
                <a:sym typeface="Calibri"/>
              </a:rPr>
              <a:t>PersonalityScore</a:t>
            </a:r>
            <a:endParaRPr b="0" i="0" sz="950" u="none" cap="none" strike="noStrike">
              <a:solidFill>
                <a:schemeClr val="dk1"/>
              </a:solidFill>
              <a:latin typeface="Calibri"/>
              <a:ea typeface="Calibri"/>
              <a:cs typeface="Calibri"/>
              <a:sym typeface="Calibri"/>
            </a:endParaRPr>
          </a:p>
        </p:txBody>
      </p:sp>
      <p:sp>
        <p:nvSpPr>
          <p:cNvPr id="117" name="Google Shape;117;p5"/>
          <p:cNvSpPr/>
          <p:nvPr/>
        </p:nvSpPr>
        <p:spPr>
          <a:xfrm>
            <a:off x="1810512" y="3941064"/>
            <a:ext cx="201168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950"/>
              <a:buFont typeface="Calibri"/>
              <a:buNone/>
            </a:pPr>
            <a:r>
              <a:rPr b="0" i="0" lang="en-US" sz="950" u="none" cap="none" strike="noStrike">
                <a:solidFill>
                  <a:srgbClr val="1E293B"/>
                </a:solidFill>
                <a:latin typeface="Calibri"/>
                <a:ea typeface="Calibri"/>
                <a:cs typeface="Calibri"/>
                <a:sym typeface="Calibri"/>
              </a:rPr>
              <a:t>Personality score (0–100)</a:t>
            </a:r>
            <a:endParaRPr b="0" i="0" sz="950" u="none" cap="none" strike="noStrike">
              <a:solidFill>
                <a:schemeClr val="dk1"/>
              </a:solidFill>
              <a:latin typeface="Calibri"/>
              <a:ea typeface="Calibri"/>
              <a:cs typeface="Calibri"/>
              <a:sym typeface="Calibri"/>
            </a:endParaRPr>
          </a:p>
        </p:txBody>
      </p:sp>
      <p:sp>
        <p:nvSpPr>
          <p:cNvPr id="118" name="Google Shape;118;p5"/>
          <p:cNvSpPr/>
          <p:nvPr/>
        </p:nvSpPr>
        <p:spPr>
          <a:xfrm>
            <a:off x="3822192" y="3941064"/>
            <a:ext cx="118872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950"/>
              <a:buFont typeface="Calibri"/>
              <a:buNone/>
            </a:pPr>
            <a:r>
              <a:rPr b="0" i="0" lang="en-US" sz="950" u="none" cap="none" strike="noStrike">
                <a:solidFill>
                  <a:srgbClr val="1E293B"/>
                </a:solidFill>
                <a:latin typeface="Calibri"/>
                <a:ea typeface="Calibri"/>
                <a:cs typeface="Calibri"/>
                <a:sym typeface="Calibri"/>
              </a:rPr>
              <a:t>Input</a:t>
            </a:r>
            <a:endParaRPr b="0" i="0" sz="950" u="none" cap="none" strike="noStrike">
              <a:solidFill>
                <a:schemeClr val="dk1"/>
              </a:solidFill>
              <a:latin typeface="Calibri"/>
              <a:ea typeface="Calibri"/>
              <a:cs typeface="Calibri"/>
              <a:sym typeface="Calibri"/>
            </a:endParaRPr>
          </a:p>
        </p:txBody>
      </p:sp>
      <p:sp>
        <p:nvSpPr>
          <p:cNvPr id="119" name="Google Shape;119;p5"/>
          <p:cNvSpPr/>
          <p:nvPr/>
        </p:nvSpPr>
        <p:spPr>
          <a:xfrm>
            <a:off x="320040" y="4242816"/>
            <a:ext cx="4663440" cy="320040"/>
          </a:xfrm>
          <a:prstGeom prst="rect">
            <a:avLst/>
          </a:prstGeom>
          <a:solidFill>
            <a:srgbClr val="F0F7F8"/>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5"/>
          <p:cNvSpPr/>
          <p:nvPr/>
        </p:nvSpPr>
        <p:spPr>
          <a:xfrm>
            <a:off x="347472" y="4279392"/>
            <a:ext cx="146304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950"/>
              <a:buFont typeface="Calibri"/>
              <a:buNone/>
            </a:pPr>
            <a:r>
              <a:rPr b="0" i="0" lang="en-US" sz="950" u="none" cap="none" strike="noStrike">
                <a:solidFill>
                  <a:srgbClr val="1E293B"/>
                </a:solidFill>
                <a:latin typeface="Calibri"/>
                <a:ea typeface="Calibri"/>
                <a:cs typeface="Calibri"/>
                <a:sym typeface="Calibri"/>
              </a:rPr>
              <a:t>DistanceFromCompany</a:t>
            </a:r>
            <a:endParaRPr b="0" i="0" sz="950" u="none" cap="none" strike="noStrike">
              <a:solidFill>
                <a:schemeClr val="dk1"/>
              </a:solidFill>
              <a:latin typeface="Calibri"/>
              <a:ea typeface="Calibri"/>
              <a:cs typeface="Calibri"/>
              <a:sym typeface="Calibri"/>
            </a:endParaRPr>
          </a:p>
        </p:txBody>
      </p:sp>
      <p:sp>
        <p:nvSpPr>
          <p:cNvPr id="121" name="Google Shape;121;p5"/>
          <p:cNvSpPr/>
          <p:nvPr/>
        </p:nvSpPr>
        <p:spPr>
          <a:xfrm>
            <a:off x="1810512" y="4279392"/>
            <a:ext cx="201168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950"/>
              <a:buFont typeface="Calibri"/>
              <a:buNone/>
            </a:pPr>
            <a:r>
              <a:rPr b="0" i="0" lang="en-US" sz="950" u="none" cap="none" strike="noStrike">
                <a:solidFill>
                  <a:srgbClr val="1E293B"/>
                </a:solidFill>
                <a:latin typeface="Calibri"/>
                <a:ea typeface="Calibri"/>
                <a:cs typeface="Calibri"/>
                <a:sym typeface="Calibri"/>
              </a:rPr>
              <a:t>Commute distance (km)</a:t>
            </a:r>
            <a:endParaRPr b="0" i="0" sz="950" u="none" cap="none" strike="noStrike">
              <a:solidFill>
                <a:schemeClr val="dk1"/>
              </a:solidFill>
              <a:latin typeface="Calibri"/>
              <a:ea typeface="Calibri"/>
              <a:cs typeface="Calibri"/>
              <a:sym typeface="Calibri"/>
            </a:endParaRPr>
          </a:p>
        </p:txBody>
      </p:sp>
      <p:sp>
        <p:nvSpPr>
          <p:cNvPr id="122" name="Google Shape;122;p5"/>
          <p:cNvSpPr/>
          <p:nvPr/>
        </p:nvSpPr>
        <p:spPr>
          <a:xfrm>
            <a:off x="3822192" y="4279392"/>
            <a:ext cx="118872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950"/>
              <a:buFont typeface="Calibri"/>
              <a:buNone/>
            </a:pPr>
            <a:r>
              <a:rPr b="0" i="0" lang="en-US" sz="950" u="none" cap="none" strike="noStrike">
                <a:solidFill>
                  <a:srgbClr val="1E293B"/>
                </a:solidFill>
                <a:latin typeface="Calibri"/>
                <a:ea typeface="Calibri"/>
                <a:cs typeface="Calibri"/>
                <a:sym typeface="Calibri"/>
              </a:rPr>
              <a:t>Input</a:t>
            </a:r>
            <a:endParaRPr b="0" i="0" sz="950" u="none" cap="none" strike="noStrike">
              <a:solidFill>
                <a:schemeClr val="dk1"/>
              </a:solidFill>
              <a:latin typeface="Calibri"/>
              <a:ea typeface="Calibri"/>
              <a:cs typeface="Calibri"/>
              <a:sym typeface="Calibri"/>
            </a:endParaRPr>
          </a:p>
        </p:txBody>
      </p:sp>
      <p:sp>
        <p:nvSpPr>
          <p:cNvPr id="123" name="Google Shape;123;p5"/>
          <p:cNvSpPr/>
          <p:nvPr/>
        </p:nvSpPr>
        <p:spPr>
          <a:xfrm>
            <a:off x="320040" y="4581144"/>
            <a:ext cx="4663440" cy="320040"/>
          </a:xfrm>
          <a:prstGeom prst="rect">
            <a:avLst/>
          </a:prstGeom>
          <a:solidFill>
            <a:srgbClr val="FFFFFF"/>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5"/>
          <p:cNvSpPr/>
          <p:nvPr/>
        </p:nvSpPr>
        <p:spPr>
          <a:xfrm>
            <a:off x="347472" y="4617720"/>
            <a:ext cx="146304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950"/>
              <a:buFont typeface="Calibri"/>
              <a:buNone/>
            </a:pPr>
            <a:r>
              <a:rPr b="0" i="0" lang="en-US" sz="950" u="none" cap="none" strike="noStrike">
                <a:solidFill>
                  <a:srgbClr val="1E293B"/>
                </a:solidFill>
                <a:latin typeface="Calibri"/>
                <a:ea typeface="Calibri"/>
                <a:cs typeface="Calibri"/>
                <a:sym typeface="Calibri"/>
              </a:rPr>
              <a:t>HiringDecision</a:t>
            </a:r>
            <a:endParaRPr b="0" i="0" sz="950" u="none" cap="none" strike="noStrike">
              <a:solidFill>
                <a:schemeClr val="dk1"/>
              </a:solidFill>
              <a:latin typeface="Calibri"/>
              <a:ea typeface="Calibri"/>
              <a:cs typeface="Calibri"/>
              <a:sym typeface="Calibri"/>
            </a:endParaRPr>
          </a:p>
        </p:txBody>
      </p:sp>
      <p:sp>
        <p:nvSpPr>
          <p:cNvPr id="125" name="Google Shape;125;p5"/>
          <p:cNvSpPr/>
          <p:nvPr/>
        </p:nvSpPr>
        <p:spPr>
          <a:xfrm>
            <a:off x="1810512" y="4617720"/>
            <a:ext cx="201168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950"/>
              <a:buFont typeface="Calibri"/>
              <a:buNone/>
            </a:pPr>
            <a:r>
              <a:rPr b="0" i="0" lang="en-US" sz="950" u="none" cap="none" strike="noStrike">
                <a:solidFill>
                  <a:srgbClr val="1E293B"/>
                </a:solidFill>
                <a:latin typeface="Calibri"/>
                <a:ea typeface="Calibri"/>
                <a:cs typeface="Calibri"/>
                <a:sym typeface="Calibri"/>
              </a:rPr>
              <a:t>1=Hired, 0=Not Hired</a:t>
            </a:r>
            <a:endParaRPr b="0" i="0" sz="950" u="none" cap="none" strike="noStrike">
              <a:solidFill>
                <a:schemeClr val="dk1"/>
              </a:solidFill>
              <a:latin typeface="Calibri"/>
              <a:ea typeface="Calibri"/>
              <a:cs typeface="Calibri"/>
              <a:sym typeface="Calibri"/>
            </a:endParaRPr>
          </a:p>
        </p:txBody>
      </p:sp>
      <p:sp>
        <p:nvSpPr>
          <p:cNvPr id="126" name="Google Shape;126;p5"/>
          <p:cNvSpPr/>
          <p:nvPr/>
        </p:nvSpPr>
        <p:spPr>
          <a:xfrm>
            <a:off x="3822192" y="4617720"/>
            <a:ext cx="118872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950"/>
              <a:buFont typeface="Calibri"/>
              <a:buNone/>
            </a:pPr>
            <a:r>
              <a:rPr b="1" i="0" lang="en-US" sz="950" u="none" cap="none" strike="noStrike">
                <a:solidFill>
                  <a:srgbClr val="F59E0B"/>
                </a:solidFill>
                <a:latin typeface="Calibri"/>
                <a:ea typeface="Calibri"/>
                <a:cs typeface="Calibri"/>
                <a:sym typeface="Calibri"/>
              </a:rPr>
              <a:t>🎯 Target</a:t>
            </a:r>
            <a:endParaRPr b="0" i="0" sz="950" u="none" cap="none" strike="noStrike">
              <a:solidFill>
                <a:schemeClr val="dk1"/>
              </a:solidFill>
              <a:latin typeface="Calibri"/>
              <a:ea typeface="Calibri"/>
              <a:cs typeface="Calibri"/>
              <a:sym typeface="Calibri"/>
            </a:endParaRPr>
          </a:p>
        </p:txBody>
      </p:sp>
      <p:sp>
        <p:nvSpPr>
          <p:cNvPr id="127" name="Google Shape;127;p5"/>
          <p:cNvSpPr/>
          <p:nvPr/>
        </p:nvSpPr>
        <p:spPr>
          <a:xfrm>
            <a:off x="5303520" y="1097280"/>
            <a:ext cx="3520440" cy="3840480"/>
          </a:xfrm>
          <a:prstGeom prst="rect">
            <a:avLst/>
          </a:prstGeom>
          <a:solidFill>
            <a:srgbClr val="0A2342"/>
          </a:solidFill>
          <a:ln cap="flat" cmpd="sng" w="12700">
            <a:solidFill>
              <a:srgbClr val="0A2342"/>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5"/>
          <p:cNvSpPr/>
          <p:nvPr/>
        </p:nvSpPr>
        <p:spPr>
          <a:xfrm>
            <a:off x="5440680" y="1234440"/>
            <a:ext cx="324612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C39A"/>
              </a:buClr>
              <a:buSzPts val="1400"/>
              <a:buFont typeface="Calibri"/>
              <a:buNone/>
            </a:pPr>
            <a:r>
              <a:rPr b="1" i="0" lang="en-US" sz="1400" u="none" cap="none" strike="noStrike">
                <a:solidFill>
                  <a:srgbClr val="02C39A"/>
                </a:solidFill>
                <a:latin typeface="Calibri"/>
                <a:ea typeface="Calibri"/>
                <a:cs typeface="Calibri"/>
                <a:sym typeface="Calibri"/>
              </a:rPr>
              <a:t>How Bias Was Injected</a:t>
            </a:r>
            <a:endParaRPr b="0" i="0" sz="1400" u="none" cap="none" strike="noStrike">
              <a:solidFill>
                <a:schemeClr val="dk1"/>
              </a:solidFill>
              <a:latin typeface="Calibri"/>
              <a:ea typeface="Calibri"/>
              <a:cs typeface="Calibri"/>
              <a:sym typeface="Calibri"/>
            </a:endParaRPr>
          </a:p>
        </p:txBody>
      </p:sp>
      <p:sp>
        <p:nvSpPr>
          <p:cNvPr id="129" name="Google Shape;129;p5"/>
          <p:cNvSpPr/>
          <p:nvPr/>
        </p:nvSpPr>
        <p:spPr>
          <a:xfrm>
            <a:off x="5440680" y="1645920"/>
            <a:ext cx="32461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0C4D4"/>
              </a:buClr>
              <a:buSzPts val="1050"/>
              <a:buFont typeface="Calibri"/>
              <a:buNone/>
            </a:pPr>
            <a:r>
              <a:rPr b="0" i="0" lang="en-US" sz="1050" u="none" cap="none" strike="noStrike">
                <a:solidFill>
                  <a:srgbClr val="B0C4D4"/>
                </a:solidFill>
                <a:latin typeface="Calibri"/>
                <a:ea typeface="Calibri"/>
                <a:cs typeface="Calibri"/>
                <a:sym typeface="Calibri"/>
              </a:rPr>
              <a:t>Intentional gender bias mirrors real-world patterns:</a:t>
            </a:r>
            <a:endParaRPr b="0" i="0" sz="1050" u="none" cap="none" strike="noStrike">
              <a:solidFill>
                <a:schemeClr val="dk1"/>
              </a:solidFill>
              <a:latin typeface="Calibri"/>
              <a:ea typeface="Calibri"/>
              <a:cs typeface="Calibri"/>
              <a:sym typeface="Calibri"/>
            </a:endParaRPr>
          </a:p>
        </p:txBody>
      </p:sp>
      <p:sp>
        <p:nvSpPr>
          <p:cNvPr id="130" name="Google Shape;130;p5"/>
          <p:cNvSpPr/>
          <p:nvPr/>
        </p:nvSpPr>
        <p:spPr>
          <a:xfrm>
            <a:off x="5440680" y="2084832"/>
            <a:ext cx="32461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C39A"/>
              </a:buClr>
              <a:buSzPts val="1000"/>
              <a:buFont typeface="Calibri"/>
              <a:buNone/>
            </a:pPr>
            <a:r>
              <a:rPr b="1" i="0" lang="en-US" sz="1000" u="none" cap="none" strike="noStrike">
                <a:solidFill>
                  <a:srgbClr val="02C39A"/>
                </a:solidFill>
                <a:latin typeface="Calibri"/>
                <a:ea typeface="Calibri"/>
                <a:cs typeface="Calibri"/>
                <a:sym typeface="Calibri"/>
              </a:rPr>
              <a:t>Base hire probability computed from:</a:t>
            </a:r>
            <a:endParaRPr b="0" i="0" sz="1000" u="none" cap="none" strike="noStrike">
              <a:solidFill>
                <a:schemeClr val="dk1"/>
              </a:solidFill>
              <a:latin typeface="Calibri"/>
              <a:ea typeface="Calibri"/>
              <a:cs typeface="Calibri"/>
              <a:sym typeface="Calibri"/>
            </a:endParaRPr>
          </a:p>
        </p:txBody>
      </p:sp>
      <p:sp>
        <p:nvSpPr>
          <p:cNvPr id="131" name="Google Shape;131;p5"/>
          <p:cNvSpPr/>
          <p:nvPr/>
        </p:nvSpPr>
        <p:spPr>
          <a:xfrm>
            <a:off x="5440680" y="2331720"/>
            <a:ext cx="32461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D8E0"/>
              </a:buClr>
              <a:buSzPts val="950"/>
              <a:buFont typeface="Calibri"/>
              <a:buNone/>
            </a:pPr>
            <a:r>
              <a:rPr b="0" i="0" lang="en-US" sz="950" u="none" cap="none" strike="noStrike">
                <a:solidFill>
                  <a:srgbClr val="C8D8E0"/>
                </a:solidFill>
                <a:latin typeface="Calibri"/>
                <a:ea typeface="Calibri"/>
                <a:cs typeface="Calibri"/>
                <a:sym typeface="Calibri"/>
              </a:rPr>
              <a:t>• InterviewScore × 0.003</a:t>
            </a:r>
            <a:endParaRPr b="0" i="0" sz="950" u="none" cap="none" strike="noStrike">
              <a:solidFill>
                <a:schemeClr val="dk1"/>
              </a:solidFill>
              <a:latin typeface="Calibri"/>
              <a:ea typeface="Calibri"/>
              <a:cs typeface="Calibri"/>
              <a:sym typeface="Calibri"/>
            </a:endParaRPr>
          </a:p>
        </p:txBody>
      </p:sp>
      <p:sp>
        <p:nvSpPr>
          <p:cNvPr id="132" name="Google Shape;132;p5"/>
          <p:cNvSpPr/>
          <p:nvPr/>
        </p:nvSpPr>
        <p:spPr>
          <a:xfrm>
            <a:off x="5440680" y="2578608"/>
            <a:ext cx="32461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D8E0"/>
              </a:buClr>
              <a:buSzPts val="950"/>
              <a:buFont typeface="Calibri"/>
              <a:buNone/>
            </a:pPr>
            <a:r>
              <a:rPr b="0" i="0" lang="en-US" sz="950" u="none" cap="none" strike="noStrike">
                <a:solidFill>
                  <a:srgbClr val="C8D8E0"/>
                </a:solidFill>
                <a:latin typeface="Calibri"/>
                <a:ea typeface="Calibri"/>
                <a:cs typeface="Calibri"/>
                <a:sym typeface="Calibri"/>
              </a:rPr>
              <a:t>• SkillScore × 0.002</a:t>
            </a:r>
            <a:endParaRPr b="0" i="0" sz="950" u="none" cap="none" strike="noStrike">
              <a:solidFill>
                <a:schemeClr val="dk1"/>
              </a:solidFill>
              <a:latin typeface="Calibri"/>
              <a:ea typeface="Calibri"/>
              <a:cs typeface="Calibri"/>
              <a:sym typeface="Calibri"/>
            </a:endParaRPr>
          </a:p>
        </p:txBody>
      </p:sp>
      <p:sp>
        <p:nvSpPr>
          <p:cNvPr id="133" name="Google Shape;133;p5"/>
          <p:cNvSpPr/>
          <p:nvPr/>
        </p:nvSpPr>
        <p:spPr>
          <a:xfrm>
            <a:off x="5440680" y="2825496"/>
            <a:ext cx="32461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D8E0"/>
              </a:buClr>
              <a:buSzPts val="950"/>
              <a:buFont typeface="Calibri"/>
              <a:buNone/>
            </a:pPr>
            <a:r>
              <a:rPr b="0" i="0" lang="en-US" sz="950" u="none" cap="none" strike="noStrike">
                <a:solidFill>
                  <a:srgbClr val="C8D8E0"/>
                </a:solidFill>
                <a:latin typeface="Calibri"/>
                <a:ea typeface="Calibri"/>
                <a:cs typeface="Calibri"/>
                <a:sym typeface="Calibri"/>
              </a:rPr>
              <a:t>• ExperienceYears × 0.015</a:t>
            </a:r>
            <a:endParaRPr b="0" i="0" sz="950" u="none" cap="none" strike="noStrike">
              <a:solidFill>
                <a:schemeClr val="dk1"/>
              </a:solidFill>
              <a:latin typeface="Calibri"/>
              <a:ea typeface="Calibri"/>
              <a:cs typeface="Calibri"/>
              <a:sym typeface="Calibri"/>
            </a:endParaRPr>
          </a:p>
        </p:txBody>
      </p:sp>
      <p:sp>
        <p:nvSpPr>
          <p:cNvPr id="134" name="Google Shape;134;p5"/>
          <p:cNvSpPr/>
          <p:nvPr/>
        </p:nvSpPr>
        <p:spPr>
          <a:xfrm>
            <a:off x="5440680" y="3072384"/>
            <a:ext cx="32461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D8E0"/>
              </a:buClr>
              <a:buSzPts val="950"/>
              <a:buFont typeface="Calibri"/>
              <a:buNone/>
            </a:pPr>
            <a:r>
              <a:rPr b="0" i="0" lang="en-US" sz="950" u="none" cap="none" strike="noStrike">
                <a:solidFill>
                  <a:srgbClr val="C8D8E0"/>
                </a:solidFill>
                <a:latin typeface="Calibri"/>
                <a:ea typeface="Calibri"/>
                <a:cs typeface="Calibri"/>
                <a:sym typeface="Calibri"/>
              </a:rPr>
              <a:t>• EducationLevel × 0.05</a:t>
            </a:r>
            <a:endParaRPr b="0" i="0" sz="950" u="none" cap="none" strike="noStrike">
              <a:solidFill>
                <a:schemeClr val="dk1"/>
              </a:solidFill>
              <a:latin typeface="Calibri"/>
              <a:ea typeface="Calibri"/>
              <a:cs typeface="Calibri"/>
              <a:sym typeface="Calibri"/>
            </a:endParaRPr>
          </a:p>
        </p:txBody>
      </p:sp>
      <p:sp>
        <p:nvSpPr>
          <p:cNvPr id="135" name="Google Shape;135;p5"/>
          <p:cNvSpPr/>
          <p:nvPr/>
        </p:nvSpPr>
        <p:spPr>
          <a:xfrm>
            <a:off x="5440680" y="3319272"/>
            <a:ext cx="32461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D8E0"/>
              </a:buClr>
              <a:buSzPts val="950"/>
              <a:buFont typeface="Calibri"/>
              <a:buNone/>
            </a:pPr>
            <a:r>
              <a:rPr b="0" i="0" lang="en-US" sz="950" u="none" cap="none" strike="noStrike">
                <a:solidFill>
                  <a:srgbClr val="C8D8E0"/>
                </a:solidFill>
                <a:latin typeface="Calibri"/>
                <a:ea typeface="Calibri"/>
                <a:cs typeface="Calibri"/>
                <a:sym typeface="Calibri"/>
              </a:rPr>
              <a:t>• DistanceFromCompany × −0.003</a:t>
            </a:r>
            <a:endParaRPr b="0" i="0" sz="950" u="none" cap="none" strike="noStrike">
              <a:solidFill>
                <a:schemeClr val="dk1"/>
              </a:solidFill>
              <a:latin typeface="Calibri"/>
              <a:ea typeface="Calibri"/>
              <a:cs typeface="Calibri"/>
              <a:sym typeface="Calibri"/>
            </a:endParaRPr>
          </a:p>
        </p:txBody>
      </p:sp>
      <p:sp>
        <p:nvSpPr>
          <p:cNvPr id="136" name="Google Shape;136;p5"/>
          <p:cNvSpPr/>
          <p:nvPr/>
        </p:nvSpPr>
        <p:spPr>
          <a:xfrm>
            <a:off x="5440680" y="3813048"/>
            <a:ext cx="32461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C39A"/>
              </a:buClr>
              <a:buSzPts val="1000"/>
              <a:buFont typeface="Calibri"/>
              <a:buNone/>
            </a:pPr>
            <a:r>
              <a:rPr b="1" i="0" lang="en-US" sz="1000" u="none" cap="none" strike="noStrike">
                <a:solidFill>
                  <a:srgbClr val="02C39A"/>
                </a:solidFill>
                <a:latin typeface="Calibri"/>
                <a:ea typeface="Calibri"/>
                <a:cs typeface="Calibri"/>
                <a:sym typeface="Calibri"/>
              </a:rPr>
              <a:t>Gender boost applied:</a:t>
            </a:r>
            <a:endParaRPr b="0" i="0" sz="1000" u="none" cap="none" strike="noStrike">
              <a:solidFill>
                <a:schemeClr val="dk1"/>
              </a:solidFill>
              <a:latin typeface="Calibri"/>
              <a:ea typeface="Calibri"/>
              <a:cs typeface="Calibri"/>
              <a:sym typeface="Calibri"/>
            </a:endParaRPr>
          </a:p>
        </p:txBody>
      </p:sp>
      <p:sp>
        <p:nvSpPr>
          <p:cNvPr id="137" name="Google Shape;137;p5"/>
          <p:cNvSpPr/>
          <p:nvPr/>
        </p:nvSpPr>
        <p:spPr>
          <a:xfrm>
            <a:off x="5440680" y="4059936"/>
            <a:ext cx="32461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D8E0"/>
              </a:buClr>
              <a:buSzPts val="950"/>
              <a:buFont typeface="Calibri"/>
              <a:buNone/>
            </a:pPr>
            <a:r>
              <a:rPr b="0" i="0" lang="en-US" sz="950" u="none" cap="none" strike="noStrike">
                <a:solidFill>
                  <a:srgbClr val="C8D8E0"/>
                </a:solidFill>
                <a:latin typeface="Calibri"/>
                <a:ea typeface="Calibri"/>
                <a:cs typeface="Calibri"/>
                <a:sym typeface="Calibri"/>
              </a:rPr>
              <a:t>• Male candidates → +0.12 added</a:t>
            </a:r>
            <a:endParaRPr b="0" i="0" sz="950" u="none" cap="none" strike="noStrike">
              <a:solidFill>
                <a:schemeClr val="dk1"/>
              </a:solidFill>
              <a:latin typeface="Calibri"/>
              <a:ea typeface="Calibri"/>
              <a:cs typeface="Calibri"/>
              <a:sym typeface="Calibri"/>
            </a:endParaRPr>
          </a:p>
        </p:txBody>
      </p:sp>
      <p:sp>
        <p:nvSpPr>
          <p:cNvPr id="138" name="Google Shape;138;p5"/>
          <p:cNvSpPr/>
          <p:nvPr/>
        </p:nvSpPr>
        <p:spPr>
          <a:xfrm>
            <a:off x="5440680" y="4306824"/>
            <a:ext cx="32461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D8E0"/>
              </a:buClr>
              <a:buSzPts val="950"/>
              <a:buFont typeface="Calibri"/>
              <a:buNone/>
            </a:pPr>
            <a:r>
              <a:rPr b="0" i="0" lang="en-US" sz="950" u="none" cap="none" strike="noStrike">
                <a:solidFill>
                  <a:srgbClr val="C8D8E0"/>
                </a:solidFill>
                <a:latin typeface="Calibri"/>
                <a:ea typeface="Calibri"/>
                <a:cs typeface="Calibri"/>
                <a:sym typeface="Calibri"/>
              </a:rPr>
              <a:t>• Female candidates → +0.00</a:t>
            </a:r>
            <a:endParaRPr b="0" i="0" sz="950" u="none" cap="none" strike="noStrike">
              <a:solidFill>
                <a:schemeClr val="dk1"/>
              </a:solidFill>
              <a:latin typeface="Calibri"/>
              <a:ea typeface="Calibri"/>
              <a:cs typeface="Calibri"/>
              <a:sym typeface="Calibri"/>
            </a:endParaRPr>
          </a:p>
        </p:txBody>
      </p:sp>
      <p:sp>
        <p:nvSpPr>
          <p:cNvPr id="139" name="Google Shape;139;p5"/>
          <p:cNvSpPr/>
          <p:nvPr/>
        </p:nvSpPr>
        <p:spPr>
          <a:xfrm>
            <a:off x="5440680" y="4800600"/>
            <a:ext cx="32461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0E8F0"/>
              </a:buClr>
              <a:buSzPts val="950"/>
              <a:buFont typeface="Calibri"/>
              <a:buNone/>
            </a:pPr>
            <a:r>
              <a:rPr b="0" i="0" lang="en-US" sz="950" u="none" cap="none" strike="noStrike">
                <a:solidFill>
                  <a:srgbClr val="D0E8F0"/>
                </a:solidFill>
                <a:latin typeface="Calibri"/>
                <a:ea typeface="Calibri"/>
                <a:cs typeface="Calibri"/>
                <a:sym typeface="Calibri"/>
              </a:rPr>
              <a:t>Result: Male hire rate ~12% higher than female even with equal qualifications</a:t>
            </a:r>
            <a:endParaRPr b="0" i="0" sz="950" u="none" cap="none" strike="noStrike">
              <a:solidFill>
                <a:schemeClr val="dk1"/>
              </a:solidFill>
              <a:latin typeface="Calibri"/>
              <a:ea typeface="Calibri"/>
              <a:cs typeface="Calibri"/>
              <a:sym typeface="Calibri"/>
            </a:endParaRPr>
          </a:p>
        </p:txBody>
      </p:sp>
      <p:sp>
        <p:nvSpPr>
          <p:cNvPr id="140" name="Google Shape;140;p5"/>
          <p:cNvSpPr/>
          <p:nvPr/>
        </p:nvSpPr>
        <p:spPr>
          <a:xfrm>
            <a:off x="5440680" y="4526280"/>
            <a:ext cx="3246120" cy="320040"/>
          </a:xfrm>
          <a:prstGeom prst="rect">
            <a:avLst/>
          </a:prstGeom>
          <a:solidFill>
            <a:srgbClr val="028090">
              <a:alpha val="70196"/>
            </a:srgbClr>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5"/>
          <p:cNvSpPr/>
          <p:nvPr/>
        </p:nvSpPr>
        <p:spPr>
          <a:xfrm>
            <a:off x="5440680" y="4544568"/>
            <a:ext cx="32461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n = 2,000 candidates  ·  75% train  ·  25% test</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6" name="Shape 146"/>
        <p:cNvGrpSpPr/>
        <p:nvPr/>
      </p:nvGrpSpPr>
      <p:grpSpPr>
        <a:xfrm>
          <a:off x="0" y="0"/>
          <a:ext cx="0" cy="0"/>
          <a:chOff x="0" y="0"/>
          <a:chExt cx="0" cy="0"/>
        </a:xfrm>
      </p:grpSpPr>
      <p:sp>
        <p:nvSpPr>
          <p:cNvPr id="147" name="Google Shape;147;p6"/>
          <p:cNvSpPr/>
          <p:nvPr/>
        </p:nvSpPr>
        <p:spPr>
          <a:xfrm>
            <a:off x="0" y="0"/>
            <a:ext cx="9144000" cy="1005840"/>
          </a:xfrm>
          <a:prstGeom prst="rect">
            <a:avLst/>
          </a:prstGeom>
          <a:solidFill>
            <a:srgbClr val="0A2342"/>
          </a:solidFill>
          <a:ln cap="flat" cmpd="sng" w="12700">
            <a:solidFill>
              <a:srgbClr val="0A23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6"/>
          <p:cNvSpPr/>
          <p:nvPr/>
        </p:nvSpPr>
        <p:spPr>
          <a:xfrm>
            <a:off x="320040" y="137160"/>
            <a:ext cx="64008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C39A"/>
              </a:buClr>
              <a:buSzPts val="2800"/>
              <a:buFont typeface="Calibri"/>
              <a:buNone/>
            </a:pPr>
            <a:r>
              <a:rPr b="1" i="0" lang="en-US" sz="2800" u="none" cap="none" strike="noStrike">
                <a:solidFill>
                  <a:srgbClr val="02C39A"/>
                </a:solidFill>
                <a:latin typeface="Calibri"/>
                <a:ea typeface="Calibri"/>
                <a:cs typeface="Calibri"/>
                <a:sym typeface="Calibri"/>
              </a:rPr>
              <a:t>04</a:t>
            </a:r>
            <a:endParaRPr b="0" i="0" sz="2800" u="none" cap="none" strike="noStrike">
              <a:solidFill>
                <a:schemeClr val="dk1"/>
              </a:solidFill>
              <a:latin typeface="Calibri"/>
              <a:ea typeface="Calibri"/>
              <a:cs typeface="Calibri"/>
              <a:sym typeface="Calibri"/>
            </a:endParaRPr>
          </a:p>
        </p:txBody>
      </p:sp>
      <p:sp>
        <p:nvSpPr>
          <p:cNvPr id="149" name="Google Shape;149;p6"/>
          <p:cNvSpPr/>
          <p:nvPr/>
        </p:nvSpPr>
        <p:spPr>
          <a:xfrm>
            <a:off x="1005840" y="182880"/>
            <a:ext cx="64008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Calibri"/>
              <a:buNone/>
            </a:pPr>
            <a:r>
              <a:rPr b="1" i="0" lang="en-US" sz="2800" u="none" cap="none" strike="noStrike">
                <a:solidFill>
                  <a:srgbClr val="FFFFFF"/>
                </a:solidFill>
                <a:latin typeface="Calibri"/>
                <a:ea typeface="Calibri"/>
                <a:cs typeface="Calibri"/>
                <a:sym typeface="Calibri"/>
              </a:rPr>
              <a:t>Approach &amp; Pipeline</a:t>
            </a:r>
            <a:endParaRPr b="0" i="0" sz="2800" u="none" cap="none" strike="noStrike">
              <a:solidFill>
                <a:schemeClr val="dk1"/>
              </a:solidFill>
              <a:latin typeface="Calibri"/>
              <a:ea typeface="Calibri"/>
              <a:cs typeface="Calibri"/>
              <a:sym typeface="Calibri"/>
            </a:endParaRPr>
          </a:p>
        </p:txBody>
      </p:sp>
      <p:sp>
        <p:nvSpPr>
          <p:cNvPr id="150" name="Google Shape;150;p6"/>
          <p:cNvSpPr/>
          <p:nvPr/>
        </p:nvSpPr>
        <p:spPr>
          <a:xfrm>
            <a:off x="320040" y="1143000"/>
            <a:ext cx="4297680" cy="1097280"/>
          </a:xfrm>
          <a:prstGeom prst="rect">
            <a:avLst/>
          </a:prstGeom>
          <a:solidFill>
            <a:srgbClr val="F0F7F8"/>
          </a:solidFill>
          <a:ln cap="flat" cmpd="sng" w="9525">
            <a:solidFill>
              <a:srgbClr val="E2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6"/>
          <p:cNvSpPr/>
          <p:nvPr/>
        </p:nvSpPr>
        <p:spPr>
          <a:xfrm>
            <a:off x="429768" y="1399032"/>
            <a:ext cx="502920" cy="502920"/>
          </a:xfrm>
          <a:prstGeom prst="ellipse">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6"/>
          <p:cNvSpPr/>
          <p:nvPr/>
        </p:nvSpPr>
        <p:spPr>
          <a:xfrm>
            <a:off x="429768" y="1399032"/>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1</a:t>
            </a:r>
            <a:endParaRPr b="0" i="0" sz="1600" u="none" cap="none" strike="noStrike">
              <a:solidFill>
                <a:schemeClr val="dk1"/>
              </a:solidFill>
              <a:latin typeface="Calibri"/>
              <a:ea typeface="Calibri"/>
              <a:cs typeface="Calibri"/>
              <a:sym typeface="Calibri"/>
            </a:endParaRPr>
          </a:p>
        </p:txBody>
      </p:sp>
      <p:sp>
        <p:nvSpPr>
          <p:cNvPr id="153" name="Google Shape;153;p6"/>
          <p:cNvSpPr/>
          <p:nvPr/>
        </p:nvSpPr>
        <p:spPr>
          <a:xfrm>
            <a:off x="1033272" y="1252728"/>
            <a:ext cx="34290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2342"/>
              </a:buClr>
              <a:buSzPts val="1300"/>
              <a:buFont typeface="Calibri"/>
              <a:buNone/>
            </a:pPr>
            <a:r>
              <a:rPr b="1" i="0" lang="en-US" sz="1300" u="none" cap="none" strike="noStrike">
                <a:solidFill>
                  <a:srgbClr val="0A2342"/>
                </a:solidFill>
                <a:latin typeface="Calibri"/>
                <a:ea typeface="Calibri"/>
                <a:cs typeface="Calibri"/>
                <a:sym typeface="Calibri"/>
              </a:rPr>
              <a:t>Data Generation</a:t>
            </a:r>
            <a:endParaRPr b="0" i="0" sz="1300" u="none" cap="none" strike="noStrike">
              <a:solidFill>
                <a:schemeClr val="dk1"/>
              </a:solidFill>
              <a:latin typeface="Calibri"/>
              <a:ea typeface="Calibri"/>
              <a:cs typeface="Calibri"/>
              <a:sym typeface="Calibri"/>
            </a:endParaRPr>
          </a:p>
        </p:txBody>
      </p:sp>
      <p:sp>
        <p:nvSpPr>
          <p:cNvPr id="154" name="Google Shape;154;p6"/>
          <p:cNvSpPr/>
          <p:nvPr/>
        </p:nvSpPr>
        <p:spPr>
          <a:xfrm>
            <a:off x="1033272" y="1600200"/>
            <a:ext cx="34290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50"/>
              <a:buFont typeface="Calibri"/>
              <a:buNone/>
            </a:pPr>
            <a:r>
              <a:rPr b="0" i="0" lang="en-US" sz="1050" u="none" cap="none" strike="noStrike">
                <a:solidFill>
                  <a:srgbClr val="64748B"/>
                </a:solidFill>
                <a:latin typeface="Calibri"/>
                <a:ea typeface="Calibri"/>
                <a:cs typeface="Calibri"/>
                <a:sym typeface="Calibri"/>
              </a:rPr>
              <a:t>Synthetic 2000-candidate hiring dataset with controlled +12% male bias injected via NumPy probability engine</a:t>
            </a:r>
            <a:endParaRPr b="0" i="0" sz="1050" u="none" cap="none" strike="noStrike">
              <a:solidFill>
                <a:schemeClr val="dk1"/>
              </a:solidFill>
              <a:latin typeface="Calibri"/>
              <a:ea typeface="Calibri"/>
              <a:cs typeface="Calibri"/>
              <a:sym typeface="Calibri"/>
            </a:endParaRPr>
          </a:p>
        </p:txBody>
      </p:sp>
      <p:cxnSp>
        <p:nvCxnSpPr>
          <p:cNvPr id="155" name="Google Shape;155;p6"/>
          <p:cNvCxnSpPr/>
          <p:nvPr/>
        </p:nvCxnSpPr>
        <p:spPr>
          <a:xfrm>
            <a:off x="2377440" y="2258568"/>
            <a:ext cx="0" cy="128016"/>
          </a:xfrm>
          <a:prstGeom prst="straightConnector1">
            <a:avLst/>
          </a:prstGeom>
          <a:noFill/>
          <a:ln cap="flat" cmpd="sng" w="25400">
            <a:solidFill>
              <a:srgbClr val="028090"/>
            </a:solidFill>
            <a:prstDash val="solid"/>
            <a:round/>
            <a:headEnd len="sm" w="sm" type="none"/>
            <a:tailEnd len="sm" w="sm" type="none"/>
          </a:ln>
        </p:spPr>
      </p:cxnSp>
      <p:sp>
        <p:nvSpPr>
          <p:cNvPr id="156" name="Google Shape;156;p6"/>
          <p:cNvSpPr/>
          <p:nvPr/>
        </p:nvSpPr>
        <p:spPr>
          <a:xfrm>
            <a:off x="320040" y="2404872"/>
            <a:ext cx="4297680" cy="1097280"/>
          </a:xfrm>
          <a:prstGeom prst="rect">
            <a:avLst/>
          </a:prstGeom>
          <a:solidFill>
            <a:srgbClr val="F0F7F8"/>
          </a:solidFill>
          <a:ln cap="flat" cmpd="sng" w="9525">
            <a:solidFill>
              <a:srgbClr val="E2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6"/>
          <p:cNvSpPr/>
          <p:nvPr/>
        </p:nvSpPr>
        <p:spPr>
          <a:xfrm>
            <a:off x="429768" y="2660904"/>
            <a:ext cx="502920" cy="502920"/>
          </a:xfrm>
          <a:prstGeom prst="ellipse">
            <a:avLst/>
          </a:prstGeom>
          <a:solidFill>
            <a:srgbClr val="02A07A"/>
          </a:solidFill>
          <a:ln cap="flat" cmpd="sng" w="12700">
            <a:solidFill>
              <a:srgbClr val="02A0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6"/>
          <p:cNvSpPr/>
          <p:nvPr/>
        </p:nvSpPr>
        <p:spPr>
          <a:xfrm>
            <a:off x="429768" y="2660904"/>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2</a:t>
            </a:r>
            <a:endParaRPr b="0" i="0" sz="1600" u="none" cap="none" strike="noStrike">
              <a:solidFill>
                <a:schemeClr val="dk1"/>
              </a:solidFill>
              <a:latin typeface="Calibri"/>
              <a:ea typeface="Calibri"/>
              <a:cs typeface="Calibri"/>
              <a:sym typeface="Calibri"/>
            </a:endParaRPr>
          </a:p>
        </p:txBody>
      </p:sp>
      <p:sp>
        <p:nvSpPr>
          <p:cNvPr id="159" name="Google Shape;159;p6"/>
          <p:cNvSpPr/>
          <p:nvPr/>
        </p:nvSpPr>
        <p:spPr>
          <a:xfrm>
            <a:off x="1033272" y="2514600"/>
            <a:ext cx="34290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2342"/>
              </a:buClr>
              <a:buSzPts val="1300"/>
              <a:buFont typeface="Calibri"/>
              <a:buNone/>
            </a:pPr>
            <a:r>
              <a:rPr b="1" i="0" lang="en-US" sz="1300" u="none" cap="none" strike="noStrike">
                <a:solidFill>
                  <a:srgbClr val="0A2342"/>
                </a:solidFill>
                <a:latin typeface="Calibri"/>
                <a:ea typeface="Calibri"/>
                <a:cs typeface="Calibri"/>
                <a:sym typeface="Calibri"/>
              </a:rPr>
              <a:t>Preprocessing</a:t>
            </a:r>
            <a:endParaRPr b="0" i="0" sz="1300" u="none" cap="none" strike="noStrike">
              <a:solidFill>
                <a:schemeClr val="dk1"/>
              </a:solidFill>
              <a:latin typeface="Calibri"/>
              <a:ea typeface="Calibri"/>
              <a:cs typeface="Calibri"/>
              <a:sym typeface="Calibri"/>
            </a:endParaRPr>
          </a:p>
        </p:txBody>
      </p:sp>
      <p:sp>
        <p:nvSpPr>
          <p:cNvPr id="160" name="Google Shape;160;p6"/>
          <p:cNvSpPr/>
          <p:nvPr/>
        </p:nvSpPr>
        <p:spPr>
          <a:xfrm>
            <a:off x="1033272" y="2862072"/>
            <a:ext cx="34290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50"/>
              <a:buFont typeface="Calibri"/>
              <a:buNone/>
            </a:pPr>
            <a:r>
              <a:rPr b="0" i="0" lang="en-US" sz="1050" u="none" cap="none" strike="noStrike">
                <a:solidFill>
                  <a:srgbClr val="64748B"/>
                </a:solidFill>
                <a:latin typeface="Calibri"/>
                <a:ea typeface="Calibri"/>
                <a:cs typeface="Calibri"/>
                <a:sym typeface="Calibri"/>
              </a:rPr>
              <a:t>Ordinal encoding (education), binary encoding (gender), one-hot (strategy), StandardScaler normalization</a:t>
            </a:r>
            <a:endParaRPr b="0" i="0" sz="1050" u="none" cap="none" strike="noStrike">
              <a:solidFill>
                <a:schemeClr val="dk1"/>
              </a:solidFill>
              <a:latin typeface="Calibri"/>
              <a:ea typeface="Calibri"/>
              <a:cs typeface="Calibri"/>
              <a:sym typeface="Calibri"/>
            </a:endParaRPr>
          </a:p>
        </p:txBody>
      </p:sp>
      <p:cxnSp>
        <p:nvCxnSpPr>
          <p:cNvPr id="161" name="Google Shape;161;p6"/>
          <p:cNvCxnSpPr/>
          <p:nvPr/>
        </p:nvCxnSpPr>
        <p:spPr>
          <a:xfrm>
            <a:off x="2377440" y="3520440"/>
            <a:ext cx="0" cy="128016"/>
          </a:xfrm>
          <a:prstGeom prst="straightConnector1">
            <a:avLst/>
          </a:prstGeom>
          <a:noFill/>
          <a:ln cap="flat" cmpd="sng" w="25400">
            <a:solidFill>
              <a:srgbClr val="028090"/>
            </a:solidFill>
            <a:prstDash val="solid"/>
            <a:round/>
            <a:headEnd len="sm" w="sm" type="none"/>
            <a:tailEnd len="sm" w="sm" type="none"/>
          </a:ln>
        </p:spPr>
      </p:cxnSp>
      <p:sp>
        <p:nvSpPr>
          <p:cNvPr id="162" name="Google Shape;162;p6"/>
          <p:cNvSpPr/>
          <p:nvPr/>
        </p:nvSpPr>
        <p:spPr>
          <a:xfrm>
            <a:off x="320040" y="3666744"/>
            <a:ext cx="4297680" cy="1097280"/>
          </a:xfrm>
          <a:prstGeom prst="rect">
            <a:avLst/>
          </a:prstGeom>
          <a:solidFill>
            <a:srgbClr val="F0F7F8"/>
          </a:solidFill>
          <a:ln cap="flat" cmpd="sng" w="9525">
            <a:solidFill>
              <a:srgbClr val="E2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6"/>
          <p:cNvSpPr/>
          <p:nvPr/>
        </p:nvSpPr>
        <p:spPr>
          <a:xfrm>
            <a:off x="429768" y="3922776"/>
            <a:ext cx="502920" cy="502920"/>
          </a:xfrm>
          <a:prstGeom prst="ellipse">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6"/>
          <p:cNvSpPr/>
          <p:nvPr/>
        </p:nvSpPr>
        <p:spPr>
          <a:xfrm>
            <a:off x="429768" y="3922776"/>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3</a:t>
            </a:r>
            <a:endParaRPr b="0" i="0" sz="1600" u="none" cap="none" strike="noStrike">
              <a:solidFill>
                <a:schemeClr val="dk1"/>
              </a:solidFill>
              <a:latin typeface="Calibri"/>
              <a:ea typeface="Calibri"/>
              <a:cs typeface="Calibri"/>
              <a:sym typeface="Calibri"/>
            </a:endParaRPr>
          </a:p>
        </p:txBody>
      </p:sp>
      <p:sp>
        <p:nvSpPr>
          <p:cNvPr id="165" name="Google Shape;165;p6"/>
          <p:cNvSpPr/>
          <p:nvPr/>
        </p:nvSpPr>
        <p:spPr>
          <a:xfrm>
            <a:off x="1033272" y="3776472"/>
            <a:ext cx="34290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2342"/>
              </a:buClr>
              <a:buSzPts val="1300"/>
              <a:buFont typeface="Calibri"/>
              <a:buNone/>
            </a:pPr>
            <a:r>
              <a:rPr b="1" i="0" lang="en-US" sz="1300" u="none" cap="none" strike="noStrike">
                <a:solidFill>
                  <a:srgbClr val="0A2342"/>
                </a:solidFill>
                <a:latin typeface="Calibri"/>
                <a:ea typeface="Calibri"/>
                <a:cs typeface="Calibri"/>
                <a:sym typeface="Calibri"/>
              </a:rPr>
              <a:t>EDA &amp; Bias Analysis</a:t>
            </a:r>
            <a:endParaRPr b="0" i="0" sz="1300" u="none" cap="none" strike="noStrike">
              <a:solidFill>
                <a:schemeClr val="dk1"/>
              </a:solidFill>
              <a:latin typeface="Calibri"/>
              <a:ea typeface="Calibri"/>
              <a:cs typeface="Calibri"/>
              <a:sym typeface="Calibri"/>
            </a:endParaRPr>
          </a:p>
        </p:txBody>
      </p:sp>
      <p:sp>
        <p:nvSpPr>
          <p:cNvPr id="166" name="Google Shape;166;p6"/>
          <p:cNvSpPr/>
          <p:nvPr/>
        </p:nvSpPr>
        <p:spPr>
          <a:xfrm>
            <a:off x="1033272" y="4123944"/>
            <a:ext cx="34290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50"/>
              <a:buFont typeface="Calibri"/>
              <a:buNone/>
            </a:pPr>
            <a:r>
              <a:rPr b="0" i="0" lang="en-US" sz="1050" u="none" cap="none" strike="noStrike">
                <a:solidFill>
                  <a:srgbClr val="64748B"/>
                </a:solidFill>
                <a:latin typeface="Calibri"/>
                <a:ea typeface="Calibri"/>
                <a:cs typeface="Calibri"/>
                <a:sym typeface="Calibri"/>
              </a:rPr>
              <a:t>Visualize hiring rates by gender, correlation heatmap, interview/skill score distributions per group</a:t>
            </a:r>
            <a:endParaRPr b="0" i="0" sz="1050" u="none" cap="none" strike="noStrike">
              <a:solidFill>
                <a:schemeClr val="dk1"/>
              </a:solidFill>
              <a:latin typeface="Calibri"/>
              <a:ea typeface="Calibri"/>
              <a:cs typeface="Calibri"/>
              <a:sym typeface="Calibri"/>
            </a:endParaRPr>
          </a:p>
        </p:txBody>
      </p:sp>
      <p:sp>
        <p:nvSpPr>
          <p:cNvPr id="167" name="Google Shape;167;p6"/>
          <p:cNvSpPr/>
          <p:nvPr/>
        </p:nvSpPr>
        <p:spPr>
          <a:xfrm>
            <a:off x="4892040" y="1143000"/>
            <a:ext cx="4297680" cy="1097280"/>
          </a:xfrm>
          <a:prstGeom prst="rect">
            <a:avLst/>
          </a:prstGeom>
          <a:solidFill>
            <a:srgbClr val="F0F7F8"/>
          </a:solidFill>
          <a:ln cap="flat" cmpd="sng" w="9525">
            <a:solidFill>
              <a:srgbClr val="E2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6"/>
          <p:cNvSpPr/>
          <p:nvPr/>
        </p:nvSpPr>
        <p:spPr>
          <a:xfrm>
            <a:off x="5001768" y="1399032"/>
            <a:ext cx="502920" cy="502920"/>
          </a:xfrm>
          <a:prstGeom prst="ellipse">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6"/>
          <p:cNvSpPr/>
          <p:nvPr/>
        </p:nvSpPr>
        <p:spPr>
          <a:xfrm>
            <a:off x="5001768" y="1399032"/>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4</a:t>
            </a:r>
            <a:endParaRPr b="0" i="0" sz="1600" u="none" cap="none" strike="noStrike">
              <a:solidFill>
                <a:schemeClr val="dk1"/>
              </a:solidFill>
              <a:latin typeface="Calibri"/>
              <a:ea typeface="Calibri"/>
              <a:cs typeface="Calibri"/>
              <a:sym typeface="Calibri"/>
            </a:endParaRPr>
          </a:p>
        </p:txBody>
      </p:sp>
      <p:sp>
        <p:nvSpPr>
          <p:cNvPr id="170" name="Google Shape;170;p6"/>
          <p:cNvSpPr/>
          <p:nvPr/>
        </p:nvSpPr>
        <p:spPr>
          <a:xfrm>
            <a:off x="5605272" y="1252728"/>
            <a:ext cx="34290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2342"/>
              </a:buClr>
              <a:buSzPts val="1300"/>
              <a:buFont typeface="Calibri"/>
              <a:buNone/>
            </a:pPr>
            <a:r>
              <a:rPr b="1" i="0" lang="en-US" sz="1300" u="none" cap="none" strike="noStrike">
                <a:solidFill>
                  <a:srgbClr val="0A2342"/>
                </a:solidFill>
                <a:latin typeface="Calibri"/>
                <a:ea typeface="Calibri"/>
                <a:cs typeface="Calibri"/>
                <a:sym typeface="Calibri"/>
              </a:rPr>
              <a:t>Baseline Model</a:t>
            </a:r>
            <a:endParaRPr b="0" i="0" sz="1300" u="none" cap="none" strike="noStrike">
              <a:solidFill>
                <a:schemeClr val="dk1"/>
              </a:solidFill>
              <a:latin typeface="Calibri"/>
              <a:ea typeface="Calibri"/>
              <a:cs typeface="Calibri"/>
              <a:sym typeface="Calibri"/>
            </a:endParaRPr>
          </a:p>
        </p:txBody>
      </p:sp>
      <p:sp>
        <p:nvSpPr>
          <p:cNvPr id="171" name="Google Shape;171;p6"/>
          <p:cNvSpPr/>
          <p:nvPr/>
        </p:nvSpPr>
        <p:spPr>
          <a:xfrm>
            <a:off x="5605272" y="1600200"/>
            <a:ext cx="34290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50"/>
              <a:buFont typeface="Calibri"/>
              <a:buNone/>
            </a:pPr>
            <a:r>
              <a:rPr b="0" i="0" lang="en-US" sz="1050" u="none" cap="none" strike="noStrike">
                <a:solidFill>
                  <a:srgbClr val="64748B"/>
                </a:solidFill>
                <a:latin typeface="Calibri"/>
                <a:ea typeface="Calibri"/>
                <a:cs typeface="Calibri"/>
                <a:sym typeface="Calibri"/>
              </a:rPr>
              <a:t>Logistic Regression (lbfgs, max_iter=1000) trained on scaled features — establishes the 'before' picture</a:t>
            </a:r>
            <a:endParaRPr b="0" i="0" sz="1050" u="none" cap="none" strike="noStrike">
              <a:solidFill>
                <a:schemeClr val="dk1"/>
              </a:solidFill>
              <a:latin typeface="Calibri"/>
              <a:ea typeface="Calibri"/>
              <a:cs typeface="Calibri"/>
              <a:sym typeface="Calibri"/>
            </a:endParaRPr>
          </a:p>
        </p:txBody>
      </p:sp>
      <p:sp>
        <p:nvSpPr>
          <p:cNvPr id="172" name="Google Shape;172;p6"/>
          <p:cNvSpPr/>
          <p:nvPr/>
        </p:nvSpPr>
        <p:spPr>
          <a:xfrm>
            <a:off x="4892040" y="2404872"/>
            <a:ext cx="8503920" cy="1097280"/>
          </a:xfrm>
          <a:prstGeom prst="rect">
            <a:avLst/>
          </a:prstGeom>
          <a:solidFill>
            <a:srgbClr val="F0F7F8"/>
          </a:solidFill>
          <a:ln cap="flat" cmpd="sng" w="9525">
            <a:solidFill>
              <a:srgbClr val="E2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6"/>
          <p:cNvSpPr/>
          <p:nvPr/>
        </p:nvSpPr>
        <p:spPr>
          <a:xfrm>
            <a:off x="5001768" y="2660904"/>
            <a:ext cx="502920" cy="502920"/>
          </a:xfrm>
          <a:prstGeom prst="ellipse">
            <a:avLst/>
          </a:prstGeom>
          <a:solidFill>
            <a:srgbClr val="02A07A"/>
          </a:solidFill>
          <a:ln cap="flat" cmpd="sng" w="12700">
            <a:solidFill>
              <a:srgbClr val="02A0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6"/>
          <p:cNvSpPr/>
          <p:nvPr/>
        </p:nvSpPr>
        <p:spPr>
          <a:xfrm>
            <a:off x="5001768" y="2660904"/>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5</a:t>
            </a:r>
            <a:endParaRPr b="0" i="0" sz="1600" u="none" cap="none" strike="noStrike">
              <a:solidFill>
                <a:schemeClr val="dk1"/>
              </a:solidFill>
              <a:latin typeface="Calibri"/>
              <a:ea typeface="Calibri"/>
              <a:cs typeface="Calibri"/>
              <a:sym typeface="Calibri"/>
            </a:endParaRPr>
          </a:p>
        </p:txBody>
      </p:sp>
      <p:sp>
        <p:nvSpPr>
          <p:cNvPr id="175" name="Google Shape;175;p6"/>
          <p:cNvSpPr/>
          <p:nvPr/>
        </p:nvSpPr>
        <p:spPr>
          <a:xfrm>
            <a:off x="5605272" y="2514600"/>
            <a:ext cx="763524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2342"/>
              </a:buClr>
              <a:buSzPts val="1300"/>
              <a:buFont typeface="Calibri"/>
              <a:buNone/>
            </a:pPr>
            <a:r>
              <a:rPr b="1" i="0" lang="en-US" sz="1300" u="none" cap="none" strike="noStrike">
                <a:solidFill>
                  <a:srgbClr val="0A2342"/>
                </a:solidFill>
                <a:latin typeface="Calibri"/>
                <a:ea typeface="Calibri"/>
                <a:cs typeface="Calibri"/>
                <a:sym typeface="Calibri"/>
              </a:rPr>
              <a:t>Fairness Evaluation</a:t>
            </a:r>
            <a:endParaRPr b="0" i="0" sz="1300" u="none" cap="none" strike="noStrike">
              <a:solidFill>
                <a:schemeClr val="dk1"/>
              </a:solidFill>
              <a:latin typeface="Calibri"/>
              <a:ea typeface="Calibri"/>
              <a:cs typeface="Calibri"/>
              <a:sym typeface="Calibri"/>
            </a:endParaRPr>
          </a:p>
        </p:txBody>
      </p:sp>
      <p:sp>
        <p:nvSpPr>
          <p:cNvPr id="176" name="Google Shape;176;p6"/>
          <p:cNvSpPr/>
          <p:nvPr/>
        </p:nvSpPr>
        <p:spPr>
          <a:xfrm>
            <a:off x="5605272" y="2862072"/>
            <a:ext cx="76352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50"/>
              <a:buFont typeface="Calibri"/>
              <a:buNone/>
            </a:pPr>
            <a:r>
              <a:rPr b="0" i="0" lang="en-US" sz="1050" u="none" cap="none" strike="noStrike">
                <a:solidFill>
                  <a:srgbClr val="64748B"/>
                </a:solidFill>
                <a:latin typeface="Calibri"/>
                <a:ea typeface="Calibri"/>
                <a:cs typeface="Calibri"/>
                <a:sym typeface="Calibri"/>
              </a:rPr>
              <a:t>Fairlearn MetricFrame — Demographic Parity, Disparate Impact Ratio, Equalized Odds computed per group</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1" name="Shape 181"/>
        <p:cNvGrpSpPr/>
        <p:nvPr/>
      </p:nvGrpSpPr>
      <p:grpSpPr>
        <a:xfrm>
          <a:off x="0" y="0"/>
          <a:ext cx="0" cy="0"/>
          <a:chOff x="0" y="0"/>
          <a:chExt cx="0" cy="0"/>
        </a:xfrm>
      </p:grpSpPr>
      <p:sp>
        <p:nvSpPr>
          <p:cNvPr id="182" name="Google Shape;182;p7"/>
          <p:cNvSpPr/>
          <p:nvPr/>
        </p:nvSpPr>
        <p:spPr>
          <a:xfrm>
            <a:off x="0" y="0"/>
            <a:ext cx="9144000" cy="1005840"/>
          </a:xfrm>
          <a:prstGeom prst="rect">
            <a:avLst/>
          </a:prstGeom>
          <a:solidFill>
            <a:srgbClr val="0A2342"/>
          </a:solidFill>
          <a:ln cap="flat" cmpd="sng" w="12700">
            <a:solidFill>
              <a:srgbClr val="0A23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7"/>
          <p:cNvSpPr/>
          <p:nvPr/>
        </p:nvSpPr>
        <p:spPr>
          <a:xfrm>
            <a:off x="320040" y="137160"/>
            <a:ext cx="64008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C39A"/>
              </a:buClr>
              <a:buSzPts val="2800"/>
              <a:buFont typeface="Calibri"/>
              <a:buNone/>
            </a:pPr>
            <a:r>
              <a:rPr b="1" i="0" lang="en-US" sz="2800" u="none" cap="none" strike="noStrike">
                <a:solidFill>
                  <a:srgbClr val="02C39A"/>
                </a:solidFill>
                <a:latin typeface="Calibri"/>
                <a:ea typeface="Calibri"/>
                <a:cs typeface="Calibri"/>
                <a:sym typeface="Calibri"/>
              </a:rPr>
              <a:t>05</a:t>
            </a:r>
            <a:endParaRPr b="0" i="0" sz="2800" u="none" cap="none" strike="noStrike">
              <a:solidFill>
                <a:schemeClr val="dk1"/>
              </a:solidFill>
              <a:latin typeface="Calibri"/>
              <a:ea typeface="Calibri"/>
              <a:cs typeface="Calibri"/>
              <a:sym typeface="Calibri"/>
            </a:endParaRPr>
          </a:p>
        </p:txBody>
      </p:sp>
      <p:sp>
        <p:nvSpPr>
          <p:cNvPr id="184" name="Google Shape;184;p7"/>
          <p:cNvSpPr/>
          <p:nvPr/>
        </p:nvSpPr>
        <p:spPr>
          <a:xfrm>
            <a:off x="1005840" y="182880"/>
            <a:ext cx="64008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Calibri"/>
              <a:buNone/>
            </a:pPr>
            <a:r>
              <a:rPr b="1" i="0" lang="en-US" sz="2800" u="none" cap="none" strike="noStrike">
                <a:solidFill>
                  <a:srgbClr val="FFFFFF"/>
                </a:solidFill>
                <a:latin typeface="Calibri"/>
                <a:ea typeface="Calibri"/>
                <a:cs typeface="Calibri"/>
                <a:sym typeface="Calibri"/>
              </a:rPr>
              <a:t>Implementation Details</a:t>
            </a:r>
            <a:endParaRPr b="0" i="0" sz="2800" u="none" cap="none" strike="noStrike">
              <a:solidFill>
                <a:schemeClr val="dk1"/>
              </a:solidFill>
              <a:latin typeface="Calibri"/>
              <a:ea typeface="Calibri"/>
              <a:cs typeface="Calibri"/>
              <a:sym typeface="Calibri"/>
            </a:endParaRPr>
          </a:p>
        </p:txBody>
      </p:sp>
      <p:sp>
        <p:nvSpPr>
          <p:cNvPr id="185" name="Google Shape;185;p7"/>
          <p:cNvSpPr/>
          <p:nvPr/>
        </p:nvSpPr>
        <p:spPr>
          <a:xfrm>
            <a:off x="320040" y="1097280"/>
            <a:ext cx="2743200" cy="457200"/>
          </a:xfrm>
          <a:prstGeom prst="rect">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7"/>
          <p:cNvSpPr/>
          <p:nvPr/>
        </p:nvSpPr>
        <p:spPr>
          <a:xfrm>
            <a:off x="411480" y="1115568"/>
            <a:ext cx="2560320"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Tech Stack</a:t>
            </a:r>
            <a:endParaRPr b="0" i="0" sz="1300" u="none" cap="none" strike="noStrike">
              <a:solidFill>
                <a:schemeClr val="dk1"/>
              </a:solidFill>
              <a:latin typeface="Calibri"/>
              <a:ea typeface="Calibri"/>
              <a:cs typeface="Calibri"/>
              <a:sym typeface="Calibri"/>
            </a:endParaRPr>
          </a:p>
        </p:txBody>
      </p:sp>
      <p:sp>
        <p:nvSpPr>
          <p:cNvPr id="187" name="Google Shape;187;p7"/>
          <p:cNvSpPr/>
          <p:nvPr/>
        </p:nvSpPr>
        <p:spPr>
          <a:xfrm>
            <a:off x="320040" y="1554480"/>
            <a:ext cx="2743200" cy="3383280"/>
          </a:xfrm>
          <a:prstGeom prst="rect">
            <a:avLst/>
          </a:prstGeom>
          <a:solidFill>
            <a:srgbClr val="F0F7F8"/>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7"/>
          <p:cNvSpPr/>
          <p:nvPr/>
        </p:nvSpPr>
        <p:spPr>
          <a:xfrm>
            <a:off x="457200" y="1618488"/>
            <a:ext cx="25603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00"/>
              <a:buFont typeface="Calibri"/>
              <a:buNone/>
            </a:pPr>
            <a:r>
              <a:rPr b="0" i="0" lang="en-US" sz="1000" u="none" cap="none" strike="noStrike">
                <a:solidFill>
                  <a:srgbClr val="1E293B"/>
                </a:solidFill>
                <a:latin typeface="Calibri"/>
                <a:ea typeface="Calibri"/>
                <a:cs typeface="Calibri"/>
                <a:sym typeface="Calibri"/>
              </a:rPr>
              <a:t>Python 3.8+  —  Core language</a:t>
            </a:r>
            <a:endParaRPr b="0" i="0" sz="1000" u="none" cap="none" strike="noStrike">
              <a:solidFill>
                <a:schemeClr val="dk1"/>
              </a:solidFill>
              <a:latin typeface="Calibri"/>
              <a:ea typeface="Calibri"/>
              <a:cs typeface="Calibri"/>
              <a:sym typeface="Calibri"/>
            </a:endParaRPr>
          </a:p>
        </p:txBody>
      </p:sp>
      <p:sp>
        <p:nvSpPr>
          <p:cNvPr id="189" name="Google Shape;189;p7"/>
          <p:cNvSpPr/>
          <p:nvPr/>
        </p:nvSpPr>
        <p:spPr>
          <a:xfrm>
            <a:off x="457200" y="2020824"/>
            <a:ext cx="25603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00"/>
              <a:buFont typeface="Calibri"/>
              <a:buNone/>
            </a:pPr>
            <a:r>
              <a:rPr b="0" i="0" lang="en-US" sz="1000" u="none" cap="none" strike="noStrike">
                <a:solidFill>
                  <a:srgbClr val="1E293B"/>
                </a:solidFill>
                <a:latin typeface="Calibri"/>
                <a:ea typeface="Calibri"/>
                <a:cs typeface="Calibri"/>
                <a:sym typeface="Calibri"/>
              </a:rPr>
              <a:t>Jupyter Notebook  —  Dev env</a:t>
            </a:r>
            <a:endParaRPr b="0" i="0" sz="1000" u="none" cap="none" strike="noStrike">
              <a:solidFill>
                <a:schemeClr val="dk1"/>
              </a:solidFill>
              <a:latin typeface="Calibri"/>
              <a:ea typeface="Calibri"/>
              <a:cs typeface="Calibri"/>
              <a:sym typeface="Calibri"/>
            </a:endParaRPr>
          </a:p>
        </p:txBody>
      </p:sp>
      <p:sp>
        <p:nvSpPr>
          <p:cNvPr id="190" name="Google Shape;190;p7"/>
          <p:cNvSpPr/>
          <p:nvPr/>
        </p:nvSpPr>
        <p:spPr>
          <a:xfrm>
            <a:off x="457200" y="2423160"/>
            <a:ext cx="25603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00"/>
              <a:buFont typeface="Calibri"/>
              <a:buNone/>
            </a:pPr>
            <a:r>
              <a:rPr b="0" i="0" lang="en-US" sz="1000" u="none" cap="none" strike="noStrike">
                <a:solidFill>
                  <a:srgbClr val="1E293B"/>
                </a:solidFill>
                <a:latin typeface="Calibri"/>
                <a:ea typeface="Calibri"/>
                <a:cs typeface="Calibri"/>
                <a:sym typeface="Calibri"/>
              </a:rPr>
              <a:t>Pandas  —  Data manipulation</a:t>
            </a:r>
            <a:endParaRPr b="0" i="0" sz="1000" u="none" cap="none" strike="noStrike">
              <a:solidFill>
                <a:schemeClr val="dk1"/>
              </a:solidFill>
              <a:latin typeface="Calibri"/>
              <a:ea typeface="Calibri"/>
              <a:cs typeface="Calibri"/>
              <a:sym typeface="Calibri"/>
            </a:endParaRPr>
          </a:p>
        </p:txBody>
      </p:sp>
      <p:sp>
        <p:nvSpPr>
          <p:cNvPr id="191" name="Google Shape;191;p7"/>
          <p:cNvSpPr/>
          <p:nvPr/>
        </p:nvSpPr>
        <p:spPr>
          <a:xfrm>
            <a:off x="457200" y="2825496"/>
            <a:ext cx="25603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00"/>
              <a:buFont typeface="Calibri"/>
              <a:buNone/>
            </a:pPr>
            <a:r>
              <a:rPr b="0" i="0" lang="en-US" sz="1000" u="none" cap="none" strike="noStrike">
                <a:solidFill>
                  <a:srgbClr val="1E293B"/>
                </a:solidFill>
                <a:latin typeface="Calibri"/>
                <a:ea typeface="Calibri"/>
                <a:cs typeface="Calibri"/>
                <a:sym typeface="Calibri"/>
              </a:rPr>
              <a:t>NumPy  —  Numerical computing</a:t>
            </a:r>
            <a:endParaRPr b="0" i="0" sz="1000" u="none" cap="none" strike="noStrike">
              <a:solidFill>
                <a:schemeClr val="dk1"/>
              </a:solidFill>
              <a:latin typeface="Calibri"/>
              <a:ea typeface="Calibri"/>
              <a:cs typeface="Calibri"/>
              <a:sym typeface="Calibri"/>
            </a:endParaRPr>
          </a:p>
        </p:txBody>
      </p:sp>
      <p:sp>
        <p:nvSpPr>
          <p:cNvPr id="192" name="Google Shape;192;p7"/>
          <p:cNvSpPr/>
          <p:nvPr/>
        </p:nvSpPr>
        <p:spPr>
          <a:xfrm>
            <a:off x="457200" y="3227832"/>
            <a:ext cx="25603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00"/>
              <a:buFont typeface="Calibri"/>
              <a:buNone/>
            </a:pPr>
            <a:r>
              <a:rPr b="0" i="0" lang="en-US" sz="1000" u="none" cap="none" strike="noStrike">
                <a:solidFill>
                  <a:srgbClr val="1E293B"/>
                </a:solidFill>
                <a:latin typeface="Calibri"/>
                <a:ea typeface="Calibri"/>
                <a:cs typeface="Calibri"/>
                <a:sym typeface="Calibri"/>
              </a:rPr>
              <a:t>Scikit-learn  —  ML models</a:t>
            </a:r>
            <a:endParaRPr b="0" i="0" sz="1000" u="none" cap="none" strike="noStrike">
              <a:solidFill>
                <a:schemeClr val="dk1"/>
              </a:solidFill>
              <a:latin typeface="Calibri"/>
              <a:ea typeface="Calibri"/>
              <a:cs typeface="Calibri"/>
              <a:sym typeface="Calibri"/>
            </a:endParaRPr>
          </a:p>
        </p:txBody>
      </p:sp>
      <p:sp>
        <p:nvSpPr>
          <p:cNvPr id="193" name="Google Shape;193;p7"/>
          <p:cNvSpPr/>
          <p:nvPr/>
        </p:nvSpPr>
        <p:spPr>
          <a:xfrm>
            <a:off x="457200" y="3630168"/>
            <a:ext cx="25603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00"/>
              <a:buFont typeface="Calibri"/>
              <a:buNone/>
            </a:pPr>
            <a:r>
              <a:rPr b="0" i="0" lang="en-US" sz="1000" u="none" cap="none" strike="noStrike">
                <a:solidFill>
                  <a:srgbClr val="1E293B"/>
                </a:solidFill>
                <a:latin typeface="Calibri"/>
                <a:ea typeface="Calibri"/>
                <a:cs typeface="Calibri"/>
                <a:sym typeface="Calibri"/>
              </a:rPr>
              <a:t>Fairlearn  —  Fairness metrics</a:t>
            </a:r>
            <a:endParaRPr b="0" i="0" sz="1000" u="none" cap="none" strike="noStrike">
              <a:solidFill>
                <a:schemeClr val="dk1"/>
              </a:solidFill>
              <a:latin typeface="Calibri"/>
              <a:ea typeface="Calibri"/>
              <a:cs typeface="Calibri"/>
              <a:sym typeface="Calibri"/>
            </a:endParaRPr>
          </a:p>
        </p:txBody>
      </p:sp>
      <p:sp>
        <p:nvSpPr>
          <p:cNvPr id="194" name="Google Shape;194;p7"/>
          <p:cNvSpPr/>
          <p:nvPr/>
        </p:nvSpPr>
        <p:spPr>
          <a:xfrm>
            <a:off x="457200" y="4032504"/>
            <a:ext cx="25603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00"/>
              <a:buFont typeface="Calibri"/>
              <a:buNone/>
            </a:pPr>
            <a:r>
              <a:rPr b="0" i="0" lang="en-US" sz="1000" u="none" cap="none" strike="noStrike">
                <a:solidFill>
                  <a:srgbClr val="1E293B"/>
                </a:solidFill>
                <a:latin typeface="Calibri"/>
                <a:ea typeface="Calibri"/>
                <a:cs typeface="Calibri"/>
                <a:sym typeface="Calibri"/>
              </a:rPr>
              <a:t>SHAP  —  Explainability</a:t>
            </a:r>
            <a:endParaRPr b="0" i="0" sz="1000" u="none" cap="none" strike="noStrike">
              <a:solidFill>
                <a:schemeClr val="dk1"/>
              </a:solidFill>
              <a:latin typeface="Calibri"/>
              <a:ea typeface="Calibri"/>
              <a:cs typeface="Calibri"/>
              <a:sym typeface="Calibri"/>
            </a:endParaRPr>
          </a:p>
        </p:txBody>
      </p:sp>
      <p:sp>
        <p:nvSpPr>
          <p:cNvPr id="195" name="Google Shape;195;p7"/>
          <p:cNvSpPr/>
          <p:nvPr/>
        </p:nvSpPr>
        <p:spPr>
          <a:xfrm>
            <a:off x="457200" y="4434840"/>
            <a:ext cx="25603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00"/>
              <a:buFont typeface="Calibri"/>
              <a:buNone/>
            </a:pPr>
            <a:r>
              <a:rPr b="0" i="0" lang="en-US" sz="1000" u="none" cap="none" strike="noStrike">
                <a:solidFill>
                  <a:srgbClr val="1E293B"/>
                </a:solidFill>
                <a:latin typeface="Calibri"/>
                <a:ea typeface="Calibri"/>
                <a:cs typeface="Calibri"/>
                <a:sym typeface="Calibri"/>
              </a:rPr>
              <a:t>Matplotlib / Seaborn  —  Viz</a:t>
            </a:r>
            <a:endParaRPr b="0" i="0" sz="1000" u="none" cap="none" strike="noStrike">
              <a:solidFill>
                <a:schemeClr val="dk1"/>
              </a:solidFill>
              <a:latin typeface="Calibri"/>
              <a:ea typeface="Calibri"/>
              <a:cs typeface="Calibri"/>
              <a:sym typeface="Calibri"/>
            </a:endParaRPr>
          </a:p>
        </p:txBody>
      </p:sp>
      <p:sp>
        <p:nvSpPr>
          <p:cNvPr id="196" name="Google Shape;196;p7"/>
          <p:cNvSpPr/>
          <p:nvPr/>
        </p:nvSpPr>
        <p:spPr>
          <a:xfrm>
            <a:off x="3246120" y="1097280"/>
            <a:ext cx="2743200" cy="457200"/>
          </a:xfrm>
          <a:prstGeom prst="rect">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7"/>
          <p:cNvSpPr/>
          <p:nvPr/>
        </p:nvSpPr>
        <p:spPr>
          <a:xfrm>
            <a:off x="3337560" y="1115568"/>
            <a:ext cx="2560320"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Fairness Metrics</a:t>
            </a:r>
            <a:endParaRPr b="0" i="0" sz="1300" u="none" cap="none" strike="noStrike">
              <a:solidFill>
                <a:schemeClr val="dk1"/>
              </a:solidFill>
              <a:latin typeface="Calibri"/>
              <a:ea typeface="Calibri"/>
              <a:cs typeface="Calibri"/>
              <a:sym typeface="Calibri"/>
            </a:endParaRPr>
          </a:p>
        </p:txBody>
      </p:sp>
      <p:sp>
        <p:nvSpPr>
          <p:cNvPr id="198" name="Google Shape;198;p7"/>
          <p:cNvSpPr/>
          <p:nvPr/>
        </p:nvSpPr>
        <p:spPr>
          <a:xfrm>
            <a:off x="3246120" y="1554480"/>
            <a:ext cx="2743200" cy="3383280"/>
          </a:xfrm>
          <a:prstGeom prst="rect">
            <a:avLst/>
          </a:prstGeom>
          <a:solidFill>
            <a:srgbClr val="F0F7F8"/>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7"/>
          <p:cNvSpPr/>
          <p:nvPr/>
        </p:nvSpPr>
        <p:spPr>
          <a:xfrm>
            <a:off x="3383280" y="1618488"/>
            <a:ext cx="25603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00"/>
              <a:buFont typeface="Calibri"/>
              <a:buNone/>
            </a:pPr>
            <a:r>
              <a:rPr b="0" i="0" lang="en-US" sz="1000" u="none" cap="none" strike="noStrike">
                <a:solidFill>
                  <a:srgbClr val="1E293B"/>
                </a:solidFill>
                <a:latin typeface="Calibri"/>
                <a:ea typeface="Calibri"/>
                <a:cs typeface="Calibri"/>
                <a:sym typeface="Calibri"/>
              </a:rPr>
              <a:t>Demographic Parity Diff  →  target: 0</a:t>
            </a:r>
            <a:endParaRPr b="0" i="0" sz="1000" u="none" cap="none" strike="noStrike">
              <a:solidFill>
                <a:schemeClr val="dk1"/>
              </a:solidFill>
              <a:latin typeface="Calibri"/>
              <a:ea typeface="Calibri"/>
              <a:cs typeface="Calibri"/>
              <a:sym typeface="Calibri"/>
            </a:endParaRPr>
          </a:p>
        </p:txBody>
      </p:sp>
      <p:sp>
        <p:nvSpPr>
          <p:cNvPr id="200" name="Google Shape;200;p7"/>
          <p:cNvSpPr/>
          <p:nvPr/>
        </p:nvSpPr>
        <p:spPr>
          <a:xfrm>
            <a:off x="3383280" y="2020824"/>
            <a:ext cx="25603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00"/>
              <a:buFont typeface="Calibri"/>
              <a:buNone/>
            </a:pPr>
            <a:r>
              <a:rPr b="0" i="0" lang="en-US" sz="1000" u="none" cap="none" strike="noStrike">
                <a:solidFill>
                  <a:srgbClr val="1E293B"/>
                </a:solidFill>
                <a:latin typeface="Calibri"/>
                <a:ea typeface="Calibri"/>
                <a:cs typeface="Calibri"/>
                <a:sym typeface="Calibri"/>
              </a:rPr>
              <a:t>Demographic Parity Ratio  →  target: 1</a:t>
            </a:r>
            <a:endParaRPr b="0" i="0" sz="1000" u="none" cap="none" strike="noStrike">
              <a:solidFill>
                <a:schemeClr val="dk1"/>
              </a:solidFill>
              <a:latin typeface="Calibri"/>
              <a:ea typeface="Calibri"/>
              <a:cs typeface="Calibri"/>
              <a:sym typeface="Calibri"/>
            </a:endParaRPr>
          </a:p>
        </p:txBody>
      </p:sp>
      <p:sp>
        <p:nvSpPr>
          <p:cNvPr id="201" name="Google Shape;201;p7"/>
          <p:cNvSpPr/>
          <p:nvPr/>
        </p:nvSpPr>
        <p:spPr>
          <a:xfrm>
            <a:off x="3383280" y="2423160"/>
            <a:ext cx="25603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00"/>
              <a:buFont typeface="Calibri"/>
              <a:buNone/>
            </a:pPr>
            <a:r>
              <a:rPr b="0" i="0" lang="en-US" sz="1000" u="none" cap="none" strike="noStrike">
                <a:solidFill>
                  <a:srgbClr val="1E293B"/>
                </a:solidFill>
                <a:latin typeface="Calibri"/>
                <a:ea typeface="Calibri"/>
                <a:cs typeface="Calibri"/>
                <a:sym typeface="Calibri"/>
              </a:rPr>
              <a:t>Equalized Odds Diff  →  target: 0</a:t>
            </a:r>
            <a:endParaRPr b="0" i="0" sz="1000" u="none" cap="none" strike="noStrike">
              <a:solidFill>
                <a:schemeClr val="dk1"/>
              </a:solidFill>
              <a:latin typeface="Calibri"/>
              <a:ea typeface="Calibri"/>
              <a:cs typeface="Calibri"/>
              <a:sym typeface="Calibri"/>
            </a:endParaRPr>
          </a:p>
        </p:txBody>
      </p:sp>
      <p:sp>
        <p:nvSpPr>
          <p:cNvPr id="202" name="Google Shape;202;p7"/>
          <p:cNvSpPr/>
          <p:nvPr/>
        </p:nvSpPr>
        <p:spPr>
          <a:xfrm>
            <a:off x="3383280" y="2825496"/>
            <a:ext cx="25603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00"/>
              <a:buFont typeface="Calibri"/>
              <a:buNone/>
            </a:pPr>
            <a:r>
              <a:rPr b="0" i="0" lang="en-US" sz="1000" u="none" cap="none" strike="noStrike">
                <a:solidFill>
                  <a:srgbClr val="1E293B"/>
                </a:solidFill>
                <a:latin typeface="Calibri"/>
                <a:ea typeface="Calibri"/>
                <a:cs typeface="Calibri"/>
                <a:sym typeface="Calibri"/>
              </a:rPr>
              <a:t>4/5 Rule (80% Rule)  —  legal standard</a:t>
            </a:r>
            <a:endParaRPr b="0" i="0" sz="1000" u="none" cap="none" strike="noStrike">
              <a:solidFill>
                <a:schemeClr val="dk1"/>
              </a:solidFill>
              <a:latin typeface="Calibri"/>
              <a:ea typeface="Calibri"/>
              <a:cs typeface="Calibri"/>
              <a:sym typeface="Calibri"/>
            </a:endParaRPr>
          </a:p>
        </p:txBody>
      </p:sp>
      <p:sp>
        <p:nvSpPr>
          <p:cNvPr id="203" name="Google Shape;203;p7"/>
          <p:cNvSpPr/>
          <p:nvPr/>
        </p:nvSpPr>
        <p:spPr>
          <a:xfrm>
            <a:off x="3383280" y="3227832"/>
            <a:ext cx="25603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00"/>
              <a:buFont typeface="Calibri"/>
              <a:buNone/>
            </a:pPr>
            <a:r>
              <a:rPr b="0" i="0" lang="en-US" sz="1000" u="none" cap="none" strike="noStrike">
                <a:solidFill>
                  <a:srgbClr val="1E293B"/>
                </a:solidFill>
                <a:latin typeface="Calibri"/>
                <a:ea typeface="Calibri"/>
                <a:cs typeface="Calibri"/>
                <a:sym typeface="Calibri"/>
              </a:rPr>
              <a:t>Group Accuracy per gender</a:t>
            </a:r>
            <a:endParaRPr b="0" i="0" sz="1000" u="none" cap="none" strike="noStrike">
              <a:solidFill>
                <a:schemeClr val="dk1"/>
              </a:solidFill>
              <a:latin typeface="Calibri"/>
              <a:ea typeface="Calibri"/>
              <a:cs typeface="Calibri"/>
              <a:sym typeface="Calibri"/>
            </a:endParaRPr>
          </a:p>
        </p:txBody>
      </p:sp>
      <p:sp>
        <p:nvSpPr>
          <p:cNvPr id="204" name="Google Shape;204;p7"/>
          <p:cNvSpPr/>
          <p:nvPr/>
        </p:nvSpPr>
        <p:spPr>
          <a:xfrm>
            <a:off x="3383280" y="3630168"/>
            <a:ext cx="25603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00"/>
              <a:buFont typeface="Calibri"/>
              <a:buNone/>
            </a:pPr>
            <a:r>
              <a:rPr b="0" i="0" lang="en-US" sz="1000" u="none" cap="none" strike="noStrike">
                <a:solidFill>
                  <a:srgbClr val="1E293B"/>
                </a:solidFill>
                <a:latin typeface="Calibri"/>
                <a:ea typeface="Calibri"/>
                <a:cs typeface="Calibri"/>
                <a:sym typeface="Calibri"/>
              </a:rPr>
              <a:t>Group Recall (TPR) per gender</a:t>
            </a:r>
            <a:endParaRPr b="0" i="0" sz="1000" u="none" cap="none" strike="noStrike">
              <a:solidFill>
                <a:schemeClr val="dk1"/>
              </a:solidFill>
              <a:latin typeface="Calibri"/>
              <a:ea typeface="Calibri"/>
              <a:cs typeface="Calibri"/>
              <a:sym typeface="Calibri"/>
            </a:endParaRPr>
          </a:p>
        </p:txBody>
      </p:sp>
      <p:sp>
        <p:nvSpPr>
          <p:cNvPr id="205" name="Google Shape;205;p7"/>
          <p:cNvSpPr/>
          <p:nvPr/>
        </p:nvSpPr>
        <p:spPr>
          <a:xfrm>
            <a:off x="3383280" y="4032504"/>
            <a:ext cx="25603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00"/>
              <a:buFont typeface="Calibri"/>
              <a:buNone/>
            </a:pPr>
            <a:r>
              <a:rPr b="0" i="0" lang="en-US" sz="1000" u="none" cap="none" strike="noStrike">
                <a:solidFill>
                  <a:srgbClr val="1E293B"/>
                </a:solidFill>
                <a:latin typeface="Calibri"/>
                <a:ea typeface="Calibri"/>
                <a:cs typeface="Calibri"/>
                <a:sym typeface="Calibri"/>
              </a:rPr>
              <a:t>Group FPR per gender</a:t>
            </a:r>
            <a:endParaRPr b="0" i="0" sz="1000" u="none" cap="none" strike="noStrike">
              <a:solidFill>
                <a:schemeClr val="dk1"/>
              </a:solidFill>
              <a:latin typeface="Calibri"/>
              <a:ea typeface="Calibri"/>
              <a:cs typeface="Calibri"/>
              <a:sym typeface="Calibri"/>
            </a:endParaRPr>
          </a:p>
        </p:txBody>
      </p:sp>
      <p:sp>
        <p:nvSpPr>
          <p:cNvPr id="206" name="Google Shape;206;p7"/>
          <p:cNvSpPr/>
          <p:nvPr/>
        </p:nvSpPr>
        <p:spPr>
          <a:xfrm>
            <a:off x="3383280" y="4434840"/>
            <a:ext cx="25603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00"/>
              <a:buFont typeface="Calibri"/>
              <a:buNone/>
            </a:pPr>
            <a:r>
              <a:rPr b="0" i="0" lang="en-US" sz="1000" u="none" cap="none" strike="noStrike">
                <a:solidFill>
                  <a:srgbClr val="1E293B"/>
                </a:solidFill>
                <a:latin typeface="Calibri"/>
                <a:ea typeface="Calibri"/>
                <a:cs typeface="Calibri"/>
                <a:sym typeface="Calibri"/>
              </a:rPr>
              <a:t>Fairlearn MetricFrame summary</a:t>
            </a:r>
            <a:endParaRPr b="0" i="0" sz="1000" u="none" cap="none" strike="noStrike">
              <a:solidFill>
                <a:schemeClr val="dk1"/>
              </a:solidFill>
              <a:latin typeface="Calibri"/>
              <a:ea typeface="Calibri"/>
              <a:cs typeface="Calibri"/>
              <a:sym typeface="Calibri"/>
            </a:endParaRPr>
          </a:p>
        </p:txBody>
      </p:sp>
      <p:sp>
        <p:nvSpPr>
          <p:cNvPr id="207" name="Google Shape;207;p7"/>
          <p:cNvSpPr/>
          <p:nvPr/>
        </p:nvSpPr>
        <p:spPr>
          <a:xfrm>
            <a:off x="6172200" y="1097280"/>
            <a:ext cx="2743200" cy="457200"/>
          </a:xfrm>
          <a:prstGeom prst="rect">
            <a:avLst/>
          </a:prstGeom>
          <a:solidFill>
            <a:srgbClr val="02A07A"/>
          </a:solidFill>
          <a:ln cap="flat" cmpd="sng" w="12700">
            <a:solidFill>
              <a:srgbClr val="02A0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7"/>
          <p:cNvSpPr/>
          <p:nvPr/>
        </p:nvSpPr>
        <p:spPr>
          <a:xfrm>
            <a:off x="6263640" y="1115568"/>
            <a:ext cx="2560320"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Mitigation Techniques</a:t>
            </a:r>
            <a:endParaRPr b="0" i="0" sz="1300" u="none" cap="none" strike="noStrike">
              <a:solidFill>
                <a:schemeClr val="dk1"/>
              </a:solidFill>
              <a:latin typeface="Calibri"/>
              <a:ea typeface="Calibri"/>
              <a:cs typeface="Calibri"/>
              <a:sym typeface="Calibri"/>
            </a:endParaRPr>
          </a:p>
        </p:txBody>
      </p:sp>
      <p:sp>
        <p:nvSpPr>
          <p:cNvPr id="209" name="Google Shape;209;p7"/>
          <p:cNvSpPr/>
          <p:nvPr/>
        </p:nvSpPr>
        <p:spPr>
          <a:xfrm>
            <a:off x="6172200" y="1554480"/>
            <a:ext cx="2743200" cy="3383280"/>
          </a:xfrm>
          <a:prstGeom prst="rect">
            <a:avLst/>
          </a:prstGeom>
          <a:solidFill>
            <a:srgbClr val="F0F7F8"/>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7"/>
          <p:cNvSpPr/>
          <p:nvPr/>
        </p:nvSpPr>
        <p:spPr>
          <a:xfrm>
            <a:off x="6309360" y="1618488"/>
            <a:ext cx="25603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A07A"/>
              </a:buClr>
              <a:buSzPts val="1000"/>
              <a:buFont typeface="Calibri"/>
              <a:buNone/>
            </a:pPr>
            <a:r>
              <a:rPr b="1" i="0" lang="en-US" sz="1000" u="none" cap="none" strike="noStrike">
                <a:solidFill>
                  <a:srgbClr val="02A07A"/>
                </a:solidFill>
                <a:latin typeface="Calibri"/>
                <a:ea typeface="Calibri"/>
                <a:cs typeface="Calibri"/>
                <a:sym typeface="Calibri"/>
              </a:rPr>
              <a:t>Method 1: Sample Reweighting</a:t>
            </a:r>
            <a:endParaRPr b="0" i="0" sz="1000" u="none" cap="none" strike="noStrike">
              <a:solidFill>
                <a:schemeClr val="dk1"/>
              </a:solidFill>
              <a:latin typeface="Calibri"/>
              <a:ea typeface="Calibri"/>
              <a:cs typeface="Calibri"/>
              <a:sym typeface="Calibri"/>
            </a:endParaRPr>
          </a:p>
        </p:txBody>
      </p:sp>
      <p:sp>
        <p:nvSpPr>
          <p:cNvPr id="211" name="Google Shape;211;p7"/>
          <p:cNvSpPr/>
          <p:nvPr/>
        </p:nvSpPr>
        <p:spPr>
          <a:xfrm>
            <a:off x="6492240" y="2020824"/>
            <a:ext cx="23774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 Pre-processing technique</a:t>
            </a:r>
            <a:endParaRPr b="0" i="0" sz="900" u="none" cap="none" strike="noStrike">
              <a:solidFill>
                <a:schemeClr val="dk1"/>
              </a:solidFill>
              <a:latin typeface="Calibri"/>
              <a:ea typeface="Calibri"/>
              <a:cs typeface="Calibri"/>
              <a:sym typeface="Calibri"/>
            </a:endParaRPr>
          </a:p>
        </p:txBody>
      </p:sp>
      <p:sp>
        <p:nvSpPr>
          <p:cNvPr id="212" name="Google Shape;212;p7"/>
          <p:cNvSpPr/>
          <p:nvPr/>
        </p:nvSpPr>
        <p:spPr>
          <a:xfrm>
            <a:off x="6492240" y="2423160"/>
            <a:ext cx="23774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 Expected size = n / (groups × labels)</a:t>
            </a:r>
            <a:endParaRPr b="0" i="0" sz="900" u="none" cap="none" strike="noStrike">
              <a:solidFill>
                <a:schemeClr val="dk1"/>
              </a:solidFill>
              <a:latin typeface="Calibri"/>
              <a:ea typeface="Calibri"/>
              <a:cs typeface="Calibri"/>
              <a:sym typeface="Calibri"/>
            </a:endParaRPr>
          </a:p>
        </p:txBody>
      </p:sp>
      <p:sp>
        <p:nvSpPr>
          <p:cNvPr id="213" name="Google Shape;213;p7"/>
          <p:cNvSpPr/>
          <p:nvPr/>
        </p:nvSpPr>
        <p:spPr>
          <a:xfrm>
            <a:off x="6492240" y="2825496"/>
            <a:ext cx="23774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 Weight = expected / actual size</a:t>
            </a:r>
            <a:endParaRPr b="0" i="0" sz="900" u="none" cap="none" strike="noStrike">
              <a:solidFill>
                <a:schemeClr val="dk1"/>
              </a:solidFill>
              <a:latin typeface="Calibri"/>
              <a:ea typeface="Calibri"/>
              <a:cs typeface="Calibri"/>
              <a:sym typeface="Calibri"/>
            </a:endParaRPr>
          </a:p>
        </p:txBody>
      </p:sp>
      <p:sp>
        <p:nvSpPr>
          <p:cNvPr id="214" name="Google Shape;214;p7"/>
          <p:cNvSpPr/>
          <p:nvPr/>
        </p:nvSpPr>
        <p:spPr>
          <a:xfrm>
            <a:off x="6309360" y="3227832"/>
            <a:ext cx="25603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A07A"/>
              </a:buClr>
              <a:buSzPts val="1000"/>
              <a:buFont typeface="Calibri"/>
              <a:buNone/>
            </a:pPr>
            <a:r>
              <a:rPr b="1" i="0" lang="en-US" sz="1000" u="none" cap="none" strike="noStrike">
                <a:solidFill>
                  <a:srgbClr val="02A07A"/>
                </a:solidFill>
                <a:latin typeface="Calibri"/>
                <a:ea typeface="Calibri"/>
                <a:cs typeface="Calibri"/>
                <a:sym typeface="Calibri"/>
              </a:rPr>
              <a:t>Method 2: ExponentiatedGradient</a:t>
            </a:r>
            <a:endParaRPr b="0" i="0" sz="1000" u="none" cap="none" strike="noStrike">
              <a:solidFill>
                <a:schemeClr val="dk1"/>
              </a:solidFill>
              <a:latin typeface="Calibri"/>
              <a:ea typeface="Calibri"/>
              <a:cs typeface="Calibri"/>
              <a:sym typeface="Calibri"/>
            </a:endParaRPr>
          </a:p>
        </p:txBody>
      </p:sp>
      <p:sp>
        <p:nvSpPr>
          <p:cNvPr id="215" name="Google Shape;215;p7"/>
          <p:cNvSpPr/>
          <p:nvPr/>
        </p:nvSpPr>
        <p:spPr>
          <a:xfrm>
            <a:off x="6492240" y="3630168"/>
            <a:ext cx="23774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 In-processing technique</a:t>
            </a:r>
            <a:endParaRPr b="0" i="0" sz="900" u="none" cap="none" strike="noStrike">
              <a:solidFill>
                <a:schemeClr val="dk1"/>
              </a:solidFill>
              <a:latin typeface="Calibri"/>
              <a:ea typeface="Calibri"/>
              <a:cs typeface="Calibri"/>
              <a:sym typeface="Calibri"/>
            </a:endParaRPr>
          </a:p>
        </p:txBody>
      </p:sp>
      <p:sp>
        <p:nvSpPr>
          <p:cNvPr id="216" name="Google Shape;216;p7"/>
          <p:cNvSpPr/>
          <p:nvPr/>
        </p:nvSpPr>
        <p:spPr>
          <a:xfrm>
            <a:off x="6492240" y="4032504"/>
            <a:ext cx="23774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 DemographicParity constraint</a:t>
            </a:r>
            <a:endParaRPr b="0" i="0" sz="900" u="none" cap="none" strike="noStrike">
              <a:solidFill>
                <a:schemeClr val="dk1"/>
              </a:solidFill>
              <a:latin typeface="Calibri"/>
              <a:ea typeface="Calibri"/>
              <a:cs typeface="Calibri"/>
              <a:sym typeface="Calibri"/>
            </a:endParaRPr>
          </a:p>
        </p:txBody>
      </p:sp>
      <p:sp>
        <p:nvSpPr>
          <p:cNvPr id="217" name="Google Shape;217;p7"/>
          <p:cNvSpPr/>
          <p:nvPr/>
        </p:nvSpPr>
        <p:spPr>
          <a:xfrm>
            <a:off x="6492240" y="4434840"/>
            <a:ext cx="23774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 eps = 0.01 (strict fairness)</a:t>
            </a:r>
            <a:endParaRPr b="0" i="0" sz="900" u="none" cap="none" strike="noStrike">
              <a:solidFill>
                <a:schemeClr val="dk1"/>
              </a:solidFill>
              <a:latin typeface="Calibri"/>
              <a:ea typeface="Calibri"/>
              <a:cs typeface="Calibri"/>
              <a:sym typeface="Calibri"/>
            </a:endParaRPr>
          </a:p>
        </p:txBody>
      </p:sp>
      <p:sp>
        <p:nvSpPr>
          <p:cNvPr id="218" name="Google Shape;218;p7"/>
          <p:cNvSpPr/>
          <p:nvPr/>
        </p:nvSpPr>
        <p:spPr>
          <a:xfrm>
            <a:off x="320040" y="4709160"/>
            <a:ext cx="8503920" cy="320040"/>
          </a:xfrm>
          <a:prstGeom prst="rect">
            <a:avLst/>
          </a:prstGeom>
          <a:solidFill>
            <a:srgbClr val="0A2342"/>
          </a:solidFill>
          <a:ln cap="flat" cmpd="sng" w="12700">
            <a:solidFill>
              <a:srgbClr val="0A23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7"/>
          <p:cNvSpPr/>
          <p:nvPr/>
        </p:nvSpPr>
        <p:spPr>
          <a:xfrm>
            <a:off x="411480" y="4727448"/>
            <a:ext cx="83210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0C0CC"/>
              </a:buClr>
              <a:buSzPts val="950"/>
              <a:buFont typeface="Calibri"/>
              <a:buNone/>
            </a:pPr>
            <a:r>
              <a:rPr b="0" i="0" lang="en-US" sz="950" u="none" cap="none" strike="noStrike">
                <a:solidFill>
                  <a:srgbClr val="A0C0CC"/>
                </a:solidFill>
                <a:latin typeface="Calibri"/>
                <a:ea typeface="Calibri"/>
                <a:cs typeface="Calibri"/>
                <a:sym typeface="Calibri"/>
              </a:rPr>
              <a:t>SHAP LinearExplainer used for model interpretability  ·  200 test samples subsampled for SHAP computation speed  ·  Random State = 42</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4" name="Shape 224"/>
        <p:cNvGrpSpPr/>
        <p:nvPr/>
      </p:nvGrpSpPr>
      <p:grpSpPr>
        <a:xfrm>
          <a:off x="0" y="0"/>
          <a:ext cx="0" cy="0"/>
          <a:chOff x="0" y="0"/>
          <a:chExt cx="0" cy="0"/>
        </a:xfrm>
      </p:grpSpPr>
      <p:sp>
        <p:nvSpPr>
          <p:cNvPr id="225" name="Google Shape;225;p8"/>
          <p:cNvSpPr/>
          <p:nvPr/>
        </p:nvSpPr>
        <p:spPr>
          <a:xfrm>
            <a:off x="0" y="0"/>
            <a:ext cx="9144000" cy="1005840"/>
          </a:xfrm>
          <a:prstGeom prst="rect">
            <a:avLst/>
          </a:prstGeom>
          <a:solidFill>
            <a:srgbClr val="0A2342"/>
          </a:solidFill>
          <a:ln cap="flat" cmpd="sng" w="12700">
            <a:solidFill>
              <a:srgbClr val="0A23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8"/>
          <p:cNvSpPr/>
          <p:nvPr/>
        </p:nvSpPr>
        <p:spPr>
          <a:xfrm>
            <a:off x="320040" y="137160"/>
            <a:ext cx="64008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C39A"/>
              </a:buClr>
              <a:buSzPts val="2800"/>
              <a:buFont typeface="Calibri"/>
              <a:buNone/>
            </a:pPr>
            <a:r>
              <a:rPr b="1" i="0" lang="en-US" sz="2800" u="none" cap="none" strike="noStrike">
                <a:solidFill>
                  <a:srgbClr val="02C39A"/>
                </a:solidFill>
                <a:latin typeface="Calibri"/>
                <a:ea typeface="Calibri"/>
                <a:cs typeface="Calibri"/>
                <a:sym typeface="Calibri"/>
              </a:rPr>
              <a:t>06</a:t>
            </a:r>
            <a:endParaRPr b="0" i="0" sz="2800" u="none" cap="none" strike="noStrike">
              <a:solidFill>
                <a:schemeClr val="dk1"/>
              </a:solidFill>
              <a:latin typeface="Calibri"/>
              <a:ea typeface="Calibri"/>
              <a:cs typeface="Calibri"/>
              <a:sym typeface="Calibri"/>
            </a:endParaRPr>
          </a:p>
        </p:txBody>
      </p:sp>
      <p:sp>
        <p:nvSpPr>
          <p:cNvPr id="227" name="Google Shape;227;p8"/>
          <p:cNvSpPr/>
          <p:nvPr/>
        </p:nvSpPr>
        <p:spPr>
          <a:xfrm>
            <a:off x="1005840" y="182880"/>
            <a:ext cx="64008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Calibri"/>
              <a:buNone/>
            </a:pPr>
            <a:r>
              <a:rPr b="1" i="0" lang="en-US" sz="2800" u="none" cap="none" strike="noStrike">
                <a:solidFill>
                  <a:srgbClr val="FFFFFF"/>
                </a:solidFill>
                <a:latin typeface="Calibri"/>
                <a:ea typeface="Calibri"/>
                <a:cs typeface="Calibri"/>
                <a:sym typeface="Calibri"/>
              </a:rPr>
              <a:t>Results — Bias Detection</a:t>
            </a:r>
            <a:endParaRPr b="0" i="0" sz="2800" u="none" cap="none" strike="noStrike">
              <a:solidFill>
                <a:schemeClr val="dk1"/>
              </a:solidFill>
              <a:latin typeface="Calibri"/>
              <a:ea typeface="Calibri"/>
              <a:cs typeface="Calibri"/>
              <a:sym typeface="Calibri"/>
            </a:endParaRPr>
          </a:p>
        </p:txBody>
      </p:sp>
      <p:sp>
        <p:nvSpPr>
          <p:cNvPr id="228" name="Google Shape;228;p8"/>
          <p:cNvSpPr/>
          <p:nvPr/>
        </p:nvSpPr>
        <p:spPr>
          <a:xfrm>
            <a:off x="320040" y="1097280"/>
            <a:ext cx="1965960" cy="1371600"/>
          </a:xfrm>
          <a:prstGeom prst="rect">
            <a:avLst/>
          </a:prstGeom>
          <a:solidFill>
            <a:srgbClr val="F0F7F8"/>
          </a:solidFill>
          <a:ln cap="flat" cmpd="sng" w="9525">
            <a:solidFill>
              <a:srgbClr val="E2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8"/>
          <p:cNvSpPr/>
          <p:nvPr/>
        </p:nvSpPr>
        <p:spPr>
          <a:xfrm>
            <a:off x="320040" y="1097280"/>
            <a:ext cx="1965960" cy="109728"/>
          </a:xfrm>
          <a:prstGeom prst="rect">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8"/>
          <p:cNvSpPr/>
          <p:nvPr/>
        </p:nvSpPr>
        <p:spPr>
          <a:xfrm>
            <a:off x="411480" y="1234440"/>
            <a:ext cx="1783080"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28090"/>
              </a:buClr>
              <a:buSzPts val="3400"/>
              <a:buFont typeface="Calibri"/>
              <a:buNone/>
            </a:pPr>
            <a:r>
              <a:rPr b="1" i="0" lang="en-US" sz="3400" u="none" cap="none" strike="noStrike">
                <a:solidFill>
                  <a:srgbClr val="028090"/>
                </a:solidFill>
                <a:latin typeface="Calibri"/>
                <a:ea typeface="Calibri"/>
                <a:cs typeface="Calibri"/>
                <a:sym typeface="Calibri"/>
              </a:rPr>
              <a:t>71%</a:t>
            </a:r>
            <a:endParaRPr b="0" i="0" sz="3400" u="none" cap="none" strike="noStrike">
              <a:solidFill>
                <a:schemeClr val="dk1"/>
              </a:solidFill>
              <a:latin typeface="Calibri"/>
              <a:ea typeface="Calibri"/>
              <a:cs typeface="Calibri"/>
              <a:sym typeface="Calibri"/>
            </a:endParaRPr>
          </a:p>
        </p:txBody>
      </p:sp>
      <p:sp>
        <p:nvSpPr>
          <p:cNvPr id="231" name="Google Shape;231;p8"/>
          <p:cNvSpPr/>
          <p:nvPr/>
        </p:nvSpPr>
        <p:spPr>
          <a:xfrm>
            <a:off x="411480" y="1810512"/>
            <a:ext cx="178308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2342"/>
              </a:buClr>
              <a:buSzPts val="1000"/>
              <a:buFont typeface="Calibri"/>
              <a:buNone/>
            </a:pPr>
            <a:r>
              <a:rPr b="1" i="0" lang="en-US" sz="1000" u="none" cap="none" strike="noStrike">
                <a:solidFill>
                  <a:srgbClr val="0A2342"/>
                </a:solidFill>
                <a:latin typeface="Calibri"/>
                <a:ea typeface="Calibri"/>
                <a:cs typeface="Calibri"/>
                <a:sym typeface="Calibri"/>
              </a:rPr>
              <a:t>Baseline Accuracy</a:t>
            </a:r>
            <a:endParaRPr b="0" i="0" sz="1000" u="none" cap="none" strike="noStrike">
              <a:solidFill>
                <a:schemeClr val="dk1"/>
              </a:solidFill>
              <a:latin typeface="Calibri"/>
              <a:ea typeface="Calibri"/>
              <a:cs typeface="Calibri"/>
              <a:sym typeface="Calibri"/>
            </a:endParaRPr>
          </a:p>
        </p:txBody>
      </p:sp>
      <p:sp>
        <p:nvSpPr>
          <p:cNvPr id="232" name="Google Shape;232;p8"/>
          <p:cNvSpPr/>
          <p:nvPr/>
        </p:nvSpPr>
        <p:spPr>
          <a:xfrm>
            <a:off x="411480" y="2075688"/>
            <a:ext cx="1783080" cy="3017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850"/>
              <a:buFont typeface="Calibri"/>
              <a:buNone/>
            </a:pPr>
            <a:r>
              <a:rPr b="0" i="0" lang="en-US" sz="850" u="none" cap="none" strike="noStrike">
                <a:solidFill>
                  <a:srgbClr val="64748B"/>
                </a:solidFill>
                <a:latin typeface="Calibri"/>
                <a:ea typeface="Calibri"/>
                <a:cs typeface="Calibri"/>
                <a:sym typeface="Calibri"/>
              </a:rPr>
              <a:t>Overall model performance</a:t>
            </a:r>
            <a:endParaRPr b="0" i="0" sz="850" u="none" cap="none" strike="noStrike">
              <a:solidFill>
                <a:schemeClr val="dk1"/>
              </a:solidFill>
              <a:latin typeface="Calibri"/>
              <a:ea typeface="Calibri"/>
              <a:cs typeface="Calibri"/>
              <a:sym typeface="Calibri"/>
            </a:endParaRPr>
          </a:p>
        </p:txBody>
      </p:sp>
      <p:sp>
        <p:nvSpPr>
          <p:cNvPr id="233" name="Google Shape;233;p8"/>
          <p:cNvSpPr/>
          <p:nvPr/>
        </p:nvSpPr>
        <p:spPr>
          <a:xfrm>
            <a:off x="2468880" y="1097280"/>
            <a:ext cx="1965960" cy="1371600"/>
          </a:xfrm>
          <a:prstGeom prst="rect">
            <a:avLst/>
          </a:prstGeom>
          <a:solidFill>
            <a:srgbClr val="F0F7F8"/>
          </a:solidFill>
          <a:ln cap="flat" cmpd="sng" w="9525">
            <a:solidFill>
              <a:srgbClr val="E2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8"/>
          <p:cNvSpPr/>
          <p:nvPr/>
        </p:nvSpPr>
        <p:spPr>
          <a:xfrm>
            <a:off x="2468880" y="1097280"/>
            <a:ext cx="1965960" cy="109728"/>
          </a:xfrm>
          <a:prstGeom prst="rect">
            <a:avLst/>
          </a:prstGeom>
          <a:solidFill>
            <a:srgbClr val="EF4444"/>
          </a:solidFill>
          <a:ln cap="flat" cmpd="sng" w="12700">
            <a:solidFill>
              <a:srgbClr val="EF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8"/>
          <p:cNvSpPr/>
          <p:nvPr/>
        </p:nvSpPr>
        <p:spPr>
          <a:xfrm>
            <a:off x="2560320" y="1234440"/>
            <a:ext cx="1783080"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F4444"/>
              </a:buClr>
              <a:buSzPts val="3400"/>
              <a:buFont typeface="Calibri"/>
              <a:buNone/>
            </a:pPr>
            <a:r>
              <a:rPr b="1" i="0" lang="en-US" sz="3400" u="none" cap="none" strike="noStrike">
                <a:solidFill>
                  <a:srgbClr val="EF4444"/>
                </a:solidFill>
                <a:latin typeface="Calibri"/>
                <a:ea typeface="Calibri"/>
                <a:cs typeface="Calibri"/>
                <a:sym typeface="Calibri"/>
              </a:rPr>
              <a:t>0.23</a:t>
            </a:r>
            <a:endParaRPr b="0" i="0" sz="3400" u="none" cap="none" strike="noStrike">
              <a:solidFill>
                <a:schemeClr val="dk1"/>
              </a:solidFill>
              <a:latin typeface="Calibri"/>
              <a:ea typeface="Calibri"/>
              <a:cs typeface="Calibri"/>
              <a:sym typeface="Calibri"/>
            </a:endParaRPr>
          </a:p>
        </p:txBody>
      </p:sp>
      <p:sp>
        <p:nvSpPr>
          <p:cNvPr id="236" name="Google Shape;236;p8"/>
          <p:cNvSpPr/>
          <p:nvPr/>
        </p:nvSpPr>
        <p:spPr>
          <a:xfrm>
            <a:off x="2560320" y="1810512"/>
            <a:ext cx="178308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2342"/>
              </a:buClr>
              <a:buSzPts val="1000"/>
              <a:buFont typeface="Calibri"/>
              <a:buNone/>
            </a:pPr>
            <a:r>
              <a:rPr b="1" i="0" lang="en-US" sz="1000" u="none" cap="none" strike="noStrike">
                <a:solidFill>
                  <a:srgbClr val="0A2342"/>
                </a:solidFill>
                <a:latin typeface="Calibri"/>
                <a:ea typeface="Calibri"/>
                <a:cs typeface="Calibri"/>
                <a:sym typeface="Calibri"/>
              </a:rPr>
              <a:t>DP Difference</a:t>
            </a:r>
            <a:endParaRPr b="0" i="0" sz="1000" u="none" cap="none" strike="noStrike">
              <a:solidFill>
                <a:schemeClr val="dk1"/>
              </a:solidFill>
              <a:latin typeface="Calibri"/>
              <a:ea typeface="Calibri"/>
              <a:cs typeface="Calibri"/>
              <a:sym typeface="Calibri"/>
            </a:endParaRPr>
          </a:p>
        </p:txBody>
      </p:sp>
      <p:sp>
        <p:nvSpPr>
          <p:cNvPr id="237" name="Google Shape;237;p8"/>
          <p:cNvSpPr/>
          <p:nvPr/>
        </p:nvSpPr>
        <p:spPr>
          <a:xfrm>
            <a:off x="2560320" y="2075688"/>
            <a:ext cx="1783080" cy="3017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850"/>
              <a:buFont typeface="Calibri"/>
              <a:buNone/>
            </a:pPr>
            <a:r>
              <a:rPr b="0" i="0" lang="en-US" sz="850" u="none" cap="none" strike="noStrike">
                <a:solidFill>
                  <a:srgbClr val="64748B"/>
                </a:solidFill>
                <a:latin typeface="Calibri"/>
                <a:ea typeface="Calibri"/>
                <a:cs typeface="Calibri"/>
                <a:sym typeface="Calibri"/>
              </a:rPr>
              <a:t>Target = 0  ·  BIASED ⚠️</a:t>
            </a:r>
            <a:endParaRPr b="0" i="0" sz="850" u="none" cap="none" strike="noStrike">
              <a:solidFill>
                <a:schemeClr val="dk1"/>
              </a:solidFill>
              <a:latin typeface="Calibri"/>
              <a:ea typeface="Calibri"/>
              <a:cs typeface="Calibri"/>
              <a:sym typeface="Calibri"/>
            </a:endParaRPr>
          </a:p>
        </p:txBody>
      </p:sp>
      <p:sp>
        <p:nvSpPr>
          <p:cNvPr id="238" name="Google Shape;238;p8"/>
          <p:cNvSpPr/>
          <p:nvPr/>
        </p:nvSpPr>
        <p:spPr>
          <a:xfrm>
            <a:off x="4617720" y="1097280"/>
            <a:ext cx="1965960" cy="1371600"/>
          </a:xfrm>
          <a:prstGeom prst="rect">
            <a:avLst/>
          </a:prstGeom>
          <a:solidFill>
            <a:srgbClr val="F0F7F8"/>
          </a:solidFill>
          <a:ln cap="flat" cmpd="sng" w="9525">
            <a:solidFill>
              <a:srgbClr val="E2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8"/>
          <p:cNvSpPr/>
          <p:nvPr/>
        </p:nvSpPr>
        <p:spPr>
          <a:xfrm>
            <a:off x="4617720" y="1097280"/>
            <a:ext cx="1965960" cy="109728"/>
          </a:xfrm>
          <a:prstGeom prst="rect">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8"/>
          <p:cNvSpPr/>
          <p:nvPr/>
        </p:nvSpPr>
        <p:spPr>
          <a:xfrm>
            <a:off x="4709160" y="1234440"/>
            <a:ext cx="1783080"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9E0B"/>
              </a:buClr>
              <a:buSzPts val="3400"/>
              <a:buFont typeface="Calibri"/>
              <a:buNone/>
            </a:pPr>
            <a:r>
              <a:rPr b="1" i="0" lang="en-US" sz="3400" u="none" cap="none" strike="noStrike">
                <a:solidFill>
                  <a:srgbClr val="F59E0B"/>
                </a:solidFill>
                <a:latin typeface="Calibri"/>
                <a:ea typeface="Calibri"/>
                <a:cs typeface="Calibri"/>
                <a:sym typeface="Calibri"/>
              </a:rPr>
              <a:t>0.71</a:t>
            </a:r>
            <a:endParaRPr b="0" i="0" sz="3400" u="none" cap="none" strike="noStrike">
              <a:solidFill>
                <a:schemeClr val="dk1"/>
              </a:solidFill>
              <a:latin typeface="Calibri"/>
              <a:ea typeface="Calibri"/>
              <a:cs typeface="Calibri"/>
              <a:sym typeface="Calibri"/>
            </a:endParaRPr>
          </a:p>
        </p:txBody>
      </p:sp>
      <p:sp>
        <p:nvSpPr>
          <p:cNvPr id="241" name="Google Shape;241;p8"/>
          <p:cNvSpPr/>
          <p:nvPr/>
        </p:nvSpPr>
        <p:spPr>
          <a:xfrm>
            <a:off x="4709160" y="1810512"/>
            <a:ext cx="178308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2342"/>
              </a:buClr>
              <a:buSzPts val="1000"/>
              <a:buFont typeface="Calibri"/>
              <a:buNone/>
            </a:pPr>
            <a:r>
              <a:rPr b="1" i="0" lang="en-US" sz="1000" u="none" cap="none" strike="noStrike">
                <a:solidFill>
                  <a:srgbClr val="0A2342"/>
                </a:solidFill>
                <a:latin typeface="Calibri"/>
                <a:ea typeface="Calibri"/>
                <a:cs typeface="Calibri"/>
                <a:sym typeface="Calibri"/>
              </a:rPr>
              <a:t>DP Ratio</a:t>
            </a:r>
            <a:endParaRPr b="0" i="0" sz="1000" u="none" cap="none" strike="noStrike">
              <a:solidFill>
                <a:schemeClr val="dk1"/>
              </a:solidFill>
              <a:latin typeface="Calibri"/>
              <a:ea typeface="Calibri"/>
              <a:cs typeface="Calibri"/>
              <a:sym typeface="Calibri"/>
            </a:endParaRPr>
          </a:p>
        </p:txBody>
      </p:sp>
      <p:sp>
        <p:nvSpPr>
          <p:cNvPr id="242" name="Google Shape;242;p8"/>
          <p:cNvSpPr/>
          <p:nvPr/>
        </p:nvSpPr>
        <p:spPr>
          <a:xfrm>
            <a:off x="4709160" y="2075688"/>
            <a:ext cx="1783080" cy="3017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850"/>
              <a:buFont typeface="Calibri"/>
              <a:buNone/>
            </a:pPr>
            <a:r>
              <a:rPr b="0" i="0" lang="en-US" sz="850" u="none" cap="none" strike="noStrike">
                <a:solidFill>
                  <a:srgbClr val="64748B"/>
                </a:solidFill>
                <a:latin typeface="Calibri"/>
                <a:ea typeface="Calibri"/>
                <a:cs typeface="Calibri"/>
                <a:sym typeface="Calibri"/>
              </a:rPr>
              <a:t>Below 0.80  ·  4/5 Rule VIOLATED</a:t>
            </a:r>
            <a:endParaRPr b="0" i="0" sz="850" u="none" cap="none" strike="noStrike">
              <a:solidFill>
                <a:schemeClr val="dk1"/>
              </a:solidFill>
              <a:latin typeface="Calibri"/>
              <a:ea typeface="Calibri"/>
              <a:cs typeface="Calibri"/>
              <a:sym typeface="Calibri"/>
            </a:endParaRPr>
          </a:p>
        </p:txBody>
      </p:sp>
      <p:sp>
        <p:nvSpPr>
          <p:cNvPr id="243" name="Google Shape;243;p8"/>
          <p:cNvSpPr/>
          <p:nvPr/>
        </p:nvSpPr>
        <p:spPr>
          <a:xfrm>
            <a:off x="6766560" y="1097280"/>
            <a:ext cx="1965960" cy="1371600"/>
          </a:xfrm>
          <a:prstGeom prst="rect">
            <a:avLst/>
          </a:prstGeom>
          <a:solidFill>
            <a:srgbClr val="F0F7F8"/>
          </a:solidFill>
          <a:ln cap="flat" cmpd="sng" w="9525">
            <a:solidFill>
              <a:srgbClr val="E2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8"/>
          <p:cNvSpPr/>
          <p:nvPr/>
        </p:nvSpPr>
        <p:spPr>
          <a:xfrm>
            <a:off x="6766560" y="1097280"/>
            <a:ext cx="1965960" cy="109728"/>
          </a:xfrm>
          <a:prstGeom prst="rect">
            <a:avLst/>
          </a:prstGeom>
          <a:solidFill>
            <a:srgbClr val="EF4444"/>
          </a:solidFill>
          <a:ln cap="flat" cmpd="sng" w="12700">
            <a:solidFill>
              <a:srgbClr val="EF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8"/>
          <p:cNvSpPr/>
          <p:nvPr/>
        </p:nvSpPr>
        <p:spPr>
          <a:xfrm>
            <a:off x="6858000" y="1234440"/>
            <a:ext cx="1783080"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F4444"/>
              </a:buClr>
              <a:buSzPts val="3400"/>
              <a:buFont typeface="Calibri"/>
              <a:buNone/>
            </a:pPr>
            <a:r>
              <a:rPr b="1" i="0" lang="en-US" sz="3400" u="none" cap="none" strike="noStrike">
                <a:solidFill>
                  <a:srgbClr val="EF4444"/>
                </a:solidFill>
                <a:latin typeface="Calibri"/>
                <a:ea typeface="Calibri"/>
                <a:cs typeface="Calibri"/>
                <a:sym typeface="Calibri"/>
              </a:rPr>
              <a:t>0.19</a:t>
            </a:r>
            <a:endParaRPr b="0" i="0" sz="3400" u="none" cap="none" strike="noStrike">
              <a:solidFill>
                <a:schemeClr val="dk1"/>
              </a:solidFill>
              <a:latin typeface="Calibri"/>
              <a:ea typeface="Calibri"/>
              <a:cs typeface="Calibri"/>
              <a:sym typeface="Calibri"/>
            </a:endParaRPr>
          </a:p>
        </p:txBody>
      </p:sp>
      <p:sp>
        <p:nvSpPr>
          <p:cNvPr id="246" name="Google Shape;246;p8"/>
          <p:cNvSpPr/>
          <p:nvPr/>
        </p:nvSpPr>
        <p:spPr>
          <a:xfrm>
            <a:off x="6858000" y="1810512"/>
            <a:ext cx="178308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2342"/>
              </a:buClr>
              <a:buSzPts val="1000"/>
              <a:buFont typeface="Calibri"/>
              <a:buNone/>
            </a:pPr>
            <a:r>
              <a:rPr b="1" i="0" lang="en-US" sz="1000" u="none" cap="none" strike="noStrike">
                <a:solidFill>
                  <a:srgbClr val="0A2342"/>
                </a:solidFill>
                <a:latin typeface="Calibri"/>
                <a:ea typeface="Calibri"/>
                <a:cs typeface="Calibri"/>
                <a:sym typeface="Calibri"/>
              </a:rPr>
              <a:t>Eq. Odds Diff</a:t>
            </a:r>
            <a:endParaRPr b="0" i="0" sz="1000" u="none" cap="none" strike="noStrike">
              <a:solidFill>
                <a:schemeClr val="dk1"/>
              </a:solidFill>
              <a:latin typeface="Calibri"/>
              <a:ea typeface="Calibri"/>
              <a:cs typeface="Calibri"/>
              <a:sym typeface="Calibri"/>
            </a:endParaRPr>
          </a:p>
        </p:txBody>
      </p:sp>
      <p:sp>
        <p:nvSpPr>
          <p:cNvPr id="247" name="Google Shape;247;p8"/>
          <p:cNvSpPr/>
          <p:nvPr/>
        </p:nvSpPr>
        <p:spPr>
          <a:xfrm>
            <a:off x="6858000" y="2075688"/>
            <a:ext cx="1783080" cy="3017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850"/>
              <a:buFont typeface="Calibri"/>
              <a:buNone/>
            </a:pPr>
            <a:r>
              <a:rPr b="0" i="0" lang="en-US" sz="850" u="none" cap="none" strike="noStrike">
                <a:solidFill>
                  <a:srgbClr val="64748B"/>
                </a:solidFill>
                <a:latin typeface="Calibri"/>
                <a:ea typeface="Calibri"/>
                <a:cs typeface="Calibri"/>
                <a:sym typeface="Calibri"/>
              </a:rPr>
              <a:t>Target = 0  ·  BIASED ⚠️</a:t>
            </a:r>
            <a:endParaRPr b="0" i="0" sz="850" u="none" cap="none" strike="noStrike">
              <a:solidFill>
                <a:schemeClr val="dk1"/>
              </a:solidFill>
              <a:latin typeface="Calibri"/>
              <a:ea typeface="Calibri"/>
              <a:cs typeface="Calibri"/>
              <a:sym typeface="Calibri"/>
            </a:endParaRPr>
          </a:p>
        </p:txBody>
      </p:sp>
      <p:sp>
        <p:nvSpPr>
          <p:cNvPr id="248" name="Google Shape;248;p8"/>
          <p:cNvSpPr/>
          <p:nvPr/>
        </p:nvSpPr>
        <p:spPr>
          <a:xfrm>
            <a:off x="320040" y="2606040"/>
            <a:ext cx="45720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2342"/>
              </a:buClr>
              <a:buSzPts val="1300"/>
              <a:buFont typeface="Calibri"/>
              <a:buNone/>
            </a:pPr>
            <a:r>
              <a:rPr b="1" i="0" lang="en-US" sz="1300" u="none" cap="none" strike="noStrike">
                <a:solidFill>
                  <a:srgbClr val="0A2342"/>
                </a:solidFill>
                <a:latin typeface="Calibri"/>
                <a:ea typeface="Calibri"/>
                <a:cs typeface="Calibri"/>
                <a:sym typeface="Calibri"/>
              </a:rPr>
              <a:t>Group-Level Performance — Baseline Model</a:t>
            </a:r>
            <a:endParaRPr b="0" i="0" sz="1300" u="none" cap="none" strike="noStrike">
              <a:solidFill>
                <a:schemeClr val="dk1"/>
              </a:solidFill>
              <a:latin typeface="Calibri"/>
              <a:ea typeface="Calibri"/>
              <a:cs typeface="Calibri"/>
              <a:sym typeface="Calibri"/>
            </a:endParaRPr>
          </a:p>
        </p:txBody>
      </p:sp>
      <p:sp>
        <p:nvSpPr>
          <p:cNvPr id="249" name="Google Shape;249;p8"/>
          <p:cNvSpPr/>
          <p:nvPr/>
        </p:nvSpPr>
        <p:spPr>
          <a:xfrm>
            <a:off x="320040" y="3017520"/>
            <a:ext cx="914400" cy="365760"/>
          </a:xfrm>
          <a:prstGeom prst="rect">
            <a:avLst/>
          </a:prstGeom>
          <a:solidFill>
            <a:srgbClr val="0A2342"/>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8"/>
          <p:cNvSpPr/>
          <p:nvPr/>
        </p:nvSpPr>
        <p:spPr>
          <a:xfrm>
            <a:off x="365760" y="3072384"/>
            <a:ext cx="82296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Group</a:t>
            </a:r>
            <a:endParaRPr b="0" i="0" sz="900" u="none" cap="none" strike="noStrike">
              <a:solidFill>
                <a:schemeClr val="dk1"/>
              </a:solidFill>
              <a:latin typeface="Calibri"/>
              <a:ea typeface="Calibri"/>
              <a:cs typeface="Calibri"/>
              <a:sym typeface="Calibri"/>
            </a:endParaRPr>
          </a:p>
        </p:txBody>
      </p:sp>
      <p:sp>
        <p:nvSpPr>
          <p:cNvPr id="251" name="Google Shape;251;p8"/>
          <p:cNvSpPr/>
          <p:nvPr/>
        </p:nvSpPr>
        <p:spPr>
          <a:xfrm>
            <a:off x="1234440" y="3017520"/>
            <a:ext cx="731520" cy="365760"/>
          </a:xfrm>
          <a:prstGeom prst="rect">
            <a:avLst/>
          </a:prstGeom>
          <a:solidFill>
            <a:srgbClr val="0A2342"/>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8"/>
          <p:cNvSpPr/>
          <p:nvPr/>
        </p:nvSpPr>
        <p:spPr>
          <a:xfrm>
            <a:off x="1280160" y="3072384"/>
            <a:ext cx="64008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N (test)</a:t>
            </a:r>
            <a:endParaRPr b="0" i="0" sz="900" u="none" cap="none" strike="noStrike">
              <a:solidFill>
                <a:schemeClr val="dk1"/>
              </a:solidFill>
              <a:latin typeface="Calibri"/>
              <a:ea typeface="Calibri"/>
              <a:cs typeface="Calibri"/>
              <a:sym typeface="Calibri"/>
            </a:endParaRPr>
          </a:p>
        </p:txBody>
      </p:sp>
      <p:sp>
        <p:nvSpPr>
          <p:cNvPr id="253" name="Google Shape;253;p8"/>
          <p:cNvSpPr/>
          <p:nvPr/>
        </p:nvSpPr>
        <p:spPr>
          <a:xfrm>
            <a:off x="1965960" y="3017520"/>
            <a:ext cx="1097280" cy="365760"/>
          </a:xfrm>
          <a:prstGeom prst="rect">
            <a:avLst/>
          </a:prstGeom>
          <a:solidFill>
            <a:srgbClr val="0A2342"/>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8"/>
          <p:cNvSpPr/>
          <p:nvPr/>
        </p:nvSpPr>
        <p:spPr>
          <a:xfrm>
            <a:off x="2011680" y="3072384"/>
            <a:ext cx="100584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Selection Rate</a:t>
            </a:r>
            <a:endParaRPr b="0" i="0" sz="900" u="none" cap="none" strike="noStrike">
              <a:solidFill>
                <a:schemeClr val="dk1"/>
              </a:solidFill>
              <a:latin typeface="Calibri"/>
              <a:ea typeface="Calibri"/>
              <a:cs typeface="Calibri"/>
              <a:sym typeface="Calibri"/>
            </a:endParaRPr>
          </a:p>
        </p:txBody>
      </p:sp>
      <p:sp>
        <p:nvSpPr>
          <p:cNvPr id="255" name="Google Shape;255;p8"/>
          <p:cNvSpPr/>
          <p:nvPr/>
        </p:nvSpPr>
        <p:spPr>
          <a:xfrm>
            <a:off x="3063240" y="3017520"/>
            <a:ext cx="822960" cy="365760"/>
          </a:xfrm>
          <a:prstGeom prst="rect">
            <a:avLst/>
          </a:prstGeom>
          <a:solidFill>
            <a:srgbClr val="0A2342"/>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8"/>
          <p:cNvSpPr/>
          <p:nvPr/>
        </p:nvSpPr>
        <p:spPr>
          <a:xfrm>
            <a:off x="3108960" y="3072384"/>
            <a:ext cx="73152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Accuracy</a:t>
            </a:r>
            <a:endParaRPr b="0" i="0" sz="900" u="none" cap="none" strike="noStrike">
              <a:solidFill>
                <a:schemeClr val="dk1"/>
              </a:solidFill>
              <a:latin typeface="Calibri"/>
              <a:ea typeface="Calibri"/>
              <a:cs typeface="Calibri"/>
              <a:sym typeface="Calibri"/>
            </a:endParaRPr>
          </a:p>
        </p:txBody>
      </p:sp>
      <p:sp>
        <p:nvSpPr>
          <p:cNvPr id="257" name="Google Shape;257;p8"/>
          <p:cNvSpPr/>
          <p:nvPr/>
        </p:nvSpPr>
        <p:spPr>
          <a:xfrm>
            <a:off x="3886200" y="3017520"/>
            <a:ext cx="1097280" cy="365760"/>
          </a:xfrm>
          <a:prstGeom prst="rect">
            <a:avLst/>
          </a:prstGeom>
          <a:solidFill>
            <a:srgbClr val="0A2342"/>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8"/>
          <p:cNvSpPr/>
          <p:nvPr/>
        </p:nvSpPr>
        <p:spPr>
          <a:xfrm>
            <a:off x="3931920" y="3072384"/>
            <a:ext cx="100584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Recall (TPR)</a:t>
            </a:r>
            <a:endParaRPr b="0" i="0" sz="900" u="none" cap="none" strike="noStrike">
              <a:solidFill>
                <a:schemeClr val="dk1"/>
              </a:solidFill>
              <a:latin typeface="Calibri"/>
              <a:ea typeface="Calibri"/>
              <a:cs typeface="Calibri"/>
              <a:sym typeface="Calibri"/>
            </a:endParaRPr>
          </a:p>
        </p:txBody>
      </p:sp>
      <p:sp>
        <p:nvSpPr>
          <p:cNvPr id="259" name="Google Shape;259;p8"/>
          <p:cNvSpPr/>
          <p:nvPr/>
        </p:nvSpPr>
        <p:spPr>
          <a:xfrm>
            <a:off x="4983480" y="3017520"/>
            <a:ext cx="731520" cy="365760"/>
          </a:xfrm>
          <a:prstGeom prst="rect">
            <a:avLst/>
          </a:prstGeom>
          <a:solidFill>
            <a:srgbClr val="0A2342"/>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8"/>
          <p:cNvSpPr/>
          <p:nvPr/>
        </p:nvSpPr>
        <p:spPr>
          <a:xfrm>
            <a:off x="5029200" y="3072384"/>
            <a:ext cx="64008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FPR</a:t>
            </a:r>
            <a:endParaRPr b="0" i="0" sz="900" u="none" cap="none" strike="noStrike">
              <a:solidFill>
                <a:schemeClr val="dk1"/>
              </a:solidFill>
              <a:latin typeface="Calibri"/>
              <a:ea typeface="Calibri"/>
              <a:cs typeface="Calibri"/>
              <a:sym typeface="Calibri"/>
            </a:endParaRPr>
          </a:p>
        </p:txBody>
      </p:sp>
      <p:sp>
        <p:nvSpPr>
          <p:cNvPr id="261" name="Google Shape;261;p8"/>
          <p:cNvSpPr/>
          <p:nvPr/>
        </p:nvSpPr>
        <p:spPr>
          <a:xfrm>
            <a:off x="320040" y="3401568"/>
            <a:ext cx="914400" cy="365760"/>
          </a:xfrm>
          <a:prstGeom prst="rect">
            <a:avLst/>
          </a:prstGeom>
          <a:solidFill>
            <a:srgbClr val="FFFFFF"/>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8"/>
          <p:cNvSpPr/>
          <p:nvPr/>
        </p:nvSpPr>
        <p:spPr>
          <a:xfrm>
            <a:off x="365760" y="3456432"/>
            <a:ext cx="82296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950"/>
              <a:buFont typeface="Calibri"/>
              <a:buNone/>
            </a:pPr>
            <a:r>
              <a:rPr b="0" i="0" lang="en-US" sz="950" u="none" cap="none" strike="noStrike">
                <a:solidFill>
                  <a:srgbClr val="1E293B"/>
                </a:solidFill>
                <a:latin typeface="Calibri"/>
                <a:ea typeface="Calibri"/>
                <a:cs typeface="Calibri"/>
                <a:sym typeface="Calibri"/>
              </a:rPr>
              <a:t>Male</a:t>
            </a:r>
            <a:endParaRPr b="0" i="0" sz="950" u="none" cap="none" strike="noStrike">
              <a:solidFill>
                <a:schemeClr val="dk1"/>
              </a:solidFill>
              <a:latin typeface="Calibri"/>
              <a:ea typeface="Calibri"/>
              <a:cs typeface="Calibri"/>
              <a:sym typeface="Calibri"/>
            </a:endParaRPr>
          </a:p>
        </p:txBody>
      </p:sp>
      <p:sp>
        <p:nvSpPr>
          <p:cNvPr id="263" name="Google Shape;263;p8"/>
          <p:cNvSpPr/>
          <p:nvPr/>
        </p:nvSpPr>
        <p:spPr>
          <a:xfrm>
            <a:off x="1234440" y="3401568"/>
            <a:ext cx="731520" cy="365760"/>
          </a:xfrm>
          <a:prstGeom prst="rect">
            <a:avLst/>
          </a:prstGeom>
          <a:solidFill>
            <a:srgbClr val="FFFFFF"/>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8"/>
          <p:cNvSpPr/>
          <p:nvPr/>
        </p:nvSpPr>
        <p:spPr>
          <a:xfrm>
            <a:off x="1280160" y="3456432"/>
            <a:ext cx="64008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950"/>
              <a:buFont typeface="Calibri"/>
              <a:buNone/>
            </a:pPr>
            <a:r>
              <a:rPr b="0" i="0" lang="en-US" sz="950" u="none" cap="none" strike="noStrike">
                <a:solidFill>
                  <a:srgbClr val="1E293B"/>
                </a:solidFill>
                <a:latin typeface="Calibri"/>
                <a:ea typeface="Calibri"/>
                <a:cs typeface="Calibri"/>
                <a:sym typeface="Calibri"/>
              </a:rPr>
              <a:t>277</a:t>
            </a:r>
            <a:endParaRPr b="0" i="0" sz="950" u="none" cap="none" strike="noStrike">
              <a:solidFill>
                <a:schemeClr val="dk1"/>
              </a:solidFill>
              <a:latin typeface="Calibri"/>
              <a:ea typeface="Calibri"/>
              <a:cs typeface="Calibri"/>
              <a:sym typeface="Calibri"/>
            </a:endParaRPr>
          </a:p>
        </p:txBody>
      </p:sp>
      <p:sp>
        <p:nvSpPr>
          <p:cNvPr id="265" name="Google Shape;265;p8"/>
          <p:cNvSpPr/>
          <p:nvPr/>
        </p:nvSpPr>
        <p:spPr>
          <a:xfrm>
            <a:off x="1965960" y="3401568"/>
            <a:ext cx="1097280" cy="365760"/>
          </a:xfrm>
          <a:prstGeom prst="rect">
            <a:avLst/>
          </a:prstGeom>
          <a:solidFill>
            <a:srgbClr val="FFFFFF"/>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8"/>
          <p:cNvSpPr/>
          <p:nvPr/>
        </p:nvSpPr>
        <p:spPr>
          <a:xfrm>
            <a:off x="2011680" y="3456432"/>
            <a:ext cx="100584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950"/>
              <a:buFont typeface="Calibri"/>
              <a:buNone/>
            </a:pPr>
            <a:r>
              <a:rPr b="0" i="0" lang="en-US" sz="950" u="none" cap="none" strike="noStrike">
                <a:solidFill>
                  <a:srgbClr val="1E293B"/>
                </a:solidFill>
                <a:latin typeface="Calibri"/>
                <a:ea typeface="Calibri"/>
                <a:cs typeface="Calibri"/>
                <a:sym typeface="Calibri"/>
              </a:rPr>
              <a:t>68%</a:t>
            </a:r>
            <a:endParaRPr b="0" i="0" sz="950" u="none" cap="none" strike="noStrike">
              <a:solidFill>
                <a:schemeClr val="dk1"/>
              </a:solidFill>
              <a:latin typeface="Calibri"/>
              <a:ea typeface="Calibri"/>
              <a:cs typeface="Calibri"/>
              <a:sym typeface="Calibri"/>
            </a:endParaRPr>
          </a:p>
        </p:txBody>
      </p:sp>
      <p:sp>
        <p:nvSpPr>
          <p:cNvPr id="267" name="Google Shape;267;p8"/>
          <p:cNvSpPr/>
          <p:nvPr/>
        </p:nvSpPr>
        <p:spPr>
          <a:xfrm>
            <a:off x="3063240" y="3401568"/>
            <a:ext cx="822960" cy="365760"/>
          </a:xfrm>
          <a:prstGeom prst="rect">
            <a:avLst/>
          </a:prstGeom>
          <a:solidFill>
            <a:srgbClr val="FFFFFF"/>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8"/>
          <p:cNvSpPr/>
          <p:nvPr/>
        </p:nvSpPr>
        <p:spPr>
          <a:xfrm>
            <a:off x="3108960" y="3456432"/>
            <a:ext cx="73152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950"/>
              <a:buFont typeface="Calibri"/>
              <a:buNone/>
            </a:pPr>
            <a:r>
              <a:rPr b="0" i="0" lang="en-US" sz="950" u="none" cap="none" strike="noStrike">
                <a:solidFill>
                  <a:srgbClr val="1E293B"/>
                </a:solidFill>
                <a:latin typeface="Calibri"/>
                <a:ea typeface="Calibri"/>
                <a:cs typeface="Calibri"/>
                <a:sym typeface="Calibri"/>
              </a:rPr>
              <a:t>73%</a:t>
            </a:r>
            <a:endParaRPr b="0" i="0" sz="950" u="none" cap="none" strike="noStrike">
              <a:solidFill>
                <a:schemeClr val="dk1"/>
              </a:solidFill>
              <a:latin typeface="Calibri"/>
              <a:ea typeface="Calibri"/>
              <a:cs typeface="Calibri"/>
              <a:sym typeface="Calibri"/>
            </a:endParaRPr>
          </a:p>
        </p:txBody>
      </p:sp>
      <p:sp>
        <p:nvSpPr>
          <p:cNvPr id="269" name="Google Shape;269;p8"/>
          <p:cNvSpPr/>
          <p:nvPr/>
        </p:nvSpPr>
        <p:spPr>
          <a:xfrm>
            <a:off x="3886200" y="3401568"/>
            <a:ext cx="1097280" cy="365760"/>
          </a:xfrm>
          <a:prstGeom prst="rect">
            <a:avLst/>
          </a:prstGeom>
          <a:solidFill>
            <a:srgbClr val="FFFFFF"/>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8"/>
          <p:cNvSpPr/>
          <p:nvPr/>
        </p:nvSpPr>
        <p:spPr>
          <a:xfrm>
            <a:off x="3931920" y="3456432"/>
            <a:ext cx="100584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950"/>
              <a:buFont typeface="Calibri"/>
              <a:buNone/>
            </a:pPr>
            <a:r>
              <a:rPr b="0" i="0" lang="en-US" sz="950" u="none" cap="none" strike="noStrike">
                <a:solidFill>
                  <a:srgbClr val="1E293B"/>
                </a:solidFill>
                <a:latin typeface="Calibri"/>
                <a:ea typeface="Calibri"/>
                <a:cs typeface="Calibri"/>
                <a:sym typeface="Calibri"/>
              </a:rPr>
              <a:t>71%</a:t>
            </a:r>
            <a:endParaRPr b="0" i="0" sz="950" u="none" cap="none" strike="noStrike">
              <a:solidFill>
                <a:schemeClr val="dk1"/>
              </a:solidFill>
              <a:latin typeface="Calibri"/>
              <a:ea typeface="Calibri"/>
              <a:cs typeface="Calibri"/>
              <a:sym typeface="Calibri"/>
            </a:endParaRPr>
          </a:p>
        </p:txBody>
      </p:sp>
      <p:sp>
        <p:nvSpPr>
          <p:cNvPr id="271" name="Google Shape;271;p8"/>
          <p:cNvSpPr/>
          <p:nvPr/>
        </p:nvSpPr>
        <p:spPr>
          <a:xfrm>
            <a:off x="4983480" y="3401568"/>
            <a:ext cx="731520" cy="365760"/>
          </a:xfrm>
          <a:prstGeom prst="rect">
            <a:avLst/>
          </a:prstGeom>
          <a:solidFill>
            <a:srgbClr val="FFFFFF"/>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8"/>
          <p:cNvSpPr/>
          <p:nvPr/>
        </p:nvSpPr>
        <p:spPr>
          <a:xfrm>
            <a:off x="5029200" y="3456432"/>
            <a:ext cx="64008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950"/>
              <a:buFont typeface="Calibri"/>
              <a:buNone/>
            </a:pPr>
            <a:r>
              <a:rPr b="0" i="0" lang="en-US" sz="950" u="none" cap="none" strike="noStrike">
                <a:solidFill>
                  <a:srgbClr val="1E293B"/>
                </a:solidFill>
                <a:latin typeface="Calibri"/>
                <a:ea typeface="Calibri"/>
                <a:cs typeface="Calibri"/>
                <a:sym typeface="Calibri"/>
              </a:rPr>
              <a:t>34%</a:t>
            </a:r>
            <a:endParaRPr b="0" i="0" sz="950" u="none" cap="none" strike="noStrike">
              <a:solidFill>
                <a:schemeClr val="dk1"/>
              </a:solidFill>
              <a:latin typeface="Calibri"/>
              <a:ea typeface="Calibri"/>
              <a:cs typeface="Calibri"/>
              <a:sym typeface="Calibri"/>
            </a:endParaRPr>
          </a:p>
        </p:txBody>
      </p:sp>
      <p:sp>
        <p:nvSpPr>
          <p:cNvPr id="273" name="Google Shape;273;p8"/>
          <p:cNvSpPr/>
          <p:nvPr/>
        </p:nvSpPr>
        <p:spPr>
          <a:xfrm>
            <a:off x="320040" y="3785616"/>
            <a:ext cx="914400" cy="365760"/>
          </a:xfrm>
          <a:prstGeom prst="rect">
            <a:avLst/>
          </a:prstGeom>
          <a:solidFill>
            <a:srgbClr val="F0F7F8"/>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8"/>
          <p:cNvSpPr/>
          <p:nvPr/>
        </p:nvSpPr>
        <p:spPr>
          <a:xfrm>
            <a:off x="365760" y="3840480"/>
            <a:ext cx="82296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950"/>
              <a:buFont typeface="Calibri"/>
              <a:buNone/>
            </a:pPr>
            <a:r>
              <a:rPr b="0" i="0" lang="en-US" sz="950" u="none" cap="none" strike="noStrike">
                <a:solidFill>
                  <a:srgbClr val="1E293B"/>
                </a:solidFill>
                <a:latin typeface="Calibri"/>
                <a:ea typeface="Calibri"/>
                <a:cs typeface="Calibri"/>
                <a:sym typeface="Calibri"/>
              </a:rPr>
              <a:t>Female</a:t>
            </a:r>
            <a:endParaRPr b="0" i="0" sz="950" u="none" cap="none" strike="noStrike">
              <a:solidFill>
                <a:schemeClr val="dk1"/>
              </a:solidFill>
              <a:latin typeface="Calibri"/>
              <a:ea typeface="Calibri"/>
              <a:cs typeface="Calibri"/>
              <a:sym typeface="Calibri"/>
            </a:endParaRPr>
          </a:p>
        </p:txBody>
      </p:sp>
      <p:sp>
        <p:nvSpPr>
          <p:cNvPr id="275" name="Google Shape;275;p8"/>
          <p:cNvSpPr/>
          <p:nvPr/>
        </p:nvSpPr>
        <p:spPr>
          <a:xfrm>
            <a:off x="1234440" y="3785616"/>
            <a:ext cx="731520" cy="365760"/>
          </a:xfrm>
          <a:prstGeom prst="rect">
            <a:avLst/>
          </a:prstGeom>
          <a:solidFill>
            <a:srgbClr val="F0F7F8"/>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8"/>
          <p:cNvSpPr/>
          <p:nvPr/>
        </p:nvSpPr>
        <p:spPr>
          <a:xfrm>
            <a:off x="1280160" y="3840480"/>
            <a:ext cx="64008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950"/>
              <a:buFont typeface="Calibri"/>
              <a:buNone/>
            </a:pPr>
            <a:r>
              <a:rPr b="0" i="0" lang="en-US" sz="950" u="none" cap="none" strike="noStrike">
                <a:solidFill>
                  <a:srgbClr val="1E293B"/>
                </a:solidFill>
                <a:latin typeface="Calibri"/>
                <a:ea typeface="Calibri"/>
                <a:cs typeface="Calibri"/>
                <a:sym typeface="Calibri"/>
              </a:rPr>
              <a:t>223</a:t>
            </a:r>
            <a:endParaRPr b="0" i="0" sz="950" u="none" cap="none" strike="noStrike">
              <a:solidFill>
                <a:schemeClr val="dk1"/>
              </a:solidFill>
              <a:latin typeface="Calibri"/>
              <a:ea typeface="Calibri"/>
              <a:cs typeface="Calibri"/>
              <a:sym typeface="Calibri"/>
            </a:endParaRPr>
          </a:p>
        </p:txBody>
      </p:sp>
      <p:sp>
        <p:nvSpPr>
          <p:cNvPr id="277" name="Google Shape;277;p8"/>
          <p:cNvSpPr/>
          <p:nvPr/>
        </p:nvSpPr>
        <p:spPr>
          <a:xfrm>
            <a:off x="1965960" y="3785616"/>
            <a:ext cx="1097280" cy="365760"/>
          </a:xfrm>
          <a:prstGeom prst="rect">
            <a:avLst/>
          </a:prstGeom>
          <a:solidFill>
            <a:srgbClr val="F0F7F8"/>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8"/>
          <p:cNvSpPr/>
          <p:nvPr/>
        </p:nvSpPr>
        <p:spPr>
          <a:xfrm>
            <a:off x="2011680" y="3840480"/>
            <a:ext cx="100584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950"/>
              <a:buFont typeface="Calibri"/>
              <a:buNone/>
            </a:pPr>
            <a:r>
              <a:rPr b="0" i="0" lang="en-US" sz="950" u="none" cap="none" strike="noStrike">
                <a:solidFill>
                  <a:srgbClr val="1E293B"/>
                </a:solidFill>
                <a:latin typeface="Calibri"/>
                <a:ea typeface="Calibri"/>
                <a:cs typeface="Calibri"/>
                <a:sym typeface="Calibri"/>
              </a:rPr>
              <a:t>45%</a:t>
            </a:r>
            <a:endParaRPr b="0" i="0" sz="950" u="none" cap="none" strike="noStrike">
              <a:solidFill>
                <a:schemeClr val="dk1"/>
              </a:solidFill>
              <a:latin typeface="Calibri"/>
              <a:ea typeface="Calibri"/>
              <a:cs typeface="Calibri"/>
              <a:sym typeface="Calibri"/>
            </a:endParaRPr>
          </a:p>
        </p:txBody>
      </p:sp>
      <p:sp>
        <p:nvSpPr>
          <p:cNvPr id="279" name="Google Shape;279;p8"/>
          <p:cNvSpPr/>
          <p:nvPr/>
        </p:nvSpPr>
        <p:spPr>
          <a:xfrm>
            <a:off x="3063240" y="3785616"/>
            <a:ext cx="822960" cy="365760"/>
          </a:xfrm>
          <a:prstGeom prst="rect">
            <a:avLst/>
          </a:prstGeom>
          <a:solidFill>
            <a:srgbClr val="F0F7F8"/>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8"/>
          <p:cNvSpPr/>
          <p:nvPr/>
        </p:nvSpPr>
        <p:spPr>
          <a:xfrm>
            <a:off x="3108960" y="3840480"/>
            <a:ext cx="73152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950"/>
              <a:buFont typeface="Calibri"/>
              <a:buNone/>
            </a:pPr>
            <a:r>
              <a:rPr b="0" i="0" lang="en-US" sz="950" u="none" cap="none" strike="noStrike">
                <a:solidFill>
                  <a:srgbClr val="1E293B"/>
                </a:solidFill>
                <a:latin typeface="Calibri"/>
                <a:ea typeface="Calibri"/>
                <a:cs typeface="Calibri"/>
                <a:sym typeface="Calibri"/>
              </a:rPr>
              <a:t>69%</a:t>
            </a:r>
            <a:endParaRPr b="0" i="0" sz="950" u="none" cap="none" strike="noStrike">
              <a:solidFill>
                <a:schemeClr val="dk1"/>
              </a:solidFill>
              <a:latin typeface="Calibri"/>
              <a:ea typeface="Calibri"/>
              <a:cs typeface="Calibri"/>
              <a:sym typeface="Calibri"/>
            </a:endParaRPr>
          </a:p>
        </p:txBody>
      </p:sp>
      <p:sp>
        <p:nvSpPr>
          <p:cNvPr id="281" name="Google Shape;281;p8"/>
          <p:cNvSpPr/>
          <p:nvPr/>
        </p:nvSpPr>
        <p:spPr>
          <a:xfrm>
            <a:off x="3886200" y="3785616"/>
            <a:ext cx="1097280" cy="365760"/>
          </a:xfrm>
          <a:prstGeom prst="rect">
            <a:avLst/>
          </a:prstGeom>
          <a:solidFill>
            <a:srgbClr val="F0F7F8"/>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8"/>
          <p:cNvSpPr/>
          <p:nvPr/>
        </p:nvSpPr>
        <p:spPr>
          <a:xfrm>
            <a:off x="3931920" y="3840480"/>
            <a:ext cx="100584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950"/>
              <a:buFont typeface="Calibri"/>
              <a:buNone/>
            </a:pPr>
            <a:r>
              <a:rPr b="0" i="0" lang="en-US" sz="950" u="none" cap="none" strike="noStrike">
                <a:solidFill>
                  <a:srgbClr val="1E293B"/>
                </a:solidFill>
                <a:latin typeface="Calibri"/>
                <a:ea typeface="Calibri"/>
                <a:cs typeface="Calibri"/>
                <a:sym typeface="Calibri"/>
              </a:rPr>
              <a:t>52%</a:t>
            </a:r>
            <a:endParaRPr b="0" i="0" sz="950" u="none" cap="none" strike="noStrike">
              <a:solidFill>
                <a:schemeClr val="dk1"/>
              </a:solidFill>
              <a:latin typeface="Calibri"/>
              <a:ea typeface="Calibri"/>
              <a:cs typeface="Calibri"/>
              <a:sym typeface="Calibri"/>
            </a:endParaRPr>
          </a:p>
        </p:txBody>
      </p:sp>
      <p:sp>
        <p:nvSpPr>
          <p:cNvPr id="283" name="Google Shape;283;p8"/>
          <p:cNvSpPr/>
          <p:nvPr/>
        </p:nvSpPr>
        <p:spPr>
          <a:xfrm>
            <a:off x="4983480" y="3785616"/>
            <a:ext cx="731520" cy="365760"/>
          </a:xfrm>
          <a:prstGeom prst="rect">
            <a:avLst/>
          </a:prstGeom>
          <a:solidFill>
            <a:srgbClr val="F0F7F8"/>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8"/>
          <p:cNvSpPr/>
          <p:nvPr/>
        </p:nvSpPr>
        <p:spPr>
          <a:xfrm>
            <a:off x="5029200" y="3840480"/>
            <a:ext cx="64008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950"/>
              <a:buFont typeface="Calibri"/>
              <a:buNone/>
            </a:pPr>
            <a:r>
              <a:rPr b="0" i="0" lang="en-US" sz="950" u="none" cap="none" strike="noStrike">
                <a:solidFill>
                  <a:srgbClr val="1E293B"/>
                </a:solidFill>
                <a:latin typeface="Calibri"/>
                <a:ea typeface="Calibri"/>
                <a:cs typeface="Calibri"/>
                <a:sym typeface="Calibri"/>
              </a:rPr>
              <a:t>19%</a:t>
            </a:r>
            <a:endParaRPr b="0" i="0" sz="950" u="none" cap="none" strike="noStrike">
              <a:solidFill>
                <a:schemeClr val="dk1"/>
              </a:solidFill>
              <a:latin typeface="Calibri"/>
              <a:ea typeface="Calibri"/>
              <a:cs typeface="Calibri"/>
              <a:sym typeface="Calibri"/>
            </a:endParaRPr>
          </a:p>
        </p:txBody>
      </p:sp>
      <p:sp>
        <p:nvSpPr>
          <p:cNvPr id="285" name="Google Shape;285;p8"/>
          <p:cNvSpPr/>
          <p:nvPr/>
        </p:nvSpPr>
        <p:spPr>
          <a:xfrm>
            <a:off x="320040" y="4169664"/>
            <a:ext cx="914400" cy="365760"/>
          </a:xfrm>
          <a:prstGeom prst="rect">
            <a:avLst/>
          </a:prstGeom>
          <a:solidFill>
            <a:srgbClr val="FFF3CD"/>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8"/>
          <p:cNvSpPr/>
          <p:nvPr/>
        </p:nvSpPr>
        <p:spPr>
          <a:xfrm>
            <a:off x="365760" y="4224528"/>
            <a:ext cx="82296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9E0B"/>
              </a:buClr>
              <a:buSzPts val="950"/>
              <a:buFont typeface="Calibri"/>
              <a:buNone/>
            </a:pPr>
            <a:r>
              <a:rPr b="0" i="0" lang="en-US" sz="950" u="none" cap="none" strike="noStrike">
                <a:solidFill>
                  <a:srgbClr val="F59E0B"/>
                </a:solidFill>
                <a:latin typeface="Calibri"/>
                <a:ea typeface="Calibri"/>
                <a:cs typeface="Calibri"/>
                <a:sym typeface="Calibri"/>
              </a:rPr>
              <a:t>Gap (M−F)</a:t>
            </a:r>
            <a:endParaRPr b="0" i="0" sz="950" u="none" cap="none" strike="noStrike">
              <a:solidFill>
                <a:schemeClr val="dk1"/>
              </a:solidFill>
              <a:latin typeface="Calibri"/>
              <a:ea typeface="Calibri"/>
              <a:cs typeface="Calibri"/>
              <a:sym typeface="Calibri"/>
            </a:endParaRPr>
          </a:p>
        </p:txBody>
      </p:sp>
      <p:sp>
        <p:nvSpPr>
          <p:cNvPr id="287" name="Google Shape;287;p8"/>
          <p:cNvSpPr/>
          <p:nvPr/>
        </p:nvSpPr>
        <p:spPr>
          <a:xfrm>
            <a:off x="1234440" y="4169664"/>
            <a:ext cx="731520" cy="365760"/>
          </a:xfrm>
          <a:prstGeom prst="rect">
            <a:avLst/>
          </a:prstGeom>
          <a:solidFill>
            <a:srgbClr val="FFF3CD"/>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8"/>
          <p:cNvSpPr/>
          <p:nvPr/>
        </p:nvSpPr>
        <p:spPr>
          <a:xfrm>
            <a:off x="1280160" y="4224528"/>
            <a:ext cx="64008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9E0B"/>
              </a:buClr>
              <a:buSzPts val="950"/>
              <a:buFont typeface="Calibri"/>
              <a:buNone/>
            </a:pPr>
            <a:r>
              <a:rPr b="0" i="0" lang="en-US" sz="950" u="none" cap="none" strike="noStrike">
                <a:solidFill>
                  <a:srgbClr val="F59E0B"/>
                </a:solidFill>
                <a:latin typeface="Calibri"/>
                <a:ea typeface="Calibri"/>
                <a:cs typeface="Calibri"/>
                <a:sym typeface="Calibri"/>
              </a:rPr>
              <a:t>—</a:t>
            </a:r>
            <a:endParaRPr b="0" i="0" sz="950" u="none" cap="none" strike="noStrike">
              <a:solidFill>
                <a:schemeClr val="dk1"/>
              </a:solidFill>
              <a:latin typeface="Calibri"/>
              <a:ea typeface="Calibri"/>
              <a:cs typeface="Calibri"/>
              <a:sym typeface="Calibri"/>
            </a:endParaRPr>
          </a:p>
        </p:txBody>
      </p:sp>
      <p:sp>
        <p:nvSpPr>
          <p:cNvPr id="289" name="Google Shape;289;p8"/>
          <p:cNvSpPr/>
          <p:nvPr/>
        </p:nvSpPr>
        <p:spPr>
          <a:xfrm>
            <a:off x="1965960" y="4169664"/>
            <a:ext cx="1097280" cy="365760"/>
          </a:xfrm>
          <a:prstGeom prst="rect">
            <a:avLst/>
          </a:prstGeom>
          <a:solidFill>
            <a:srgbClr val="FFF3CD"/>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8"/>
          <p:cNvSpPr/>
          <p:nvPr/>
        </p:nvSpPr>
        <p:spPr>
          <a:xfrm>
            <a:off x="2011680" y="4224528"/>
            <a:ext cx="100584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F4444"/>
              </a:buClr>
              <a:buSzPts val="950"/>
              <a:buFont typeface="Calibri"/>
              <a:buNone/>
            </a:pPr>
            <a:r>
              <a:rPr b="1" i="0" lang="en-US" sz="950" u="none" cap="none" strike="noStrike">
                <a:solidFill>
                  <a:srgbClr val="EF4444"/>
                </a:solidFill>
                <a:latin typeface="Calibri"/>
                <a:ea typeface="Calibri"/>
                <a:cs typeface="Calibri"/>
                <a:sym typeface="Calibri"/>
              </a:rPr>
              <a:t>+23% ⚠️</a:t>
            </a:r>
            <a:endParaRPr b="0" i="0" sz="950" u="none" cap="none" strike="noStrike">
              <a:solidFill>
                <a:schemeClr val="dk1"/>
              </a:solidFill>
              <a:latin typeface="Calibri"/>
              <a:ea typeface="Calibri"/>
              <a:cs typeface="Calibri"/>
              <a:sym typeface="Calibri"/>
            </a:endParaRPr>
          </a:p>
        </p:txBody>
      </p:sp>
      <p:sp>
        <p:nvSpPr>
          <p:cNvPr id="291" name="Google Shape;291;p8"/>
          <p:cNvSpPr/>
          <p:nvPr/>
        </p:nvSpPr>
        <p:spPr>
          <a:xfrm>
            <a:off x="3063240" y="4169664"/>
            <a:ext cx="822960" cy="365760"/>
          </a:xfrm>
          <a:prstGeom prst="rect">
            <a:avLst/>
          </a:prstGeom>
          <a:solidFill>
            <a:srgbClr val="FFF3CD"/>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8"/>
          <p:cNvSpPr/>
          <p:nvPr/>
        </p:nvSpPr>
        <p:spPr>
          <a:xfrm>
            <a:off x="3108960" y="4224528"/>
            <a:ext cx="73152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9E0B"/>
              </a:buClr>
              <a:buSzPts val="950"/>
              <a:buFont typeface="Calibri"/>
              <a:buNone/>
            </a:pPr>
            <a:r>
              <a:rPr b="0" i="0" lang="en-US" sz="950" u="none" cap="none" strike="noStrike">
                <a:solidFill>
                  <a:srgbClr val="F59E0B"/>
                </a:solidFill>
                <a:latin typeface="Calibri"/>
                <a:ea typeface="Calibri"/>
                <a:cs typeface="Calibri"/>
                <a:sym typeface="Calibri"/>
              </a:rPr>
              <a:t>+4%</a:t>
            </a:r>
            <a:endParaRPr b="0" i="0" sz="950" u="none" cap="none" strike="noStrike">
              <a:solidFill>
                <a:schemeClr val="dk1"/>
              </a:solidFill>
              <a:latin typeface="Calibri"/>
              <a:ea typeface="Calibri"/>
              <a:cs typeface="Calibri"/>
              <a:sym typeface="Calibri"/>
            </a:endParaRPr>
          </a:p>
        </p:txBody>
      </p:sp>
      <p:sp>
        <p:nvSpPr>
          <p:cNvPr id="293" name="Google Shape;293;p8"/>
          <p:cNvSpPr/>
          <p:nvPr/>
        </p:nvSpPr>
        <p:spPr>
          <a:xfrm>
            <a:off x="3886200" y="4169664"/>
            <a:ext cx="1097280" cy="365760"/>
          </a:xfrm>
          <a:prstGeom prst="rect">
            <a:avLst/>
          </a:prstGeom>
          <a:solidFill>
            <a:srgbClr val="FFF3CD"/>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8"/>
          <p:cNvSpPr/>
          <p:nvPr/>
        </p:nvSpPr>
        <p:spPr>
          <a:xfrm>
            <a:off x="3931920" y="4224528"/>
            <a:ext cx="100584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F4444"/>
              </a:buClr>
              <a:buSzPts val="950"/>
              <a:buFont typeface="Calibri"/>
              <a:buNone/>
            </a:pPr>
            <a:r>
              <a:rPr b="1" i="0" lang="en-US" sz="950" u="none" cap="none" strike="noStrike">
                <a:solidFill>
                  <a:srgbClr val="EF4444"/>
                </a:solidFill>
                <a:latin typeface="Calibri"/>
                <a:ea typeface="Calibri"/>
                <a:cs typeface="Calibri"/>
                <a:sym typeface="Calibri"/>
              </a:rPr>
              <a:t>+19% ⚠️</a:t>
            </a:r>
            <a:endParaRPr b="0" i="0" sz="950" u="none" cap="none" strike="noStrike">
              <a:solidFill>
                <a:schemeClr val="dk1"/>
              </a:solidFill>
              <a:latin typeface="Calibri"/>
              <a:ea typeface="Calibri"/>
              <a:cs typeface="Calibri"/>
              <a:sym typeface="Calibri"/>
            </a:endParaRPr>
          </a:p>
        </p:txBody>
      </p:sp>
      <p:sp>
        <p:nvSpPr>
          <p:cNvPr id="295" name="Google Shape;295;p8"/>
          <p:cNvSpPr/>
          <p:nvPr/>
        </p:nvSpPr>
        <p:spPr>
          <a:xfrm>
            <a:off x="4983480" y="4169664"/>
            <a:ext cx="731520" cy="365760"/>
          </a:xfrm>
          <a:prstGeom prst="rect">
            <a:avLst/>
          </a:prstGeom>
          <a:solidFill>
            <a:srgbClr val="FFF3CD"/>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8"/>
          <p:cNvSpPr/>
          <p:nvPr/>
        </p:nvSpPr>
        <p:spPr>
          <a:xfrm>
            <a:off x="5029200" y="4224528"/>
            <a:ext cx="64008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9E0B"/>
              </a:buClr>
              <a:buSzPts val="950"/>
              <a:buFont typeface="Calibri"/>
              <a:buNone/>
            </a:pPr>
            <a:r>
              <a:rPr b="0" i="0" lang="en-US" sz="950" u="none" cap="none" strike="noStrike">
                <a:solidFill>
                  <a:srgbClr val="F59E0B"/>
                </a:solidFill>
                <a:latin typeface="Calibri"/>
                <a:ea typeface="Calibri"/>
                <a:cs typeface="Calibri"/>
                <a:sym typeface="Calibri"/>
              </a:rPr>
              <a:t>+15%</a:t>
            </a:r>
            <a:endParaRPr b="0" i="0" sz="950" u="none" cap="none" strike="noStrike">
              <a:solidFill>
                <a:schemeClr val="dk1"/>
              </a:solidFill>
              <a:latin typeface="Calibri"/>
              <a:ea typeface="Calibri"/>
              <a:cs typeface="Calibri"/>
              <a:sym typeface="Calibri"/>
            </a:endParaRPr>
          </a:p>
        </p:txBody>
      </p:sp>
      <p:sp>
        <p:nvSpPr>
          <p:cNvPr id="297" name="Google Shape;297;p8"/>
          <p:cNvSpPr/>
          <p:nvPr/>
        </p:nvSpPr>
        <p:spPr>
          <a:xfrm>
            <a:off x="5669280" y="2606040"/>
            <a:ext cx="3154680" cy="2468880"/>
          </a:xfrm>
          <a:prstGeom prst="rect">
            <a:avLst/>
          </a:prstGeom>
          <a:solidFill>
            <a:srgbClr val="0A2342"/>
          </a:solidFill>
          <a:ln cap="flat" cmpd="sng" w="12700">
            <a:solidFill>
              <a:srgbClr val="0A2342"/>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8"/>
          <p:cNvSpPr/>
          <p:nvPr/>
        </p:nvSpPr>
        <p:spPr>
          <a:xfrm>
            <a:off x="5806440" y="2743200"/>
            <a:ext cx="28803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C39A"/>
              </a:buClr>
              <a:buSzPts val="1300"/>
              <a:buFont typeface="Calibri"/>
              <a:buNone/>
            </a:pPr>
            <a:r>
              <a:rPr b="1" i="0" lang="en-US" sz="1300" u="none" cap="none" strike="noStrike">
                <a:solidFill>
                  <a:srgbClr val="02C39A"/>
                </a:solidFill>
                <a:latin typeface="Calibri"/>
                <a:ea typeface="Calibri"/>
                <a:cs typeface="Calibri"/>
                <a:sym typeface="Calibri"/>
              </a:rPr>
              <a:t>🔍 SHAP Insights</a:t>
            </a:r>
            <a:endParaRPr b="0" i="0" sz="1300" u="none" cap="none" strike="noStrike">
              <a:solidFill>
                <a:schemeClr val="dk1"/>
              </a:solidFill>
              <a:latin typeface="Calibri"/>
              <a:ea typeface="Calibri"/>
              <a:cs typeface="Calibri"/>
              <a:sym typeface="Calibri"/>
            </a:endParaRPr>
          </a:p>
        </p:txBody>
      </p:sp>
      <p:sp>
        <p:nvSpPr>
          <p:cNvPr id="299" name="Google Shape;299;p8"/>
          <p:cNvSpPr/>
          <p:nvPr/>
        </p:nvSpPr>
        <p:spPr>
          <a:xfrm>
            <a:off x="5833872" y="3182112"/>
            <a:ext cx="27432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D8E0"/>
              </a:buClr>
              <a:buSzPts val="1000"/>
              <a:buFont typeface="Calibri"/>
              <a:buNone/>
            </a:pPr>
            <a:r>
              <a:rPr b="0" i="0" lang="en-US" sz="1000" u="none" cap="none" strike="noStrike">
                <a:solidFill>
                  <a:srgbClr val="C8D8E0"/>
                </a:solidFill>
                <a:latin typeface="Calibri"/>
                <a:ea typeface="Calibri"/>
                <a:cs typeface="Calibri"/>
                <a:sym typeface="Calibri"/>
              </a:rPr>
              <a:t>InterviewScore → Highest impact (legitimate)</a:t>
            </a:r>
            <a:endParaRPr b="0" i="0" sz="1000" u="none" cap="none" strike="noStrike">
              <a:solidFill>
                <a:schemeClr val="dk1"/>
              </a:solidFill>
              <a:latin typeface="Calibri"/>
              <a:ea typeface="Calibri"/>
              <a:cs typeface="Calibri"/>
              <a:sym typeface="Calibri"/>
            </a:endParaRPr>
          </a:p>
        </p:txBody>
      </p:sp>
      <p:sp>
        <p:nvSpPr>
          <p:cNvPr id="300" name="Google Shape;300;p8"/>
          <p:cNvSpPr/>
          <p:nvPr/>
        </p:nvSpPr>
        <p:spPr>
          <a:xfrm>
            <a:off x="5833872" y="3502152"/>
            <a:ext cx="27432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D8E0"/>
              </a:buClr>
              <a:buSzPts val="1000"/>
              <a:buFont typeface="Calibri"/>
              <a:buNone/>
            </a:pPr>
            <a:r>
              <a:rPr b="0" i="0" lang="en-US" sz="1000" u="none" cap="none" strike="noStrike">
                <a:solidFill>
                  <a:srgbClr val="C8D8E0"/>
                </a:solidFill>
                <a:latin typeface="Calibri"/>
                <a:ea typeface="Calibri"/>
                <a:cs typeface="Calibri"/>
                <a:sym typeface="Calibri"/>
              </a:rPr>
              <a:t>SkillScore → 2nd highest (legitimate)</a:t>
            </a:r>
            <a:endParaRPr b="0" i="0" sz="1000" u="none" cap="none" strike="noStrike">
              <a:solidFill>
                <a:schemeClr val="dk1"/>
              </a:solidFill>
              <a:latin typeface="Calibri"/>
              <a:ea typeface="Calibri"/>
              <a:cs typeface="Calibri"/>
              <a:sym typeface="Calibri"/>
            </a:endParaRPr>
          </a:p>
        </p:txBody>
      </p:sp>
      <p:sp>
        <p:nvSpPr>
          <p:cNvPr id="301" name="Google Shape;301;p8"/>
          <p:cNvSpPr/>
          <p:nvPr/>
        </p:nvSpPr>
        <p:spPr>
          <a:xfrm>
            <a:off x="5833872" y="3822192"/>
            <a:ext cx="27432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D8E0"/>
              </a:buClr>
              <a:buSzPts val="1000"/>
              <a:buFont typeface="Calibri"/>
              <a:buNone/>
            </a:pPr>
            <a:r>
              <a:rPr b="0" i="0" lang="en-US" sz="1000" u="none" cap="none" strike="noStrike">
                <a:solidFill>
                  <a:srgbClr val="C8D8E0"/>
                </a:solidFill>
                <a:latin typeface="Calibri"/>
                <a:ea typeface="Calibri"/>
                <a:cs typeface="Calibri"/>
                <a:sym typeface="Calibri"/>
              </a:rPr>
              <a:t>ExperienceYears → 3rd (legitimate)</a:t>
            </a:r>
            <a:endParaRPr b="0" i="0" sz="1000" u="none" cap="none" strike="noStrike">
              <a:solidFill>
                <a:schemeClr val="dk1"/>
              </a:solidFill>
              <a:latin typeface="Calibri"/>
              <a:ea typeface="Calibri"/>
              <a:cs typeface="Calibri"/>
              <a:sym typeface="Calibri"/>
            </a:endParaRPr>
          </a:p>
        </p:txBody>
      </p:sp>
      <p:sp>
        <p:nvSpPr>
          <p:cNvPr id="302" name="Google Shape;302;p8"/>
          <p:cNvSpPr/>
          <p:nvPr/>
        </p:nvSpPr>
        <p:spPr>
          <a:xfrm>
            <a:off x="5833872" y="4142232"/>
            <a:ext cx="27432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000"/>
              <a:buFont typeface="Calibri"/>
              <a:buNone/>
            </a:pPr>
            <a:r>
              <a:rPr b="1" i="0" lang="en-US" sz="1000" u="none" cap="none" strike="noStrike">
                <a:solidFill>
                  <a:srgbClr val="F59E0B"/>
                </a:solidFill>
                <a:latin typeface="Calibri"/>
                <a:ea typeface="Calibri"/>
                <a:cs typeface="Calibri"/>
                <a:sym typeface="Calibri"/>
              </a:rPr>
              <a:t>Gender → Significant SHAP value ❌</a:t>
            </a:r>
            <a:endParaRPr b="0" i="0" sz="1000" u="none" cap="none" strike="noStrike">
              <a:solidFill>
                <a:schemeClr val="dk1"/>
              </a:solidFill>
              <a:latin typeface="Calibri"/>
              <a:ea typeface="Calibri"/>
              <a:cs typeface="Calibri"/>
              <a:sym typeface="Calibri"/>
            </a:endParaRPr>
          </a:p>
        </p:txBody>
      </p:sp>
      <p:sp>
        <p:nvSpPr>
          <p:cNvPr id="303" name="Google Shape;303;p8"/>
          <p:cNvSpPr/>
          <p:nvPr/>
        </p:nvSpPr>
        <p:spPr>
          <a:xfrm>
            <a:off x="6080760" y="4462272"/>
            <a:ext cx="27432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0C0CC"/>
              </a:buClr>
              <a:buSzPts val="900"/>
              <a:buFont typeface="Calibri"/>
              <a:buNone/>
            </a:pPr>
            <a:r>
              <a:rPr b="0" i="0" lang="en-US" sz="900" u="none" cap="none" strike="noStrike">
                <a:solidFill>
                  <a:srgbClr val="A0C0CC"/>
                </a:solidFill>
                <a:latin typeface="Calibri"/>
                <a:ea typeface="Calibri"/>
                <a:cs typeface="Calibri"/>
                <a:sym typeface="Calibri"/>
              </a:rPr>
              <a:t>Blue (Female) dots → Left (−SHAP)</a:t>
            </a:r>
            <a:endParaRPr b="0" i="0" sz="900" u="none" cap="none" strike="noStrike">
              <a:solidFill>
                <a:schemeClr val="dk1"/>
              </a:solidFill>
              <a:latin typeface="Calibri"/>
              <a:ea typeface="Calibri"/>
              <a:cs typeface="Calibri"/>
              <a:sym typeface="Calibri"/>
            </a:endParaRPr>
          </a:p>
        </p:txBody>
      </p:sp>
      <p:sp>
        <p:nvSpPr>
          <p:cNvPr id="304" name="Google Shape;304;p8"/>
          <p:cNvSpPr/>
          <p:nvPr/>
        </p:nvSpPr>
        <p:spPr>
          <a:xfrm>
            <a:off x="6080760" y="4782312"/>
            <a:ext cx="27432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0C0CC"/>
              </a:buClr>
              <a:buSzPts val="900"/>
              <a:buFont typeface="Calibri"/>
              <a:buNone/>
            </a:pPr>
            <a:r>
              <a:rPr b="0" i="0" lang="en-US" sz="900" u="none" cap="none" strike="noStrike">
                <a:solidFill>
                  <a:srgbClr val="A0C0CC"/>
                </a:solidFill>
                <a:latin typeface="Calibri"/>
                <a:ea typeface="Calibri"/>
                <a:cs typeface="Calibri"/>
                <a:sym typeface="Calibri"/>
              </a:rPr>
              <a:t>Red (Male) dots → Right (+SHAP)</a:t>
            </a:r>
            <a:endParaRPr b="0" i="0" sz="900" u="none" cap="none" strike="noStrike">
              <a:solidFill>
                <a:schemeClr val="dk1"/>
              </a:solidFill>
              <a:latin typeface="Calibri"/>
              <a:ea typeface="Calibri"/>
              <a:cs typeface="Calibri"/>
              <a:sym typeface="Calibri"/>
            </a:endParaRPr>
          </a:p>
        </p:txBody>
      </p:sp>
      <p:sp>
        <p:nvSpPr>
          <p:cNvPr id="305" name="Google Shape;305;p8"/>
          <p:cNvSpPr/>
          <p:nvPr/>
        </p:nvSpPr>
        <p:spPr>
          <a:xfrm>
            <a:off x="5833872" y="5102352"/>
            <a:ext cx="27432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D8E0"/>
              </a:buClr>
              <a:buSzPts val="1000"/>
              <a:buFont typeface="Calibri"/>
              <a:buNone/>
            </a:pPr>
            <a:r>
              <a:rPr b="0" i="0" lang="en-US" sz="1000" u="none" cap="none" strike="noStrike">
                <a:solidFill>
                  <a:srgbClr val="C8D8E0"/>
                </a:solidFill>
                <a:latin typeface="Calibri"/>
                <a:ea typeface="Calibri"/>
                <a:cs typeface="Calibri"/>
                <a:sym typeface="Calibri"/>
              </a:rPr>
              <a:t>Gender used comparably to</a:t>
            </a:r>
            <a:endParaRPr b="0" i="0" sz="1000" u="none" cap="none" strike="noStrike">
              <a:solidFill>
                <a:schemeClr val="dk1"/>
              </a:solidFill>
              <a:latin typeface="Calibri"/>
              <a:ea typeface="Calibri"/>
              <a:cs typeface="Calibri"/>
              <a:sym typeface="Calibri"/>
            </a:endParaRPr>
          </a:p>
        </p:txBody>
      </p:sp>
      <p:sp>
        <p:nvSpPr>
          <p:cNvPr id="306" name="Google Shape;306;p8"/>
          <p:cNvSpPr/>
          <p:nvPr/>
        </p:nvSpPr>
        <p:spPr>
          <a:xfrm>
            <a:off x="6080760" y="5422392"/>
            <a:ext cx="27432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900"/>
              <a:buFont typeface="Calibri"/>
              <a:buNone/>
            </a:pPr>
            <a:r>
              <a:rPr b="1" i="0" lang="en-US" sz="900" u="none" cap="none" strike="noStrike">
                <a:solidFill>
                  <a:srgbClr val="F59E0B"/>
                </a:solidFill>
                <a:latin typeface="Calibri"/>
                <a:ea typeface="Calibri"/>
                <a:cs typeface="Calibri"/>
                <a:sym typeface="Calibri"/>
              </a:rPr>
              <a:t>ExperienceYears — deeply problematic</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1" name="Shape 311"/>
        <p:cNvGrpSpPr/>
        <p:nvPr/>
      </p:nvGrpSpPr>
      <p:grpSpPr>
        <a:xfrm>
          <a:off x="0" y="0"/>
          <a:ext cx="0" cy="0"/>
          <a:chOff x="0" y="0"/>
          <a:chExt cx="0" cy="0"/>
        </a:xfrm>
      </p:grpSpPr>
      <p:sp>
        <p:nvSpPr>
          <p:cNvPr id="312" name="Google Shape;312;p9"/>
          <p:cNvSpPr/>
          <p:nvPr/>
        </p:nvSpPr>
        <p:spPr>
          <a:xfrm>
            <a:off x="0" y="0"/>
            <a:ext cx="9144000" cy="1005840"/>
          </a:xfrm>
          <a:prstGeom prst="rect">
            <a:avLst/>
          </a:prstGeom>
          <a:solidFill>
            <a:srgbClr val="0A2342"/>
          </a:solidFill>
          <a:ln cap="flat" cmpd="sng" w="12700">
            <a:solidFill>
              <a:srgbClr val="0A23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9"/>
          <p:cNvSpPr/>
          <p:nvPr/>
        </p:nvSpPr>
        <p:spPr>
          <a:xfrm>
            <a:off x="320040" y="137160"/>
            <a:ext cx="64008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C39A"/>
              </a:buClr>
              <a:buSzPts val="2800"/>
              <a:buFont typeface="Calibri"/>
              <a:buNone/>
            </a:pPr>
            <a:r>
              <a:rPr b="1" i="0" lang="en-US" sz="2800" u="none" cap="none" strike="noStrike">
                <a:solidFill>
                  <a:srgbClr val="02C39A"/>
                </a:solidFill>
                <a:latin typeface="Calibri"/>
                <a:ea typeface="Calibri"/>
                <a:cs typeface="Calibri"/>
                <a:sym typeface="Calibri"/>
              </a:rPr>
              <a:t>07</a:t>
            </a:r>
            <a:endParaRPr b="0" i="0" sz="2800" u="none" cap="none" strike="noStrike">
              <a:solidFill>
                <a:schemeClr val="dk1"/>
              </a:solidFill>
              <a:latin typeface="Calibri"/>
              <a:ea typeface="Calibri"/>
              <a:cs typeface="Calibri"/>
              <a:sym typeface="Calibri"/>
            </a:endParaRPr>
          </a:p>
        </p:txBody>
      </p:sp>
      <p:sp>
        <p:nvSpPr>
          <p:cNvPr id="314" name="Google Shape;314;p9"/>
          <p:cNvSpPr/>
          <p:nvPr/>
        </p:nvSpPr>
        <p:spPr>
          <a:xfrm>
            <a:off x="1005840" y="182880"/>
            <a:ext cx="64008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Calibri"/>
              <a:buNone/>
            </a:pPr>
            <a:r>
              <a:rPr b="1" i="0" lang="en-US" sz="2800" u="none" cap="none" strike="noStrike">
                <a:solidFill>
                  <a:srgbClr val="FFFFFF"/>
                </a:solidFill>
                <a:latin typeface="Calibri"/>
                <a:ea typeface="Calibri"/>
                <a:cs typeface="Calibri"/>
                <a:sym typeface="Calibri"/>
              </a:rPr>
              <a:t>Results — After Mitigation</a:t>
            </a:r>
            <a:endParaRPr b="0" i="0" sz="2800" u="none" cap="none" strike="noStrike">
              <a:solidFill>
                <a:schemeClr val="dk1"/>
              </a:solidFill>
              <a:latin typeface="Calibri"/>
              <a:ea typeface="Calibri"/>
              <a:cs typeface="Calibri"/>
              <a:sym typeface="Calibri"/>
            </a:endParaRPr>
          </a:p>
        </p:txBody>
      </p:sp>
      <p:sp>
        <p:nvSpPr>
          <p:cNvPr id="315" name="Google Shape;315;p9"/>
          <p:cNvSpPr/>
          <p:nvPr/>
        </p:nvSpPr>
        <p:spPr>
          <a:xfrm>
            <a:off x="320040" y="1097280"/>
            <a:ext cx="5029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2342"/>
              </a:buClr>
              <a:buSzPts val="1400"/>
              <a:buFont typeface="Calibri"/>
              <a:buNone/>
            </a:pPr>
            <a:r>
              <a:rPr b="1" i="0" lang="en-US" sz="1400" u="none" cap="none" strike="noStrike">
                <a:solidFill>
                  <a:srgbClr val="0A2342"/>
                </a:solidFill>
                <a:latin typeface="Calibri"/>
                <a:ea typeface="Calibri"/>
                <a:cs typeface="Calibri"/>
                <a:sym typeface="Calibri"/>
              </a:rPr>
              <a:t>Before vs. After Bias Mitigation</a:t>
            </a:r>
            <a:endParaRPr b="0" i="0" sz="1400" u="none" cap="none" strike="noStrike">
              <a:solidFill>
                <a:schemeClr val="dk1"/>
              </a:solidFill>
              <a:latin typeface="Calibri"/>
              <a:ea typeface="Calibri"/>
              <a:cs typeface="Calibri"/>
              <a:sym typeface="Calibri"/>
            </a:endParaRPr>
          </a:p>
        </p:txBody>
      </p:sp>
      <p:sp>
        <p:nvSpPr>
          <p:cNvPr id="316" name="Google Shape;316;p9"/>
          <p:cNvSpPr/>
          <p:nvPr/>
        </p:nvSpPr>
        <p:spPr>
          <a:xfrm>
            <a:off x="320040" y="1572768"/>
            <a:ext cx="1828800" cy="438912"/>
          </a:xfrm>
          <a:prstGeom prst="rect">
            <a:avLst/>
          </a:prstGeom>
          <a:solidFill>
            <a:srgbClr val="0A2342"/>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9"/>
          <p:cNvSpPr/>
          <p:nvPr/>
        </p:nvSpPr>
        <p:spPr>
          <a:xfrm>
            <a:off x="365760" y="1645920"/>
            <a:ext cx="173736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Metric</a:t>
            </a:r>
            <a:endParaRPr b="0" i="0" sz="950" u="none" cap="none" strike="noStrike">
              <a:solidFill>
                <a:schemeClr val="dk1"/>
              </a:solidFill>
              <a:latin typeface="Calibri"/>
              <a:ea typeface="Calibri"/>
              <a:cs typeface="Calibri"/>
              <a:sym typeface="Calibri"/>
            </a:endParaRPr>
          </a:p>
        </p:txBody>
      </p:sp>
      <p:sp>
        <p:nvSpPr>
          <p:cNvPr id="318" name="Google Shape;318;p9"/>
          <p:cNvSpPr/>
          <p:nvPr/>
        </p:nvSpPr>
        <p:spPr>
          <a:xfrm>
            <a:off x="2148840" y="1572768"/>
            <a:ext cx="1371600" cy="438912"/>
          </a:xfrm>
          <a:prstGeom prst="rect">
            <a:avLst/>
          </a:prstGeom>
          <a:solidFill>
            <a:srgbClr val="EF4444"/>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9"/>
          <p:cNvSpPr/>
          <p:nvPr/>
        </p:nvSpPr>
        <p:spPr>
          <a:xfrm>
            <a:off x="2194560" y="1645920"/>
            <a:ext cx="128016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Baseline</a:t>
            </a:r>
            <a:endParaRPr b="0" i="0" sz="950" u="none" cap="none" strike="noStrike">
              <a:solidFill>
                <a:schemeClr val="dk1"/>
              </a:solidFill>
              <a:latin typeface="Calibri"/>
              <a:ea typeface="Calibri"/>
              <a:cs typeface="Calibri"/>
              <a:sym typeface="Calibri"/>
            </a:endParaRPr>
          </a:p>
        </p:txBody>
      </p:sp>
      <p:sp>
        <p:nvSpPr>
          <p:cNvPr id="320" name="Google Shape;320;p9"/>
          <p:cNvSpPr/>
          <p:nvPr/>
        </p:nvSpPr>
        <p:spPr>
          <a:xfrm>
            <a:off x="3520440" y="1572768"/>
            <a:ext cx="1371600" cy="438912"/>
          </a:xfrm>
          <a:prstGeom prst="rect">
            <a:avLst/>
          </a:prstGeom>
          <a:solidFill>
            <a:srgbClr val="F59E0B"/>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9"/>
          <p:cNvSpPr/>
          <p:nvPr/>
        </p:nvSpPr>
        <p:spPr>
          <a:xfrm>
            <a:off x="3566160" y="1645920"/>
            <a:ext cx="128016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Reweighted</a:t>
            </a:r>
            <a:endParaRPr b="0" i="0" sz="950" u="none" cap="none" strike="noStrike">
              <a:solidFill>
                <a:schemeClr val="dk1"/>
              </a:solidFill>
              <a:latin typeface="Calibri"/>
              <a:ea typeface="Calibri"/>
              <a:cs typeface="Calibri"/>
              <a:sym typeface="Calibri"/>
            </a:endParaRPr>
          </a:p>
        </p:txBody>
      </p:sp>
      <p:sp>
        <p:nvSpPr>
          <p:cNvPr id="322" name="Google Shape;322;p9"/>
          <p:cNvSpPr/>
          <p:nvPr/>
        </p:nvSpPr>
        <p:spPr>
          <a:xfrm>
            <a:off x="4892040" y="1572768"/>
            <a:ext cx="1463040" cy="438912"/>
          </a:xfrm>
          <a:prstGeom prst="rect">
            <a:avLst/>
          </a:prstGeom>
          <a:solidFill>
            <a:srgbClr val="10B981"/>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9"/>
          <p:cNvSpPr/>
          <p:nvPr/>
        </p:nvSpPr>
        <p:spPr>
          <a:xfrm>
            <a:off x="4937760" y="1645920"/>
            <a:ext cx="137160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ExpGradient</a:t>
            </a:r>
            <a:endParaRPr b="0" i="0" sz="950" u="none" cap="none" strike="noStrike">
              <a:solidFill>
                <a:schemeClr val="dk1"/>
              </a:solidFill>
              <a:latin typeface="Calibri"/>
              <a:ea typeface="Calibri"/>
              <a:cs typeface="Calibri"/>
              <a:sym typeface="Calibri"/>
            </a:endParaRPr>
          </a:p>
        </p:txBody>
      </p:sp>
      <p:sp>
        <p:nvSpPr>
          <p:cNvPr id="324" name="Google Shape;324;p9"/>
          <p:cNvSpPr/>
          <p:nvPr/>
        </p:nvSpPr>
        <p:spPr>
          <a:xfrm>
            <a:off x="6355080" y="1572768"/>
            <a:ext cx="1005840" cy="438912"/>
          </a:xfrm>
          <a:prstGeom prst="rect">
            <a:avLst/>
          </a:prstGeom>
          <a:solidFill>
            <a:srgbClr val="028090"/>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9"/>
          <p:cNvSpPr/>
          <p:nvPr/>
        </p:nvSpPr>
        <p:spPr>
          <a:xfrm>
            <a:off x="6400800" y="1645920"/>
            <a:ext cx="91440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Ideal</a:t>
            </a:r>
            <a:endParaRPr b="0" i="0" sz="950" u="none" cap="none" strike="noStrike">
              <a:solidFill>
                <a:schemeClr val="dk1"/>
              </a:solidFill>
              <a:latin typeface="Calibri"/>
              <a:ea typeface="Calibri"/>
              <a:cs typeface="Calibri"/>
              <a:sym typeface="Calibri"/>
            </a:endParaRPr>
          </a:p>
        </p:txBody>
      </p:sp>
      <p:sp>
        <p:nvSpPr>
          <p:cNvPr id="326" name="Google Shape;326;p9"/>
          <p:cNvSpPr/>
          <p:nvPr/>
        </p:nvSpPr>
        <p:spPr>
          <a:xfrm>
            <a:off x="320040" y="2048256"/>
            <a:ext cx="1828800" cy="438912"/>
          </a:xfrm>
          <a:prstGeom prst="rect">
            <a:avLst/>
          </a:prstGeom>
          <a:solidFill>
            <a:srgbClr val="0A2342"/>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9"/>
          <p:cNvSpPr/>
          <p:nvPr/>
        </p:nvSpPr>
        <p:spPr>
          <a:xfrm>
            <a:off x="365760" y="2121408"/>
            <a:ext cx="173736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0" i="0" lang="en-US" sz="1050" u="none" cap="none" strike="noStrike">
                <a:solidFill>
                  <a:srgbClr val="FFFFFF"/>
                </a:solidFill>
                <a:latin typeface="Calibri"/>
                <a:ea typeface="Calibri"/>
                <a:cs typeface="Calibri"/>
                <a:sym typeface="Calibri"/>
              </a:rPr>
              <a:t>Accuracy</a:t>
            </a:r>
            <a:endParaRPr b="0" i="0" sz="1050" u="none" cap="none" strike="noStrike">
              <a:solidFill>
                <a:schemeClr val="dk1"/>
              </a:solidFill>
              <a:latin typeface="Calibri"/>
              <a:ea typeface="Calibri"/>
              <a:cs typeface="Calibri"/>
              <a:sym typeface="Calibri"/>
            </a:endParaRPr>
          </a:p>
        </p:txBody>
      </p:sp>
      <p:sp>
        <p:nvSpPr>
          <p:cNvPr id="328" name="Google Shape;328;p9"/>
          <p:cNvSpPr/>
          <p:nvPr/>
        </p:nvSpPr>
        <p:spPr>
          <a:xfrm>
            <a:off x="2148840" y="2048256"/>
            <a:ext cx="1371600" cy="438912"/>
          </a:xfrm>
          <a:prstGeom prst="rect">
            <a:avLst/>
          </a:prstGeom>
          <a:solidFill>
            <a:srgbClr val="F0F7F8"/>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9"/>
          <p:cNvSpPr/>
          <p:nvPr/>
        </p:nvSpPr>
        <p:spPr>
          <a:xfrm>
            <a:off x="2194560" y="2121408"/>
            <a:ext cx="128016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050"/>
              <a:buFont typeface="Calibri"/>
              <a:buNone/>
            </a:pPr>
            <a:r>
              <a:rPr b="0" i="0" lang="en-US" sz="1050" u="none" cap="none" strike="noStrike">
                <a:solidFill>
                  <a:srgbClr val="1E293B"/>
                </a:solidFill>
                <a:latin typeface="Calibri"/>
                <a:ea typeface="Calibri"/>
                <a:cs typeface="Calibri"/>
                <a:sym typeface="Calibri"/>
              </a:rPr>
              <a:t>71%</a:t>
            </a:r>
            <a:endParaRPr b="0" i="0" sz="1050" u="none" cap="none" strike="noStrike">
              <a:solidFill>
                <a:schemeClr val="dk1"/>
              </a:solidFill>
              <a:latin typeface="Calibri"/>
              <a:ea typeface="Calibri"/>
              <a:cs typeface="Calibri"/>
              <a:sym typeface="Calibri"/>
            </a:endParaRPr>
          </a:p>
        </p:txBody>
      </p:sp>
      <p:sp>
        <p:nvSpPr>
          <p:cNvPr id="330" name="Google Shape;330;p9"/>
          <p:cNvSpPr/>
          <p:nvPr/>
        </p:nvSpPr>
        <p:spPr>
          <a:xfrm>
            <a:off x="3520440" y="2048256"/>
            <a:ext cx="1371600" cy="438912"/>
          </a:xfrm>
          <a:prstGeom prst="rect">
            <a:avLst/>
          </a:prstGeom>
          <a:solidFill>
            <a:srgbClr val="F0F7F8"/>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9"/>
          <p:cNvSpPr/>
          <p:nvPr/>
        </p:nvSpPr>
        <p:spPr>
          <a:xfrm>
            <a:off x="3566160" y="2121408"/>
            <a:ext cx="128016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050"/>
              <a:buFont typeface="Calibri"/>
              <a:buNone/>
            </a:pPr>
            <a:r>
              <a:rPr b="0" i="0" lang="en-US" sz="1050" u="none" cap="none" strike="noStrike">
                <a:solidFill>
                  <a:srgbClr val="1E293B"/>
                </a:solidFill>
                <a:latin typeface="Calibri"/>
                <a:ea typeface="Calibri"/>
                <a:cs typeface="Calibri"/>
                <a:sym typeface="Calibri"/>
              </a:rPr>
              <a:t>69%</a:t>
            </a:r>
            <a:endParaRPr b="0" i="0" sz="1050" u="none" cap="none" strike="noStrike">
              <a:solidFill>
                <a:schemeClr val="dk1"/>
              </a:solidFill>
              <a:latin typeface="Calibri"/>
              <a:ea typeface="Calibri"/>
              <a:cs typeface="Calibri"/>
              <a:sym typeface="Calibri"/>
            </a:endParaRPr>
          </a:p>
        </p:txBody>
      </p:sp>
      <p:sp>
        <p:nvSpPr>
          <p:cNvPr id="332" name="Google Shape;332;p9"/>
          <p:cNvSpPr/>
          <p:nvPr/>
        </p:nvSpPr>
        <p:spPr>
          <a:xfrm>
            <a:off x="4892040" y="2048256"/>
            <a:ext cx="1463040" cy="438912"/>
          </a:xfrm>
          <a:prstGeom prst="rect">
            <a:avLst/>
          </a:prstGeom>
          <a:solidFill>
            <a:srgbClr val="F0F7F8"/>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9"/>
          <p:cNvSpPr/>
          <p:nvPr/>
        </p:nvSpPr>
        <p:spPr>
          <a:xfrm>
            <a:off x="4937760" y="2121408"/>
            <a:ext cx="137160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050"/>
              <a:buFont typeface="Calibri"/>
              <a:buNone/>
            </a:pPr>
            <a:r>
              <a:rPr b="0" i="0" lang="en-US" sz="1050" u="none" cap="none" strike="noStrike">
                <a:solidFill>
                  <a:srgbClr val="1E293B"/>
                </a:solidFill>
                <a:latin typeface="Calibri"/>
                <a:ea typeface="Calibri"/>
                <a:cs typeface="Calibri"/>
                <a:sym typeface="Calibri"/>
              </a:rPr>
              <a:t>68%</a:t>
            </a:r>
            <a:endParaRPr b="0" i="0" sz="1050" u="none" cap="none" strike="noStrike">
              <a:solidFill>
                <a:schemeClr val="dk1"/>
              </a:solidFill>
              <a:latin typeface="Calibri"/>
              <a:ea typeface="Calibri"/>
              <a:cs typeface="Calibri"/>
              <a:sym typeface="Calibri"/>
            </a:endParaRPr>
          </a:p>
        </p:txBody>
      </p:sp>
      <p:sp>
        <p:nvSpPr>
          <p:cNvPr id="334" name="Google Shape;334;p9"/>
          <p:cNvSpPr/>
          <p:nvPr/>
        </p:nvSpPr>
        <p:spPr>
          <a:xfrm>
            <a:off x="6355080" y="2048256"/>
            <a:ext cx="1005840" cy="438912"/>
          </a:xfrm>
          <a:prstGeom prst="rect">
            <a:avLst/>
          </a:prstGeom>
          <a:solidFill>
            <a:srgbClr val="F0F7F8"/>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9"/>
          <p:cNvSpPr/>
          <p:nvPr/>
        </p:nvSpPr>
        <p:spPr>
          <a:xfrm>
            <a:off x="6400800" y="2121408"/>
            <a:ext cx="91440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050"/>
              <a:buFont typeface="Calibri"/>
              <a:buNone/>
            </a:pPr>
            <a:r>
              <a:rPr b="0" i="0" lang="en-US" sz="1050" u="none" cap="none" strike="noStrike">
                <a:solidFill>
                  <a:srgbClr val="1E293B"/>
                </a:solidFill>
                <a:latin typeface="Calibri"/>
                <a:ea typeface="Calibri"/>
                <a:cs typeface="Calibri"/>
                <a:sym typeface="Calibri"/>
              </a:rPr>
              <a:t>—</a:t>
            </a:r>
            <a:endParaRPr b="0" i="0" sz="1050" u="none" cap="none" strike="noStrike">
              <a:solidFill>
                <a:schemeClr val="dk1"/>
              </a:solidFill>
              <a:latin typeface="Calibri"/>
              <a:ea typeface="Calibri"/>
              <a:cs typeface="Calibri"/>
              <a:sym typeface="Calibri"/>
            </a:endParaRPr>
          </a:p>
        </p:txBody>
      </p:sp>
      <p:sp>
        <p:nvSpPr>
          <p:cNvPr id="336" name="Google Shape;336;p9"/>
          <p:cNvSpPr/>
          <p:nvPr/>
        </p:nvSpPr>
        <p:spPr>
          <a:xfrm>
            <a:off x="320040" y="2523744"/>
            <a:ext cx="1828800" cy="438912"/>
          </a:xfrm>
          <a:prstGeom prst="rect">
            <a:avLst/>
          </a:prstGeom>
          <a:solidFill>
            <a:srgbClr val="0A2342"/>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9"/>
          <p:cNvSpPr/>
          <p:nvPr/>
        </p:nvSpPr>
        <p:spPr>
          <a:xfrm>
            <a:off x="365760" y="2596896"/>
            <a:ext cx="173736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0" i="0" lang="en-US" sz="1050" u="none" cap="none" strike="noStrike">
                <a:solidFill>
                  <a:srgbClr val="FFFFFF"/>
                </a:solidFill>
                <a:latin typeface="Calibri"/>
                <a:ea typeface="Calibri"/>
                <a:cs typeface="Calibri"/>
                <a:sym typeface="Calibri"/>
              </a:rPr>
              <a:t>DP Difference ↓</a:t>
            </a:r>
            <a:endParaRPr b="0" i="0" sz="1050" u="none" cap="none" strike="noStrike">
              <a:solidFill>
                <a:schemeClr val="dk1"/>
              </a:solidFill>
              <a:latin typeface="Calibri"/>
              <a:ea typeface="Calibri"/>
              <a:cs typeface="Calibri"/>
              <a:sym typeface="Calibri"/>
            </a:endParaRPr>
          </a:p>
        </p:txBody>
      </p:sp>
      <p:sp>
        <p:nvSpPr>
          <p:cNvPr id="338" name="Google Shape;338;p9"/>
          <p:cNvSpPr/>
          <p:nvPr/>
        </p:nvSpPr>
        <p:spPr>
          <a:xfrm>
            <a:off x="2148840" y="2523744"/>
            <a:ext cx="1371600" cy="438912"/>
          </a:xfrm>
          <a:prstGeom prst="rect">
            <a:avLst/>
          </a:prstGeom>
          <a:solidFill>
            <a:srgbClr val="FFFFFF"/>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9"/>
          <p:cNvSpPr/>
          <p:nvPr/>
        </p:nvSpPr>
        <p:spPr>
          <a:xfrm>
            <a:off x="2194560" y="2596896"/>
            <a:ext cx="128016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F4444"/>
              </a:buClr>
              <a:buSzPts val="1050"/>
              <a:buFont typeface="Calibri"/>
              <a:buNone/>
            </a:pPr>
            <a:r>
              <a:rPr b="1" i="0" lang="en-US" sz="1050" u="none" cap="none" strike="noStrike">
                <a:solidFill>
                  <a:srgbClr val="EF4444"/>
                </a:solidFill>
                <a:latin typeface="Calibri"/>
                <a:ea typeface="Calibri"/>
                <a:cs typeface="Calibri"/>
                <a:sym typeface="Calibri"/>
              </a:rPr>
              <a:t>0.23  ❌</a:t>
            </a:r>
            <a:endParaRPr b="0" i="0" sz="1050" u="none" cap="none" strike="noStrike">
              <a:solidFill>
                <a:schemeClr val="dk1"/>
              </a:solidFill>
              <a:latin typeface="Calibri"/>
              <a:ea typeface="Calibri"/>
              <a:cs typeface="Calibri"/>
              <a:sym typeface="Calibri"/>
            </a:endParaRPr>
          </a:p>
        </p:txBody>
      </p:sp>
      <p:sp>
        <p:nvSpPr>
          <p:cNvPr id="340" name="Google Shape;340;p9"/>
          <p:cNvSpPr/>
          <p:nvPr/>
        </p:nvSpPr>
        <p:spPr>
          <a:xfrm>
            <a:off x="3520440" y="2523744"/>
            <a:ext cx="1371600" cy="438912"/>
          </a:xfrm>
          <a:prstGeom prst="rect">
            <a:avLst/>
          </a:prstGeom>
          <a:solidFill>
            <a:srgbClr val="FFFFFF"/>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9"/>
          <p:cNvSpPr/>
          <p:nvPr/>
        </p:nvSpPr>
        <p:spPr>
          <a:xfrm>
            <a:off x="3566160" y="2596896"/>
            <a:ext cx="128016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9E0B"/>
              </a:buClr>
              <a:buSzPts val="1050"/>
              <a:buFont typeface="Calibri"/>
              <a:buNone/>
            </a:pPr>
            <a:r>
              <a:rPr b="0" i="0" lang="en-US" sz="1050" u="none" cap="none" strike="noStrike">
                <a:solidFill>
                  <a:srgbClr val="F59E0B"/>
                </a:solidFill>
                <a:latin typeface="Calibri"/>
                <a:ea typeface="Calibri"/>
                <a:cs typeface="Calibri"/>
                <a:sym typeface="Calibri"/>
              </a:rPr>
              <a:t>0.14  ⚠️</a:t>
            </a:r>
            <a:endParaRPr b="0" i="0" sz="1050" u="none" cap="none" strike="noStrike">
              <a:solidFill>
                <a:schemeClr val="dk1"/>
              </a:solidFill>
              <a:latin typeface="Calibri"/>
              <a:ea typeface="Calibri"/>
              <a:cs typeface="Calibri"/>
              <a:sym typeface="Calibri"/>
            </a:endParaRPr>
          </a:p>
        </p:txBody>
      </p:sp>
      <p:sp>
        <p:nvSpPr>
          <p:cNvPr id="342" name="Google Shape;342;p9"/>
          <p:cNvSpPr/>
          <p:nvPr/>
        </p:nvSpPr>
        <p:spPr>
          <a:xfrm>
            <a:off x="4892040" y="2523744"/>
            <a:ext cx="1463040" cy="438912"/>
          </a:xfrm>
          <a:prstGeom prst="rect">
            <a:avLst/>
          </a:prstGeom>
          <a:solidFill>
            <a:srgbClr val="FFFFFF"/>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9"/>
          <p:cNvSpPr/>
          <p:nvPr/>
        </p:nvSpPr>
        <p:spPr>
          <a:xfrm>
            <a:off x="4937760" y="2596896"/>
            <a:ext cx="137160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B981"/>
              </a:buClr>
              <a:buSzPts val="1050"/>
              <a:buFont typeface="Calibri"/>
              <a:buNone/>
            </a:pPr>
            <a:r>
              <a:rPr b="1" i="0" lang="en-US" sz="1050" u="none" cap="none" strike="noStrike">
                <a:solidFill>
                  <a:srgbClr val="10B981"/>
                </a:solidFill>
                <a:latin typeface="Calibri"/>
                <a:ea typeface="Calibri"/>
                <a:cs typeface="Calibri"/>
                <a:sym typeface="Calibri"/>
              </a:rPr>
              <a:t>0.03  ✅</a:t>
            </a:r>
            <a:endParaRPr b="0" i="0" sz="1050" u="none" cap="none" strike="noStrike">
              <a:solidFill>
                <a:schemeClr val="dk1"/>
              </a:solidFill>
              <a:latin typeface="Calibri"/>
              <a:ea typeface="Calibri"/>
              <a:cs typeface="Calibri"/>
              <a:sym typeface="Calibri"/>
            </a:endParaRPr>
          </a:p>
        </p:txBody>
      </p:sp>
      <p:sp>
        <p:nvSpPr>
          <p:cNvPr id="344" name="Google Shape;344;p9"/>
          <p:cNvSpPr/>
          <p:nvPr/>
        </p:nvSpPr>
        <p:spPr>
          <a:xfrm>
            <a:off x="6355080" y="2523744"/>
            <a:ext cx="1005840" cy="438912"/>
          </a:xfrm>
          <a:prstGeom prst="rect">
            <a:avLst/>
          </a:prstGeom>
          <a:solidFill>
            <a:srgbClr val="FFFFFF"/>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9"/>
          <p:cNvSpPr/>
          <p:nvPr/>
        </p:nvSpPr>
        <p:spPr>
          <a:xfrm>
            <a:off x="6400800" y="2596896"/>
            <a:ext cx="91440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050"/>
              <a:buFont typeface="Calibri"/>
              <a:buNone/>
            </a:pPr>
            <a:r>
              <a:rPr b="0" i="0" lang="en-US" sz="1050" u="none" cap="none" strike="noStrike">
                <a:solidFill>
                  <a:srgbClr val="1E293B"/>
                </a:solidFill>
                <a:latin typeface="Calibri"/>
                <a:ea typeface="Calibri"/>
                <a:cs typeface="Calibri"/>
                <a:sym typeface="Calibri"/>
              </a:rPr>
              <a:t>0</a:t>
            </a:r>
            <a:endParaRPr b="0" i="0" sz="1050" u="none" cap="none" strike="noStrike">
              <a:solidFill>
                <a:schemeClr val="dk1"/>
              </a:solidFill>
              <a:latin typeface="Calibri"/>
              <a:ea typeface="Calibri"/>
              <a:cs typeface="Calibri"/>
              <a:sym typeface="Calibri"/>
            </a:endParaRPr>
          </a:p>
        </p:txBody>
      </p:sp>
      <p:sp>
        <p:nvSpPr>
          <p:cNvPr id="346" name="Google Shape;346;p9"/>
          <p:cNvSpPr/>
          <p:nvPr/>
        </p:nvSpPr>
        <p:spPr>
          <a:xfrm>
            <a:off x="320040" y="2999232"/>
            <a:ext cx="1828800" cy="438912"/>
          </a:xfrm>
          <a:prstGeom prst="rect">
            <a:avLst/>
          </a:prstGeom>
          <a:solidFill>
            <a:srgbClr val="0A2342"/>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9"/>
          <p:cNvSpPr/>
          <p:nvPr/>
        </p:nvSpPr>
        <p:spPr>
          <a:xfrm>
            <a:off x="365760" y="3072384"/>
            <a:ext cx="173736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0" i="0" lang="en-US" sz="1050" u="none" cap="none" strike="noStrike">
                <a:solidFill>
                  <a:srgbClr val="FFFFFF"/>
                </a:solidFill>
                <a:latin typeface="Calibri"/>
                <a:ea typeface="Calibri"/>
                <a:cs typeface="Calibri"/>
                <a:sym typeface="Calibri"/>
              </a:rPr>
              <a:t>DP Ratio ↑</a:t>
            </a:r>
            <a:endParaRPr b="0" i="0" sz="1050" u="none" cap="none" strike="noStrike">
              <a:solidFill>
                <a:schemeClr val="dk1"/>
              </a:solidFill>
              <a:latin typeface="Calibri"/>
              <a:ea typeface="Calibri"/>
              <a:cs typeface="Calibri"/>
              <a:sym typeface="Calibri"/>
            </a:endParaRPr>
          </a:p>
        </p:txBody>
      </p:sp>
      <p:sp>
        <p:nvSpPr>
          <p:cNvPr id="348" name="Google Shape;348;p9"/>
          <p:cNvSpPr/>
          <p:nvPr/>
        </p:nvSpPr>
        <p:spPr>
          <a:xfrm>
            <a:off x="2148840" y="2999232"/>
            <a:ext cx="1371600" cy="438912"/>
          </a:xfrm>
          <a:prstGeom prst="rect">
            <a:avLst/>
          </a:prstGeom>
          <a:solidFill>
            <a:srgbClr val="F0F7F8"/>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9"/>
          <p:cNvSpPr/>
          <p:nvPr/>
        </p:nvSpPr>
        <p:spPr>
          <a:xfrm>
            <a:off x="2194560" y="3072384"/>
            <a:ext cx="128016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F4444"/>
              </a:buClr>
              <a:buSzPts val="1050"/>
              <a:buFont typeface="Calibri"/>
              <a:buNone/>
            </a:pPr>
            <a:r>
              <a:rPr b="1" i="0" lang="en-US" sz="1050" u="none" cap="none" strike="noStrike">
                <a:solidFill>
                  <a:srgbClr val="EF4444"/>
                </a:solidFill>
                <a:latin typeface="Calibri"/>
                <a:ea typeface="Calibri"/>
                <a:cs typeface="Calibri"/>
                <a:sym typeface="Calibri"/>
              </a:rPr>
              <a:t>0.71  ❌</a:t>
            </a:r>
            <a:endParaRPr b="0" i="0" sz="1050" u="none" cap="none" strike="noStrike">
              <a:solidFill>
                <a:schemeClr val="dk1"/>
              </a:solidFill>
              <a:latin typeface="Calibri"/>
              <a:ea typeface="Calibri"/>
              <a:cs typeface="Calibri"/>
              <a:sym typeface="Calibri"/>
            </a:endParaRPr>
          </a:p>
        </p:txBody>
      </p:sp>
      <p:sp>
        <p:nvSpPr>
          <p:cNvPr id="350" name="Google Shape;350;p9"/>
          <p:cNvSpPr/>
          <p:nvPr/>
        </p:nvSpPr>
        <p:spPr>
          <a:xfrm>
            <a:off x="3520440" y="2999232"/>
            <a:ext cx="1371600" cy="438912"/>
          </a:xfrm>
          <a:prstGeom prst="rect">
            <a:avLst/>
          </a:prstGeom>
          <a:solidFill>
            <a:srgbClr val="F0F7F8"/>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9"/>
          <p:cNvSpPr/>
          <p:nvPr/>
        </p:nvSpPr>
        <p:spPr>
          <a:xfrm>
            <a:off x="3566160" y="3072384"/>
            <a:ext cx="128016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B981"/>
              </a:buClr>
              <a:buSzPts val="1050"/>
              <a:buFont typeface="Calibri"/>
              <a:buNone/>
            </a:pPr>
            <a:r>
              <a:rPr b="1" i="0" lang="en-US" sz="1050" u="none" cap="none" strike="noStrike">
                <a:solidFill>
                  <a:srgbClr val="10B981"/>
                </a:solidFill>
                <a:latin typeface="Calibri"/>
                <a:ea typeface="Calibri"/>
                <a:cs typeface="Calibri"/>
                <a:sym typeface="Calibri"/>
              </a:rPr>
              <a:t>0.82  ✅</a:t>
            </a:r>
            <a:endParaRPr b="0" i="0" sz="1050" u="none" cap="none" strike="noStrike">
              <a:solidFill>
                <a:schemeClr val="dk1"/>
              </a:solidFill>
              <a:latin typeface="Calibri"/>
              <a:ea typeface="Calibri"/>
              <a:cs typeface="Calibri"/>
              <a:sym typeface="Calibri"/>
            </a:endParaRPr>
          </a:p>
        </p:txBody>
      </p:sp>
      <p:sp>
        <p:nvSpPr>
          <p:cNvPr id="352" name="Google Shape;352;p9"/>
          <p:cNvSpPr/>
          <p:nvPr/>
        </p:nvSpPr>
        <p:spPr>
          <a:xfrm>
            <a:off x="4892040" y="2999232"/>
            <a:ext cx="1463040" cy="438912"/>
          </a:xfrm>
          <a:prstGeom prst="rect">
            <a:avLst/>
          </a:prstGeom>
          <a:solidFill>
            <a:srgbClr val="F0F7F8"/>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9"/>
          <p:cNvSpPr/>
          <p:nvPr/>
        </p:nvSpPr>
        <p:spPr>
          <a:xfrm>
            <a:off x="4937760" y="3072384"/>
            <a:ext cx="137160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B981"/>
              </a:buClr>
              <a:buSzPts val="1050"/>
              <a:buFont typeface="Calibri"/>
              <a:buNone/>
            </a:pPr>
            <a:r>
              <a:rPr b="1" i="0" lang="en-US" sz="1050" u="none" cap="none" strike="noStrike">
                <a:solidFill>
                  <a:srgbClr val="10B981"/>
                </a:solidFill>
                <a:latin typeface="Calibri"/>
                <a:ea typeface="Calibri"/>
                <a:cs typeface="Calibri"/>
                <a:sym typeface="Calibri"/>
              </a:rPr>
              <a:t>0.96  ✅</a:t>
            </a:r>
            <a:endParaRPr b="0" i="0" sz="1050" u="none" cap="none" strike="noStrike">
              <a:solidFill>
                <a:schemeClr val="dk1"/>
              </a:solidFill>
              <a:latin typeface="Calibri"/>
              <a:ea typeface="Calibri"/>
              <a:cs typeface="Calibri"/>
              <a:sym typeface="Calibri"/>
            </a:endParaRPr>
          </a:p>
        </p:txBody>
      </p:sp>
      <p:sp>
        <p:nvSpPr>
          <p:cNvPr id="354" name="Google Shape;354;p9"/>
          <p:cNvSpPr/>
          <p:nvPr/>
        </p:nvSpPr>
        <p:spPr>
          <a:xfrm>
            <a:off x="6355080" y="2999232"/>
            <a:ext cx="1005840" cy="438912"/>
          </a:xfrm>
          <a:prstGeom prst="rect">
            <a:avLst/>
          </a:prstGeom>
          <a:solidFill>
            <a:srgbClr val="F0F7F8"/>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9"/>
          <p:cNvSpPr/>
          <p:nvPr/>
        </p:nvSpPr>
        <p:spPr>
          <a:xfrm>
            <a:off x="6400800" y="3072384"/>
            <a:ext cx="91440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050"/>
              <a:buFont typeface="Calibri"/>
              <a:buNone/>
            </a:pPr>
            <a:r>
              <a:rPr b="0" i="0" lang="en-US" sz="1050" u="none" cap="none" strike="noStrike">
                <a:solidFill>
                  <a:srgbClr val="1E293B"/>
                </a:solidFill>
                <a:latin typeface="Calibri"/>
                <a:ea typeface="Calibri"/>
                <a:cs typeface="Calibri"/>
                <a:sym typeface="Calibri"/>
              </a:rPr>
              <a:t>1.0</a:t>
            </a:r>
            <a:endParaRPr b="0" i="0" sz="1050" u="none" cap="none" strike="noStrike">
              <a:solidFill>
                <a:schemeClr val="dk1"/>
              </a:solidFill>
              <a:latin typeface="Calibri"/>
              <a:ea typeface="Calibri"/>
              <a:cs typeface="Calibri"/>
              <a:sym typeface="Calibri"/>
            </a:endParaRPr>
          </a:p>
        </p:txBody>
      </p:sp>
      <p:sp>
        <p:nvSpPr>
          <p:cNvPr id="356" name="Google Shape;356;p9"/>
          <p:cNvSpPr/>
          <p:nvPr/>
        </p:nvSpPr>
        <p:spPr>
          <a:xfrm>
            <a:off x="320040" y="3474720"/>
            <a:ext cx="1828800" cy="438912"/>
          </a:xfrm>
          <a:prstGeom prst="rect">
            <a:avLst/>
          </a:prstGeom>
          <a:solidFill>
            <a:srgbClr val="0A2342"/>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9"/>
          <p:cNvSpPr/>
          <p:nvPr/>
        </p:nvSpPr>
        <p:spPr>
          <a:xfrm>
            <a:off x="365760" y="3547872"/>
            <a:ext cx="173736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0" i="0" lang="en-US" sz="1050" u="none" cap="none" strike="noStrike">
                <a:solidFill>
                  <a:srgbClr val="FFFFFF"/>
                </a:solidFill>
                <a:latin typeface="Calibri"/>
                <a:ea typeface="Calibri"/>
                <a:cs typeface="Calibri"/>
                <a:sym typeface="Calibri"/>
              </a:rPr>
              <a:t>Eq. Odds Diff ↓</a:t>
            </a:r>
            <a:endParaRPr b="0" i="0" sz="1050" u="none" cap="none" strike="noStrike">
              <a:solidFill>
                <a:schemeClr val="dk1"/>
              </a:solidFill>
              <a:latin typeface="Calibri"/>
              <a:ea typeface="Calibri"/>
              <a:cs typeface="Calibri"/>
              <a:sym typeface="Calibri"/>
            </a:endParaRPr>
          </a:p>
        </p:txBody>
      </p:sp>
      <p:sp>
        <p:nvSpPr>
          <p:cNvPr id="358" name="Google Shape;358;p9"/>
          <p:cNvSpPr/>
          <p:nvPr/>
        </p:nvSpPr>
        <p:spPr>
          <a:xfrm>
            <a:off x="2148840" y="3474720"/>
            <a:ext cx="1371600" cy="438912"/>
          </a:xfrm>
          <a:prstGeom prst="rect">
            <a:avLst/>
          </a:prstGeom>
          <a:solidFill>
            <a:srgbClr val="FFFFFF"/>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9"/>
          <p:cNvSpPr/>
          <p:nvPr/>
        </p:nvSpPr>
        <p:spPr>
          <a:xfrm>
            <a:off x="2194560" y="3547872"/>
            <a:ext cx="128016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F4444"/>
              </a:buClr>
              <a:buSzPts val="1050"/>
              <a:buFont typeface="Calibri"/>
              <a:buNone/>
            </a:pPr>
            <a:r>
              <a:rPr b="1" i="0" lang="en-US" sz="1050" u="none" cap="none" strike="noStrike">
                <a:solidFill>
                  <a:srgbClr val="EF4444"/>
                </a:solidFill>
                <a:latin typeface="Calibri"/>
                <a:ea typeface="Calibri"/>
                <a:cs typeface="Calibri"/>
                <a:sym typeface="Calibri"/>
              </a:rPr>
              <a:t>0.19  ❌</a:t>
            </a:r>
            <a:endParaRPr b="0" i="0" sz="1050" u="none" cap="none" strike="noStrike">
              <a:solidFill>
                <a:schemeClr val="dk1"/>
              </a:solidFill>
              <a:latin typeface="Calibri"/>
              <a:ea typeface="Calibri"/>
              <a:cs typeface="Calibri"/>
              <a:sym typeface="Calibri"/>
            </a:endParaRPr>
          </a:p>
        </p:txBody>
      </p:sp>
      <p:sp>
        <p:nvSpPr>
          <p:cNvPr id="360" name="Google Shape;360;p9"/>
          <p:cNvSpPr/>
          <p:nvPr/>
        </p:nvSpPr>
        <p:spPr>
          <a:xfrm>
            <a:off x="3520440" y="3474720"/>
            <a:ext cx="1371600" cy="438912"/>
          </a:xfrm>
          <a:prstGeom prst="rect">
            <a:avLst/>
          </a:prstGeom>
          <a:solidFill>
            <a:srgbClr val="FFFFFF"/>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9"/>
          <p:cNvSpPr/>
          <p:nvPr/>
        </p:nvSpPr>
        <p:spPr>
          <a:xfrm>
            <a:off x="3566160" y="3547872"/>
            <a:ext cx="128016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9E0B"/>
              </a:buClr>
              <a:buSzPts val="1050"/>
              <a:buFont typeface="Calibri"/>
              <a:buNone/>
            </a:pPr>
            <a:r>
              <a:rPr b="0" i="0" lang="en-US" sz="1050" u="none" cap="none" strike="noStrike">
                <a:solidFill>
                  <a:srgbClr val="F59E0B"/>
                </a:solidFill>
                <a:latin typeface="Calibri"/>
                <a:ea typeface="Calibri"/>
                <a:cs typeface="Calibri"/>
                <a:sym typeface="Calibri"/>
              </a:rPr>
              <a:t>0.11  ⚠️</a:t>
            </a:r>
            <a:endParaRPr b="0" i="0" sz="1050" u="none" cap="none" strike="noStrike">
              <a:solidFill>
                <a:schemeClr val="dk1"/>
              </a:solidFill>
              <a:latin typeface="Calibri"/>
              <a:ea typeface="Calibri"/>
              <a:cs typeface="Calibri"/>
              <a:sym typeface="Calibri"/>
            </a:endParaRPr>
          </a:p>
        </p:txBody>
      </p:sp>
      <p:sp>
        <p:nvSpPr>
          <p:cNvPr id="362" name="Google Shape;362;p9"/>
          <p:cNvSpPr/>
          <p:nvPr/>
        </p:nvSpPr>
        <p:spPr>
          <a:xfrm>
            <a:off x="4892040" y="3474720"/>
            <a:ext cx="1463040" cy="438912"/>
          </a:xfrm>
          <a:prstGeom prst="rect">
            <a:avLst/>
          </a:prstGeom>
          <a:solidFill>
            <a:srgbClr val="FFFFFF"/>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9"/>
          <p:cNvSpPr/>
          <p:nvPr/>
        </p:nvSpPr>
        <p:spPr>
          <a:xfrm>
            <a:off x="4937760" y="3547872"/>
            <a:ext cx="137160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B981"/>
              </a:buClr>
              <a:buSzPts val="1050"/>
              <a:buFont typeface="Calibri"/>
              <a:buNone/>
            </a:pPr>
            <a:r>
              <a:rPr b="1" i="0" lang="en-US" sz="1050" u="none" cap="none" strike="noStrike">
                <a:solidFill>
                  <a:srgbClr val="10B981"/>
                </a:solidFill>
                <a:latin typeface="Calibri"/>
                <a:ea typeface="Calibri"/>
                <a:cs typeface="Calibri"/>
                <a:sym typeface="Calibri"/>
              </a:rPr>
              <a:t>0.04  ✅</a:t>
            </a:r>
            <a:endParaRPr b="0" i="0" sz="1050" u="none" cap="none" strike="noStrike">
              <a:solidFill>
                <a:schemeClr val="dk1"/>
              </a:solidFill>
              <a:latin typeface="Calibri"/>
              <a:ea typeface="Calibri"/>
              <a:cs typeface="Calibri"/>
              <a:sym typeface="Calibri"/>
            </a:endParaRPr>
          </a:p>
        </p:txBody>
      </p:sp>
      <p:sp>
        <p:nvSpPr>
          <p:cNvPr id="364" name="Google Shape;364;p9"/>
          <p:cNvSpPr/>
          <p:nvPr/>
        </p:nvSpPr>
        <p:spPr>
          <a:xfrm>
            <a:off x="6355080" y="3474720"/>
            <a:ext cx="1005840" cy="438912"/>
          </a:xfrm>
          <a:prstGeom prst="rect">
            <a:avLst/>
          </a:prstGeom>
          <a:solidFill>
            <a:srgbClr val="FFFFFF"/>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9"/>
          <p:cNvSpPr/>
          <p:nvPr/>
        </p:nvSpPr>
        <p:spPr>
          <a:xfrm>
            <a:off x="6400800" y="3547872"/>
            <a:ext cx="91440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050"/>
              <a:buFont typeface="Calibri"/>
              <a:buNone/>
            </a:pPr>
            <a:r>
              <a:rPr b="0" i="0" lang="en-US" sz="1050" u="none" cap="none" strike="noStrike">
                <a:solidFill>
                  <a:srgbClr val="1E293B"/>
                </a:solidFill>
                <a:latin typeface="Calibri"/>
                <a:ea typeface="Calibri"/>
                <a:cs typeface="Calibri"/>
                <a:sym typeface="Calibri"/>
              </a:rPr>
              <a:t>0</a:t>
            </a:r>
            <a:endParaRPr b="0" i="0" sz="1050" u="none" cap="none" strike="noStrike">
              <a:solidFill>
                <a:schemeClr val="dk1"/>
              </a:solidFill>
              <a:latin typeface="Calibri"/>
              <a:ea typeface="Calibri"/>
              <a:cs typeface="Calibri"/>
              <a:sym typeface="Calibri"/>
            </a:endParaRPr>
          </a:p>
        </p:txBody>
      </p:sp>
      <p:sp>
        <p:nvSpPr>
          <p:cNvPr id="366" name="Google Shape;366;p9"/>
          <p:cNvSpPr/>
          <p:nvPr/>
        </p:nvSpPr>
        <p:spPr>
          <a:xfrm>
            <a:off x="320040" y="3950208"/>
            <a:ext cx="1828800" cy="438912"/>
          </a:xfrm>
          <a:prstGeom prst="rect">
            <a:avLst/>
          </a:prstGeom>
          <a:solidFill>
            <a:srgbClr val="0A2342"/>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9"/>
          <p:cNvSpPr/>
          <p:nvPr/>
        </p:nvSpPr>
        <p:spPr>
          <a:xfrm>
            <a:off x="365760" y="4023360"/>
            <a:ext cx="173736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0" i="0" lang="en-US" sz="1050" u="none" cap="none" strike="noStrike">
                <a:solidFill>
                  <a:srgbClr val="FFFFFF"/>
                </a:solidFill>
                <a:latin typeface="Calibri"/>
                <a:ea typeface="Calibri"/>
                <a:cs typeface="Calibri"/>
                <a:sym typeface="Calibri"/>
              </a:rPr>
              <a:t>4/5 Rule</a:t>
            </a:r>
            <a:endParaRPr b="0" i="0" sz="1050" u="none" cap="none" strike="noStrike">
              <a:solidFill>
                <a:schemeClr val="dk1"/>
              </a:solidFill>
              <a:latin typeface="Calibri"/>
              <a:ea typeface="Calibri"/>
              <a:cs typeface="Calibri"/>
              <a:sym typeface="Calibri"/>
            </a:endParaRPr>
          </a:p>
        </p:txBody>
      </p:sp>
      <p:sp>
        <p:nvSpPr>
          <p:cNvPr id="368" name="Google Shape;368;p9"/>
          <p:cNvSpPr/>
          <p:nvPr/>
        </p:nvSpPr>
        <p:spPr>
          <a:xfrm>
            <a:off x="2148840" y="3950208"/>
            <a:ext cx="1371600" cy="438912"/>
          </a:xfrm>
          <a:prstGeom prst="rect">
            <a:avLst/>
          </a:prstGeom>
          <a:solidFill>
            <a:srgbClr val="F0F7F8"/>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9"/>
          <p:cNvSpPr/>
          <p:nvPr/>
        </p:nvSpPr>
        <p:spPr>
          <a:xfrm>
            <a:off x="2194560" y="4023360"/>
            <a:ext cx="128016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F4444"/>
              </a:buClr>
              <a:buSzPts val="1050"/>
              <a:buFont typeface="Calibri"/>
              <a:buNone/>
            </a:pPr>
            <a:r>
              <a:rPr b="1" i="0" lang="en-US" sz="1050" u="none" cap="none" strike="noStrike">
                <a:solidFill>
                  <a:srgbClr val="EF4444"/>
                </a:solidFill>
                <a:latin typeface="Calibri"/>
                <a:ea typeface="Calibri"/>
                <a:cs typeface="Calibri"/>
                <a:sym typeface="Calibri"/>
              </a:rPr>
              <a:t>VIOLATED ❌</a:t>
            </a:r>
            <a:endParaRPr b="0" i="0" sz="1050" u="none" cap="none" strike="noStrike">
              <a:solidFill>
                <a:schemeClr val="dk1"/>
              </a:solidFill>
              <a:latin typeface="Calibri"/>
              <a:ea typeface="Calibri"/>
              <a:cs typeface="Calibri"/>
              <a:sym typeface="Calibri"/>
            </a:endParaRPr>
          </a:p>
        </p:txBody>
      </p:sp>
      <p:sp>
        <p:nvSpPr>
          <p:cNvPr id="370" name="Google Shape;370;p9"/>
          <p:cNvSpPr/>
          <p:nvPr/>
        </p:nvSpPr>
        <p:spPr>
          <a:xfrm>
            <a:off x="3520440" y="3950208"/>
            <a:ext cx="1371600" cy="438912"/>
          </a:xfrm>
          <a:prstGeom prst="rect">
            <a:avLst/>
          </a:prstGeom>
          <a:solidFill>
            <a:srgbClr val="F0F7F8"/>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9"/>
          <p:cNvSpPr/>
          <p:nvPr/>
        </p:nvSpPr>
        <p:spPr>
          <a:xfrm>
            <a:off x="3566160" y="4023360"/>
            <a:ext cx="128016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B981"/>
              </a:buClr>
              <a:buSzPts val="1050"/>
              <a:buFont typeface="Calibri"/>
              <a:buNone/>
            </a:pPr>
            <a:r>
              <a:rPr b="1" i="0" lang="en-US" sz="1050" u="none" cap="none" strike="noStrike">
                <a:solidFill>
                  <a:srgbClr val="10B981"/>
                </a:solidFill>
                <a:latin typeface="Calibri"/>
                <a:ea typeface="Calibri"/>
                <a:cs typeface="Calibri"/>
                <a:sym typeface="Calibri"/>
              </a:rPr>
              <a:t>PASSED ✅</a:t>
            </a:r>
            <a:endParaRPr b="0" i="0" sz="1050" u="none" cap="none" strike="noStrike">
              <a:solidFill>
                <a:schemeClr val="dk1"/>
              </a:solidFill>
              <a:latin typeface="Calibri"/>
              <a:ea typeface="Calibri"/>
              <a:cs typeface="Calibri"/>
              <a:sym typeface="Calibri"/>
            </a:endParaRPr>
          </a:p>
        </p:txBody>
      </p:sp>
      <p:sp>
        <p:nvSpPr>
          <p:cNvPr id="372" name="Google Shape;372;p9"/>
          <p:cNvSpPr/>
          <p:nvPr/>
        </p:nvSpPr>
        <p:spPr>
          <a:xfrm>
            <a:off x="4892040" y="3950208"/>
            <a:ext cx="1463040" cy="438912"/>
          </a:xfrm>
          <a:prstGeom prst="rect">
            <a:avLst/>
          </a:prstGeom>
          <a:solidFill>
            <a:srgbClr val="F0F7F8"/>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9"/>
          <p:cNvSpPr/>
          <p:nvPr/>
        </p:nvSpPr>
        <p:spPr>
          <a:xfrm>
            <a:off x="4937760" y="4023360"/>
            <a:ext cx="137160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B981"/>
              </a:buClr>
              <a:buSzPts val="1050"/>
              <a:buFont typeface="Calibri"/>
              <a:buNone/>
            </a:pPr>
            <a:r>
              <a:rPr b="1" i="0" lang="en-US" sz="1050" u="none" cap="none" strike="noStrike">
                <a:solidFill>
                  <a:srgbClr val="10B981"/>
                </a:solidFill>
                <a:latin typeface="Calibri"/>
                <a:ea typeface="Calibri"/>
                <a:cs typeface="Calibri"/>
                <a:sym typeface="Calibri"/>
              </a:rPr>
              <a:t>PASSED ✅</a:t>
            </a:r>
            <a:endParaRPr b="0" i="0" sz="1050" u="none" cap="none" strike="noStrike">
              <a:solidFill>
                <a:schemeClr val="dk1"/>
              </a:solidFill>
              <a:latin typeface="Calibri"/>
              <a:ea typeface="Calibri"/>
              <a:cs typeface="Calibri"/>
              <a:sym typeface="Calibri"/>
            </a:endParaRPr>
          </a:p>
        </p:txBody>
      </p:sp>
      <p:sp>
        <p:nvSpPr>
          <p:cNvPr id="374" name="Google Shape;374;p9"/>
          <p:cNvSpPr/>
          <p:nvPr/>
        </p:nvSpPr>
        <p:spPr>
          <a:xfrm>
            <a:off x="6355080" y="3950208"/>
            <a:ext cx="1005840" cy="438912"/>
          </a:xfrm>
          <a:prstGeom prst="rect">
            <a:avLst/>
          </a:prstGeom>
          <a:solidFill>
            <a:srgbClr val="F0F7F8"/>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9"/>
          <p:cNvSpPr/>
          <p:nvPr/>
        </p:nvSpPr>
        <p:spPr>
          <a:xfrm>
            <a:off x="6400800" y="4023360"/>
            <a:ext cx="91440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050"/>
              <a:buFont typeface="Calibri"/>
              <a:buNone/>
            </a:pPr>
            <a:r>
              <a:rPr b="0" i="0" lang="en-US" sz="1050" u="none" cap="none" strike="noStrike">
                <a:solidFill>
                  <a:srgbClr val="1E293B"/>
                </a:solidFill>
                <a:latin typeface="Calibri"/>
                <a:ea typeface="Calibri"/>
                <a:cs typeface="Calibri"/>
                <a:sym typeface="Calibri"/>
              </a:rPr>
              <a:t>PASS</a:t>
            </a:r>
            <a:endParaRPr b="0" i="0" sz="1050" u="none" cap="none" strike="noStrike">
              <a:solidFill>
                <a:schemeClr val="dk1"/>
              </a:solidFill>
              <a:latin typeface="Calibri"/>
              <a:ea typeface="Calibri"/>
              <a:cs typeface="Calibri"/>
              <a:sym typeface="Calibri"/>
            </a:endParaRPr>
          </a:p>
        </p:txBody>
      </p:sp>
      <p:sp>
        <p:nvSpPr>
          <p:cNvPr id="376" name="Google Shape;376;p9"/>
          <p:cNvSpPr/>
          <p:nvPr/>
        </p:nvSpPr>
        <p:spPr>
          <a:xfrm>
            <a:off x="320040" y="4297680"/>
            <a:ext cx="2743200" cy="731520"/>
          </a:xfrm>
          <a:prstGeom prst="rect">
            <a:avLst/>
          </a:prstGeom>
          <a:solidFill>
            <a:srgbClr val="F59E0B"/>
          </a:solidFill>
          <a:ln cap="flat" cmpd="sng" w="12700">
            <a:solidFill>
              <a:srgbClr val="F59E0B"/>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9"/>
          <p:cNvSpPr/>
          <p:nvPr/>
        </p:nvSpPr>
        <p:spPr>
          <a:xfrm>
            <a:off x="411480" y="4315968"/>
            <a:ext cx="100584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800"/>
              <a:buFont typeface="Calibri"/>
              <a:buNone/>
            </a:pPr>
            <a:r>
              <a:rPr b="1" i="0" lang="en-US" sz="2800" u="none" cap="none" strike="noStrike">
                <a:solidFill>
                  <a:srgbClr val="FFFFFF"/>
                </a:solidFill>
                <a:latin typeface="Calibri"/>
                <a:ea typeface="Calibri"/>
                <a:cs typeface="Calibri"/>
                <a:sym typeface="Calibri"/>
              </a:rPr>
              <a:t>−39%</a:t>
            </a:r>
            <a:endParaRPr b="0" i="0" sz="2800" u="none" cap="none" strike="noStrike">
              <a:solidFill>
                <a:schemeClr val="dk1"/>
              </a:solidFill>
              <a:latin typeface="Calibri"/>
              <a:ea typeface="Calibri"/>
              <a:cs typeface="Calibri"/>
              <a:sym typeface="Calibri"/>
            </a:endParaRPr>
          </a:p>
        </p:txBody>
      </p:sp>
      <p:sp>
        <p:nvSpPr>
          <p:cNvPr id="378" name="Google Shape;378;p9"/>
          <p:cNvSpPr/>
          <p:nvPr/>
        </p:nvSpPr>
        <p:spPr>
          <a:xfrm>
            <a:off x="1435608" y="4334256"/>
            <a:ext cx="15544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Sample Reweighting</a:t>
            </a:r>
            <a:endParaRPr b="0" i="0" sz="1000" u="none" cap="none" strike="noStrike">
              <a:solidFill>
                <a:schemeClr val="dk1"/>
              </a:solidFill>
              <a:latin typeface="Calibri"/>
              <a:ea typeface="Calibri"/>
              <a:cs typeface="Calibri"/>
              <a:sym typeface="Calibri"/>
            </a:endParaRPr>
          </a:p>
        </p:txBody>
      </p:sp>
      <p:sp>
        <p:nvSpPr>
          <p:cNvPr id="379" name="Google Shape;379;p9"/>
          <p:cNvSpPr/>
          <p:nvPr/>
        </p:nvSpPr>
        <p:spPr>
          <a:xfrm>
            <a:off x="1435608" y="4590288"/>
            <a:ext cx="15544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DEEE8"/>
              </a:buClr>
              <a:buSzPts val="850"/>
              <a:buFont typeface="Calibri"/>
              <a:buNone/>
            </a:pPr>
            <a:r>
              <a:rPr b="0" i="0" lang="en-US" sz="850" u="none" cap="none" strike="noStrike">
                <a:solidFill>
                  <a:srgbClr val="DDEEE8"/>
                </a:solidFill>
                <a:latin typeface="Calibri"/>
                <a:ea typeface="Calibri"/>
                <a:cs typeface="Calibri"/>
                <a:sym typeface="Calibri"/>
              </a:rPr>
              <a:t>Reduction in DP Difference</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DDEEE8"/>
              </a:buClr>
              <a:buSzPts val="850"/>
              <a:buFont typeface="Calibri"/>
              <a:buNone/>
            </a:pPr>
            <a:r>
              <a:rPr b="0" i="0" lang="en-US" sz="850" u="none" cap="none" strike="noStrike">
                <a:solidFill>
                  <a:srgbClr val="DDEEE8"/>
                </a:solidFill>
                <a:latin typeface="Calibri"/>
                <a:ea typeface="Calibri"/>
                <a:cs typeface="Calibri"/>
                <a:sym typeface="Calibri"/>
              </a:rPr>
              <a:t>with only 2% accuracy drop</a:t>
            </a:r>
            <a:endParaRPr b="0" i="0" sz="850" u="none" cap="none" strike="noStrike">
              <a:solidFill>
                <a:schemeClr val="dk1"/>
              </a:solidFill>
              <a:latin typeface="Calibri"/>
              <a:ea typeface="Calibri"/>
              <a:cs typeface="Calibri"/>
              <a:sym typeface="Calibri"/>
            </a:endParaRPr>
          </a:p>
        </p:txBody>
      </p:sp>
      <p:sp>
        <p:nvSpPr>
          <p:cNvPr id="380" name="Google Shape;380;p9"/>
          <p:cNvSpPr/>
          <p:nvPr/>
        </p:nvSpPr>
        <p:spPr>
          <a:xfrm>
            <a:off x="3246120" y="4297680"/>
            <a:ext cx="2743200" cy="731520"/>
          </a:xfrm>
          <a:prstGeom prst="rect">
            <a:avLst/>
          </a:prstGeom>
          <a:solidFill>
            <a:srgbClr val="10B981"/>
          </a:solidFill>
          <a:ln cap="flat" cmpd="sng" w="12700">
            <a:solidFill>
              <a:srgbClr val="10B981"/>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9"/>
          <p:cNvSpPr/>
          <p:nvPr/>
        </p:nvSpPr>
        <p:spPr>
          <a:xfrm>
            <a:off x="3337560" y="4315968"/>
            <a:ext cx="100584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800"/>
              <a:buFont typeface="Calibri"/>
              <a:buNone/>
            </a:pPr>
            <a:r>
              <a:rPr b="1" i="0" lang="en-US" sz="2800" u="none" cap="none" strike="noStrike">
                <a:solidFill>
                  <a:srgbClr val="FFFFFF"/>
                </a:solidFill>
                <a:latin typeface="Calibri"/>
                <a:ea typeface="Calibri"/>
                <a:cs typeface="Calibri"/>
                <a:sym typeface="Calibri"/>
              </a:rPr>
              <a:t>−87%</a:t>
            </a:r>
            <a:endParaRPr b="0" i="0" sz="2800" u="none" cap="none" strike="noStrike">
              <a:solidFill>
                <a:schemeClr val="dk1"/>
              </a:solidFill>
              <a:latin typeface="Calibri"/>
              <a:ea typeface="Calibri"/>
              <a:cs typeface="Calibri"/>
              <a:sym typeface="Calibri"/>
            </a:endParaRPr>
          </a:p>
        </p:txBody>
      </p:sp>
      <p:sp>
        <p:nvSpPr>
          <p:cNvPr id="382" name="Google Shape;382;p9"/>
          <p:cNvSpPr/>
          <p:nvPr/>
        </p:nvSpPr>
        <p:spPr>
          <a:xfrm>
            <a:off x="4361688" y="4334256"/>
            <a:ext cx="15544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ExponentiatedGradient</a:t>
            </a:r>
            <a:endParaRPr b="0" i="0" sz="1000" u="none" cap="none" strike="noStrike">
              <a:solidFill>
                <a:schemeClr val="dk1"/>
              </a:solidFill>
              <a:latin typeface="Calibri"/>
              <a:ea typeface="Calibri"/>
              <a:cs typeface="Calibri"/>
              <a:sym typeface="Calibri"/>
            </a:endParaRPr>
          </a:p>
        </p:txBody>
      </p:sp>
      <p:sp>
        <p:nvSpPr>
          <p:cNvPr id="383" name="Google Shape;383;p9"/>
          <p:cNvSpPr/>
          <p:nvPr/>
        </p:nvSpPr>
        <p:spPr>
          <a:xfrm>
            <a:off x="4361688" y="4590288"/>
            <a:ext cx="15544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DEEE8"/>
              </a:buClr>
              <a:buSzPts val="850"/>
              <a:buFont typeface="Calibri"/>
              <a:buNone/>
            </a:pPr>
            <a:r>
              <a:rPr b="0" i="0" lang="en-US" sz="850" u="none" cap="none" strike="noStrike">
                <a:solidFill>
                  <a:srgbClr val="DDEEE8"/>
                </a:solidFill>
                <a:latin typeface="Calibri"/>
                <a:ea typeface="Calibri"/>
                <a:cs typeface="Calibri"/>
                <a:sym typeface="Calibri"/>
              </a:rPr>
              <a:t>Reduction in DP Difference</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DDEEE8"/>
              </a:buClr>
              <a:buSzPts val="850"/>
              <a:buFont typeface="Calibri"/>
              <a:buNone/>
            </a:pPr>
            <a:r>
              <a:rPr b="0" i="0" lang="en-US" sz="850" u="none" cap="none" strike="noStrike">
                <a:solidFill>
                  <a:srgbClr val="DDEEE8"/>
                </a:solidFill>
                <a:latin typeface="Calibri"/>
                <a:ea typeface="Calibri"/>
                <a:cs typeface="Calibri"/>
                <a:sym typeface="Calibri"/>
              </a:rPr>
              <a:t>with only 3% accuracy drop</a:t>
            </a:r>
            <a:endParaRPr b="0" i="0" sz="850" u="none" cap="none" strike="noStrike">
              <a:solidFill>
                <a:schemeClr val="dk1"/>
              </a:solidFill>
              <a:latin typeface="Calibri"/>
              <a:ea typeface="Calibri"/>
              <a:cs typeface="Calibri"/>
              <a:sym typeface="Calibri"/>
            </a:endParaRPr>
          </a:p>
        </p:txBody>
      </p:sp>
      <p:sp>
        <p:nvSpPr>
          <p:cNvPr id="384" name="Google Shape;384;p9"/>
          <p:cNvSpPr/>
          <p:nvPr/>
        </p:nvSpPr>
        <p:spPr>
          <a:xfrm>
            <a:off x="6172200" y="4297680"/>
            <a:ext cx="2743200" cy="731520"/>
          </a:xfrm>
          <a:prstGeom prst="rect">
            <a:avLst/>
          </a:prstGeom>
          <a:solidFill>
            <a:srgbClr val="028090"/>
          </a:solidFill>
          <a:ln cap="flat" cmpd="sng" w="12700">
            <a:solidFill>
              <a:srgbClr val="02809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9"/>
          <p:cNvSpPr/>
          <p:nvPr/>
        </p:nvSpPr>
        <p:spPr>
          <a:xfrm>
            <a:off x="6263640" y="4315968"/>
            <a:ext cx="100584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800"/>
              <a:buFont typeface="Calibri"/>
              <a:buNone/>
            </a:pPr>
            <a:r>
              <a:rPr b="1" i="0" lang="en-US" sz="2800" u="none" cap="none" strike="noStrike">
                <a:solidFill>
                  <a:srgbClr val="FFFFFF"/>
                </a:solidFill>
                <a:latin typeface="Calibri"/>
                <a:ea typeface="Calibri"/>
                <a:cs typeface="Calibri"/>
                <a:sym typeface="Calibri"/>
              </a:rPr>
              <a:t>4/5 ✅</a:t>
            </a:r>
            <a:endParaRPr b="0" i="0" sz="2800" u="none" cap="none" strike="noStrike">
              <a:solidFill>
                <a:schemeClr val="dk1"/>
              </a:solidFill>
              <a:latin typeface="Calibri"/>
              <a:ea typeface="Calibri"/>
              <a:cs typeface="Calibri"/>
              <a:sym typeface="Calibri"/>
            </a:endParaRPr>
          </a:p>
        </p:txBody>
      </p:sp>
      <p:sp>
        <p:nvSpPr>
          <p:cNvPr id="386" name="Google Shape;386;p9"/>
          <p:cNvSpPr/>
          <p:nvPr/>
        </p:nvSpPr>
        <p:spPr>
          <a:xfrm>
            <a:off x="7287768" y="4334256"/>
            <a:ext cx="15544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Both Methods</a:t>
            </a:r>
            <a:endParaRPr b="0" i="0" sz="1000" u="none" cap="none" strike="noStrike">
              <a:solidFill>
                <a:schemeClr val="dk1"/>
              </a:solidFill>
              <a:latin typeface="Calibri"/>
              <a:ea typeface="Calibri"/>
              <a:cs typeface="Calibri"/>
              <a:sym typeface="Calibri"/>
            </a:endParaRPr>
          </a:p>
        </p:txBody>
      </p:sp>
      <p:sp>
        <p:nvSpPr>
          <p:cNvPr id="387" name="Google Shape;387;p9"/>
          <p:cNvSpPr/>
          <p:nvPr/>
        </p:nvSpPr>
        <p:spPr>
          <a:xfrm>
            <a:off x="7287768" y="4590288"/>
            <a:ext cx="15544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DEEE8"/>
              </a:buClr>
              <a:buSzPts val="850"/>
              <a:buFont typeface="Calibri"/>
              <a:buNone/>
            </a:pPr>
            <a:r>
              <a:rPr b="0" i="0" lang="en-US" sz="850" u="none" cap="none" strike="noStrike">
                <a:solidFill>
                  <a:srgbClr val="DDEEE8"/>
                </a:solidFill>
                <a:latin typeface="Calibri"/>
                <a:ea typeface="Calibri"/>
                <a:cs typeface="Calibri"/>
                <a:sym typeface="Calibri"/>
              </a:rPr>
              <a:t>Legal 4/5 Rule satisfied</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DDEEE8"/>
              </a:buClr>
              <a:buSzPts val="850"/>
              <a:buFont typeface="Calibri"/>
              <a:buNone/>
            </a:pPr>
            <a:r>
              <a:rPr b="0" i="0" lang="en-US" sz="850" u="none" cap="none" strike="noStrike">
                <a:solidFill>
                  <a:srgbClr val="DDEEE8"/>
                </a:solidFill>
                <a:latin typeface="Calibri"/>
                <a:ea typeface="Calibri"/>
                <a:cs typeface="Calibri"/>
                <a:sym typeface="Calibri"/>
              </a:rPr>
              <a:t>after mitigation</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2" name="Shape 392"/>
        <p:cNvGrpSpPr/>
        <p:nvPr/>
      </p:nvGrpSpPr>
      <p:grpSpPr>
        <a:xfrm>
          <a:off x="0" y="0"/>
          <a:ext cx="0" cy="0"/>
          <a:chOff x="0" y="0"/>
          <a:chExt cx="0" cy="0"/>
        </a:xfrm>
      </p:grpSpPr>
      <p:sp>
        <p:nvSpPr>
          <p:cNvPr id="393" name="Google Shape;393;p10"/>
          <p:cNvSpPr/>
          <p:nvPr/>
        </p:nvSpPr>
        <p:spPr>
          <a:xfrm>
            <a:off x="0" y="0"/>
            <a:ext cx="9144000" cy="1005840"/>
          </a:xfrm>
          <a:prstGeom prst="rect">
            <a:avLst/>
          </a:prstGeom>
          <a:solidFill>
            <a:srgbClr val="0A2342"/>
          </a:solidFill>
          <a:ln cap="flat" cmpd="sng" w="12700">
            <a:solidFill>
              <a:srgbClr val="0A23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0"/>
          <p:cNvSpPr/>
          <p:nvPr/>
        </p:nvSpPr>
        <p:spPr>
          <a:xfrm>
            <a:off x="320040" y="137160"/>
            <a:ext cx="64008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C39A"/>
              </a:buClr>
              <a:buSzPts val="2800"/>
              <a:buFont typeface="Calibri"/>
              <a:buNone/>
            </a:pPr>
            <a:r>
              <a:rPr b="1" i="0" lang="en-US" sz="2800" u="none" cap="none" strike="noStrike">
                <a:solidFill>
                  <a:srgbClr val="02C39A"/>
                </a:solidFill>
                <a:latin typeface="Calibri"/>
                <a:ea typeface="Calibri"/>
                <a:cs typeface="Calibri"/>
                <a:sym typeface="Calibri"/>
              </a:rPr>
              <a:t>08</a:t>
            </a:r>
            <a:endParaRPr b="0" i="0" sz="2800" u="none" cap="none" strike="noStrike">
              <a:solidFill>
                <a:schemeClr val="dk1"/>
              </a:solidFill>
              <a:latin typeface="Calibri"/>
              <a:ea typeface="Calibri"/>
              <a:cs typeface="Calibri"/>
              <a:sym typeface="Calibri"/>
            </a:endParaRPr>
          </a:p>
        </p:txBody>
      </p:sp>
      <p:sp>
        <p:nvSpPr>
          <p:cNvPr id="395" name="Google Shape;395;p10"/>
          <p:cNvSpPr/>
          <p:nvPr/>
        </p:nvSpPr>
        <p:spPr>
          <a:xfrm>
            <a:off x="1005840" y="182880"/>
            <a:ext cx="64008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Calibri"/>
              <a:buNone/>
            </a:pPr>
            <a:r>
              <a:rPr b="1" i="0" lang="en-US" sz="2800" u="none" cap="none" strike="noStrike">
                <a:solidFill>
                  <a:srgbClr val="FFFFFF"/>
                </a:solidFill>
                <a:latin typeface="Calibri"/>
                <a:ea typeface="Calibri"/>
                <a:cs typeface="Calibri"/>
                <a:sym typeface="Calibri"/>
              </a:rPr>
              <a:t>Main Challenges</a:t>
            </a:r>
            <a:endParaRPr b="0" i="0" sz="2800" u="none" cap="none" strike="noStrike">
              <a:solidFill>
                <a:schemeClr val="dk1"/>
              </a:solidFill>
              <a:latin typeface="Calibri"/>
              <a:ea typeface="Calibri"/>
              <a:cs typeface="Calibri"/>
              <a:sym typeface="Calibri"/>
            </a:endParaRPr>
          </a:p>
        </p:txBody>
      </p:sp>
      <p:sp>
        <p:nvSpPr>
          <p:cNvPr id="396" name="Google Shape;396;p10"/>
          <p:cNvSpPr/>
          <p:nvPr/>
        </p:nvSpPr>
        <p:spPr>
          <a:xfrm>
            <a:off x="320040" y="1143000"/>
            <a:ext cx="4206240" cy="1170432"/>
          </a:xfrm>
          <a:prstGeom prst="rect">
            <a:avLst/>
          </a:prstGeom>
          <a:solidFill>
            <a:srgbClr val="F0F7F8"/>
          </a:solidFill>
          <a:ln cap="flat" cmpd="sng" w="9525">
            <a:solidFill>
              <a:srgbClr val="E2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10"/>
          <p:cNvSpPr/>
          <p:nvPr/>
        </p:nvSpPr>
        <p:spPr>
          <a:xfrm>
            <a:off x="320040" y="1143000"/>
            <a:ext cx="64008" cy="1170432"/>
          </a:xfrm>
          <a:prstGeom prst="rect">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10"/>
          <p:cNvSpPr/>
          <p:nvPr/>
        </p:nvSpPr>
        <p:spPr>
          <a:xfrm>
            <a:off x="484632" y="1197864"/>
            <a:ext cx="4572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8090"/>
              </a:buClr>
              <a:buSzPts val="1400"/>
              <a:buFont typeface="Calibri"/>
              <a:buNone/>
            </a:pPr>
            <a:r>
              <a:rPr b="1" i="0" lang="en-US" sz="1400" u="none" cap="none" strike="noStrike">
                <a:solidFill>
                  <a:srgbClr val="028090"/>
                </a:solidFill>
                <a:latin typeface="Calibri"/>
                <a:ea typeface="Calibri"/>
                <a:cs typeface="Calibri"/>
                <a:sym typeface="Calibri"/>
              </a:rPr>
              <a:t>01</a:t>
            </a:r>
            <a:endParaRPr b="0" i="0" sz="1400" u="none" cap="none" strike="noStrike">
              <a:solidFill>
                <a:schemeClr val="dk1"/>
              </a:solidFill>
              <a:latin typeface="Calibri"/>
              <a:ea typeface="Calibri"/>
              <a:cs typeface="Calibri"/>
              <a:sym typeface="Calibri"/>
            </a:endParaRPr>
          </a:p>
        </p:txBody>
      </p:sp>
      <p:sp>
        <p:nvSpPr>
          <p:cNvPr id="399" name="Google Shape;399;p10"/>
          <p:cNvSpPr/>
          <p:nvPr/>
        </p:nvSpPr>
        <p:spPr>
          <a:xfrm>
            <a:off x="960120" y="1216152"/>
            <a:ext cx="3429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2342"/>
              </a:buClr>
              <a:buSzPts val="1200"/>
              <a:buFont typeface="Calibri"/>
              <a:buNone/>
            </a:pPr>
            <a:r>
              <a:rPr b="1" i="0" lang="en-US" sz="1200" u="none" cap="none" strike="noStrike">
                <a:solidFill>
                  <a:srgbClr val="0A2342"/>
                </a:solidFill>
                <a:latin typeface="Calibri"/>
                <a:ea typeface="Calibri"/>
                <a:cs typeface="Calibri"/>
                <a:sym typeface="Calibri"/>
              </a:rPr>
              <a:t>Accuracy–Fairness Trade-off</a:t>
            </a:r>
            <a:endParaRPr b="0" i="0" sz="1200" u="none" cap="none" strike="noStrike">
              <a:solidFill>
                <a:schemeClr val="dk1"/>
              </a:solidFill>
              <a:latin typeface="Calibri"/>
              <a:ea typeface="Calibri"/>
              <a:cs typeface="Calibri"/>
              <a:sym typeface="Calibri"/>
            </a:endParaRPr>
          </a:p>
        </p:txBody>
      </p:sp>
      <p:sp>
        <p:nvSpPr>
          <p:cNvPr id="400" name="Google Shape;400;p10"/>
          <p:cNvSpPr/>
          <p:nvPr/>
        </p:nvSpPr>
        <p:spPr>
          <a:xfrm>
            <a:off x="484632" y="1581912"/>
            <a:ext cx="3931920" cy="676656"/>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64748B"/>
              </a:buClr>
              <a:buSzPts val="950"/>
              <a:buFont typeface="Calibri"/>
              <a:buNone/>
            </a:pPr>
            <a:r>
              <a:rPr b="0" i="0" lang="en-US" sz="950" u="none" cap="none" strike="noStrike">
                <a:solidFill>
                  <a:srgbClr val="64748B"/>
                </a:solidFill>
                <a:latin typeface="Calibri"/>
                <a:ea typeface="Calibri"/>
                <a:cs typeface="Calibri"/>
                <a:sym typeface="Calibri"/>
              </a:rPr>
              <a:t>Enforcing strict fairness constraints (eps=0.01) always reduces accuracy. Finding the right eps value that satisfies legal standards (≥80% DP Ratio) while maintaining useful model performance is a key tension in all fairness work.</a:t>
            </a:r>
            <a:endParaRPr b="0" i="0" sz="950" u="none" cap="none" strike="noStrike">
              <a:solidFill>
                <a:schemeClr val="dk1"/>
              </a:solidFill>
              <a:latin typeface="Calibri"/>
              <a:ea typeface="Calibri"/>
              <a:cs typeface="Calibri"/>
              <a:sym typeface="Calibri"/>
            </a:endParaRPr>
          </a:p>
        </p:txBody>
      </p:sp>
      <p:sp>
        <p:nvSpPr>
          <p:cNvPr id="401" name="Google Shape;401;p10"/>
          <p:cNvSpPr/>
          <p:nvPr/>
        </p:nvSpPr>
        <p:spPr>
          <a:xfrm>
            <a:off x="4754880" y="1143000"/>
            <a:ext cx="4206240" cy="1170432"/>
          </a:xfrm>
          <a:prstGeom prst="rect">
            <a:avLst/>
          </a:prstGeom>
          <a:solidFill>
            <a:srgbClr val="F0F7F8"/>
          </a:solidFill>
          <a:ln cap="flat" cmpd="sng" w="9525">
            <a:solidFill>
              <a:srgbClr val="E2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10"/>
          <p:cNvSpPr/>
          <p:nvPr/>
        </p:nvSpPr>
        <p:spPr>
          <a:xfrm>
            <a:off x="4754880" y="1143000"/>
            <a:ext cx="64008" cy="1170432"/>
          </a:xfrm>
          <a:prstGeom prst="rect">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10"/>
          <p:cNvSpPr/>
          <p:nvPr/>
        </p:nvSpPr>
        <p:spPr>
          <a:xfrm>
            <a:off x="4919472" y="1197864"/>
            <a:ext cx="4572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8090"/>
              </a:buClr>
              <a:buSzPts val="1400"/>
              <a:buFont typeface="Calibri"/>
              <a:buNone/>
            </a:pPr>
            <a:r>
              <a:rPr b="1" i="0" lang="en-US" sz="1400" u="none" cap="none" strike="noStrike">
                <a:solidFill>
                  <a:srgbClr val="028090"/>
                </a:solidFill>
                <a:latin typeface="Calibri"/>
                <a:ea typeface="Calibri"/>
                <a:cs typeface="Calibri"/>
                <a:sym typeface="Calibri"/>
              </a:rPr>
              <a:t>02</a:t>
            </a:r>
            <a:endParaRPr b="0" i="0" sz="1400" u="none" cap="none" strike="noStrike">
              <a:solidFill>
                <a:schemeClr val="dk1"/>
              </a:solidFill>
              <a:latin typeface="Calibri"/>
              <a:ea typeface="Calibri"/>
              <a:cs typeface="Calibri"/>
              <a:sym typeface="Calibri"/>
            </a:endParaRPr>
          </a:p>
        </p:txBody>
      </p:sp>
      <p:sp>
        <p:nvSpPr>
          <p:cNvPr id="404" name="Google Shape;404;p10"/>
          <p:cNvSpPr/>
          <p:nvPr/>
        </p:nvSpPr>
        <p:spPr>
          <a:xfrm>
            <a:off x="5394960" y="1216152"/>
            <a:ext cx="3429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2342"/>
              </a:buClr>
              <a:buSzPts val="1200"/>
              <a:buFont typeface="Calibri"/>
              <a:buNone/>
            </a:pPr>
            <a:r>
              <a:rPr b="1" i="0" lang="en-US" sz="1200" u="none" cap="none" strike="noStrike">
                <a:solidFill>
                  <a:srgbClr val="0A2342"/>
                </a:solidFill>
                <a:latin typeface="Calibri"/>
                <a:ea typeface="Calibri"/>
                <a:cs typeface="Calibri"/>
                <a:sym typeface="Calibri"/>
              </a:rPr>
              <a:t>Incompatible Fairness Criteria</a:t>
            </a:r>
            <a:endParaRPr b="0" i="0" sz="1200" u="none" cap="none" strike="noStrike">
              <a:solidFill>
                <a:schemeClr val="dk1"/>
              </a:solidFill>
              <a:latin typeface="Calibri"/>
              <a:ea typeface="Calibri"/>
              <a:cs typeface="Calibri"/>
              <a:sym typeface="Calibri"/>
            </a:endParaRPr>
          </a:p>
        </p:txBody>
      </p:sp>
      <p:sp>
        <p:nvSpPr>
          <p:cNvPr id="405" name="Google Shape;405;p10"/>
          <p:cNvSpPr/>
          <p:nvPr/>
        </p:nvSpPr>
        <p:spPr>
          <a:xfrm>
            <a:off x="4919472" y="1581912"/>
            <a:ext cx="3931920" cy="676656"/>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64748B"/>
              </a:buClr>
              <a:buSzPts val="950"/>
              <a:buFont typeface="Calibri"/>
              <a:buNone/>
            </a:pPr>
            <a:r>
              <a:rPr b="0" i="0" lang="en-US" sz="950" u="none" cap="none" strike="noStrike">
                <a:solidFill>
                  <a:srgbClr val="64748B"/>
                </a:solidFill>
                <a:latin typeface="Calibri"/>
                <a:ea typeface="Calibri"/>
                <a:cs typeface="Calibri"/>
                <a:sym typeface="Calibri"/>
              </a:rPr>
              <a:t>Demographic Parity, Equalized Odds, and Equal Opportunity are mathematically proven to be mutually incompatible when base rates differ between groups. A model cannot satisfy all three simultaneously — requiring deliberate prioritisation.</a:t>
            </a:r>
            <a:endParaRPr b="0" i="0" sz="950" u="none" cap="none" strike="noStrike">
              <a:solidFill>
                <a:schemeClr val="dk1"/>
              </a:solidFill>
              <a:latin typeface="Calibri"/>
              <a:ea typeface="Calibri"/>
              <a:cs typeface="Calibri"/>
              <a:sym typeface="Calibri"/>
            </a:endParaRPr>
          </a:p>
        </p:txBody>
      </p:sp>
      <p:sp>
        <p:nvSpPr>
          <p:cNvPr id="406" name="Google Shape;406;p10"/>
          <p:cNvSpPr/>
          <p:nvPr/>
        </p:nvSpPr>
        <p:spPr>
          <a:xfrm>
            <a:off x="320040" y="2441448"/>
            <a:ext cx="4206240" cy="1170432"/>
          </a:xfrm>
          <a:prstGeom prst="rect">
            <a:avLst/>
          </a:prstGeom>
          <a:solidFill>
            <a:srgbClr val="F0F7F8"/>
          </a:solidFill>
          <a:ln cap="flat" cmpd="sng" w="9525">
            <a:solidFill>
              <a:srgbClr val="E2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10"/>
          <p:cNvSpPr/>
          <p:nvPr/>
        </p:nvSpPr>
        <p:spPr>
          <a:xfrm>
            <a:off x="320040" y="2441448"/>
            <a:ext cx="64008" cy="1170432"/>
          </a:xfrm>
          <a:prstGeom prst="rect">
            <a:avLst/>
          </a:prstGeom>
          <a:solidFill>
            <a:srgbClr val="02A07A"/>
          </a:solidFill>
          <a:ln cap="flat" cmpd="sng" w="12700">
            <a:solidFill>
              <a:srgbClr val="02A0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10"/>
          <p:cNvSpPr/>
          <p:nvPr/>
        </p:nvSpPr>
        <p:spPr>
          <a:xfrm>
            <a:off x="484632" y="2496312"/>
            <a:ext cx="4572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A07A"/>
              </a:buClr>
              <a:buSzPts val="1400"/>
              <a:buFont typeface="Calibri"/>
              <a:buNone/>
            </a:pPr>
            <a:r>
              <a:rPr b="1" i="0" lang="en-US" sz="1400" u="none" cap="none" strike="noStrike">
                <a:solidFill>
                  <a:srgbClr val="02A07A"/>
                </a:solidFill>
                <a:latin typeface="Calibri"/>
                <a:ea typeface="Calibri"/>
                <a:cs typeface="Calibri"/>
                <a:sym typeface="Calibri"/>
              </a:rPr>
              <a:t>03</a:t>
            </a:r>
            <a:endParaRPr b="0" i="0" sz="1400" u="none" cap="none" strike="noStrike">
              <a:solidFill>
                <a:schemeClr val="dk1"/>
              </a:solidFill>
              <a:latin typeface="Calibri"/>
              <a:ea typeface="Calibri"/>
              <a:cs typeface="Calibri"/>
              <a:sym typeface="Calibri"/>
            </a:endParaRPr>
          </a:p>
        </p:txBody>
      </p:sp>
      <p:sp>
        <p:nvSpPr>
          <p:cNvPr id="409" name="Google Shape;409;p10"/>
          <p:cNvSpPr/>
          <p:nvPr/>
        </p:nvSpPr>
        <p:spPr>
          <a:xfrm>
            <a:off x="960120" y="2514600"/>
            <a:ext cx="3429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2342"/>
              </a:buClr>
              <a:buSzPts val="1200"/>
              <a:buFont typeface="Calibri"/>
              <a:buNone/>
            </a:pPr>
            <a:r>
              <a:rPr b="1" i="0" lang="en-US" sz="1200" u="none" cap="none" strike="noStrike">
                <a:solidFill>
                  <a:srgbClr val="0A2342"/>
                </a:solidFill>
                <a:latin typeface="Calibri"/>
                <a:ea typeface="Calibri"/>
                <a:cs typeface="Calibri"/>
                <a:sym typeface="Calibri"/>
              </a:rPr>
              <a:t>Proxy Variables &amp; Indirect Bias</a:t>
            </a:r>
            <a:endParaRPr b="0" i="0" sz="1200" u="none" cap="none" strike="noStrike">
              <a:solidFill>
                <a:schemeClr val="dk1"/>
              </a:solidFill>
              <a:latin typeface="Calibri"/>
              <a:ea typeface="Calibri"/>
              <a:cs typeface="Calibri"/>
              <a:sym typeface="Calibri"/>
            </a:endParaRPr>
          </a:p>
        </p:txBody>
      </p:sp>
      <p:sp>
        <p:nvSpPr>
          <p:cNvPr id="410" name="Google Shape;410;p10"/>
          <p:cNvSpPr/>
          <p:nvPr/>
        </p:nvSpPr>
        <p:spPr>
          <a:xfrm>
            <a:off x="484632" y="2880360"/>
            <a:ext cx="3931920" cy="676656"/>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64748B"/>
              </a:buClr>
              <a:buSzPts val="950"/>
              <a:buFont typeface="Calibri"/>
              <a:buNone/>
            </a:pPr>
            <a:r>
              <a:rPr b="0" i="0" lang="en-US" sz="950" u="none" cap="none" strike="noStrike">
                <a:solidFill>
                  <a:srgbClr val="64748B"/>
                </a:solidFill>
                <a:latin typeface="Calibri"/>
                <a:ea typeface="Calibri"/>
                <a:cs typeface="Calibri"/>
                <a:sym typeface="Calibri"/>
              </a:rPr>
              <a:t>Even after removing Gender from features, the model can still discriminate through proxy variables correlated with gender (e.g., career gaps, certain universities). Detecting indirect bias requires extensive correlation analysis.</a:t>
            </a:r>
            <a:endParaRPr b="0" i="0" sz="950" u="none" cap="none" strike="noStrike">
              <a:solidFill>
                <a:schemeClr val="dk1"/>
              </a:solidFill>
              <a:latin typeface="Calibri"/>
              <a:ea typeface="Calibri"/>
              <a:cs typeface="Calibri"/>
              <a:sym typeface="Calibri"/>
            </a:endParaRPr>
          </a:p>
        </p:txBody>
      </p:sp>
      <p:sp>
        <p:nvSpPr>
          <p:cNvPr id="411" name="Google Shape;411;p10"/>
          <p:cNvSpPr/>
          <p:nvPr/>
        </p:nvSpPr>
        <p:spPr>
          <a:xfrm>
            <a:off x="4754880" y="2441448"/>
            <a:ext cx="4206240" cy="1170432"/>
          </a:xfrm>
          <a:prstGeom prst="rect">
            <a:avLst/>
          </a:prstGeom>
          <a:solidFill>
            <a:srgbClr val="F0F7F8"/>
          </a:solidFill>
          <a:ln cap="flat" cmpd="sng" w="9525">
            <a:solidFill>
              <a:srgbClr val="E2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10"/>
          <p:cNvSpPr/>
          <p:nvPr/>
        </p:nvSpPr>
        <p:spPr>
          <a:xfrm>
            <a:off x="4754880" y="2441448"/>
            <a:ext cx="64008" cy="1170432"/>
          </a:xfrm>
          <a:prstGeom prst="rect">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10"/>
          <p:cNvSpPr/>
          <p:nvPr/>
        </p:nvSpPr>
        <p:spPr>
          <a:xfrm>
            <a:off x="4919472" y="2496312"/>
            <a:ext cx="4572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C39A"/>
              </a:buClr>
              <a:buSzPts val="1400"/>
              <a:buFont typeface="Calibri"/>
              <a:buNone/>
            </a:pPr>
            <a:r>
              <a:rPr b="1" i="0" lang="en-US" sz="1400" u="none" cap="none" strike="noStrike">
                <a:solidFill>
                  <a:srgbClr val="02C39A"/>
                </a:solidFill>
                <a:latin typeface="Calibri"/>
                <a:ea typeface="Calibri"/>
                <a:cs typeface="Calibri"/>
                <a:sym typeface="Calibri"/>
              </a:rPr>
              <a:t>04</a:t>
            </a:r>
            <a:endParaRPr b="0" i="0" sz="1400" u="none" cap="none" strike="noStrike">
              <a:solidFill>
                <a:schemeClr val="dk1"/>
              </a:solidFill>
              <a:latin typeface="Calibri"/>
              <a:ea typeface="Calibri"/>
              <a:cs typeface="Calibri"/>
              <a:sym typeface="Calibri"/>
            </a:endParaRPr>
          </a:p>
        </p:txBody>
      </p:sp>
      <p:sp>
        <p:nvSpPr>
          <p:cNvPr id="414" name="Google Shape;414;p10"/>
          <p:cNvSpPr/>
          <p:nvPr/>
        </p:nvSpPr>
        <p:spPr>
          <a:xfrm>
            <a:off x="5394960" y="2514600"/>
            <a:ext cx="3429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2342"/>
              </a:buClr>
              <a:buSzPts val="1200"/>
              <a:buFont typeface="Calibri"/>
              <a:buNone/>
            </a:pPr>
            <a:r>
              <a:rPr b="1" i="0" lang="en-US" sz="1200" u="none" cap="none" strike="noStrike">
                <a:solidFill>
                  <a:srgbClr val="0A2342"/>
                </a:solidFill>
                <a:latin typeface="Calibri"/>
                <a:ea typeface="Calibri"/>
                <a:cs typeface="Calibri"/>
                <a:sym typeface="Calibri"/>
              </a:rPr>
              <a:t>Synthetic vs Real Data Limitations</a:t>
            </a:r>
            <a:endParaRPr b="0" i="0" sz="1200" u="none" cap="none" strike="noStrike">
              <a:solidFill>
                <a:schemeClr val="dk1"/>
              </a:solidFill>
              <a:latin typeface="Calibri"/>
              <a:ea typeface="Calibri"/>
              <a:cs typeface="Calibri"/>
              <a:sym typeface="Calibri"/>
            </a:endParaRPr>
          </a:p>
        </p:txBody>
      </p:sp>
      <p:sp>
        <p:nvSpPr>
          <p:cNvPr id="415" name="Google Shape;415;p10"/>
          <p:cNvSpPr/>
          <p:nvPr/>
        </p:nvSpPr>
        <p:spPr>
          <a:xfrm>
            <a:off x="4919472" y="2880360"/>
            <a:ext cx="3931920" cy="676656"/>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64748B"/>
              </a:buClr>
              <a:buSzPts val="950"/>
              <a:buFont typeface="Calibri"/>
              <a:buNone/>
            </a:pPr>
            <a:r>
              <a:rPr b="0" i="0" lang="en-US" sz="950" u="none" cap="none" strike="noStrike">
                <a:solidFill>
                  <a:srgbClr val="64748B"/>
                </a:solidFill>
                <a:latin typeface="Calibri"/>
                <a:ea typeface="Calibri"/>
                <a:cs typeface="Calibri"/>
                <a:sym typeface="Calibri"/>
              </a:rPr>
              <a:t>The dataset is synthetic, meaning the bias is deliberately controlled. In real organizational data, bias is hidden, complex, and multi-dimensional — making detection much harder and requiring domain expertise to interpret results.</a:t>
            </a:r>
            <a:endParaRPr b="0" i="0" sz="950" u="none" cap="none" strike="noStrike">
              <a:solidFill>
                <a:schemeClr val="dk1"/>
              </a:solidFill>
              <a:latin typeface="Calibri"/>
              <a:ea typeface="Calibri"/>
              <a:cs typeface="Calibri"/>
              <a:sym typeface="Calibri"/>
            </a:endParaRPr>
          </a:p>
        </p:txBody>
      </p:sp>
      <p:sp>
        <p:nvSpPr>
          <p:cNvPr id="416" name="Google Shape;416;p10"/>
          <p:cNvSpPr/>
          <p:nvPr/>
        </p:nvSpPr>
        <p:spPr>
          <a:xfrm>
            <a:off x="320040" y="3739896"/>
            <a:ext cx="4206240" cy="1170432"/>
          </a:xfrm>
          <a:prstGeom prst="rect">
            <a:avLst/>
          </a:prstGeom>
          <a:solidFill>
            <a:srgbClr val="F0F7F8"/>
          </a:solidFill>
          <a:ln cap="flat" cmpd="sng" w="9525">
            <a:solidFill>
              <a:srgbClr val="E2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10"/>
          <p:cNvSpPr/>
          <p:nvPr/>
        </p:nvSpPr>
        <p:spPr>
          <a:xfrm>
            <a:off x="320040" y="3739896"/>
            <a:ext cx="64008" cy="1170432"/>
          </a:xfrm>
          <a:prstGeom prst="rect">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10"/>
          <p:cNvSpPr/>
          <p:nvPr/>
        </p:nvSpPr>
        <p:spPr>
          <a:xfrm>
            <a:off x="484632" y="3794760"/>
            <a:ext cx="4572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8090"/>
              </a:buClr>
              <a:buSzPts val="1400"/>
              <a:buFont typeface="Calibri"/>
              <a:buNone/>
            </a:pPr>
            <a:r>
              <a:rPr b="1" i="0" lang="en-US" sz="1400" u="none" cap="none" strike="noStrike">
                <a:solidFill>
                  <a:srgbClr val="028090"/>
                </a:solidFill>
                <a:latin typeface="Calibri"/>
                <a:ea typeface="Calibri"/>
                <a:cs typeface="Calibri"/>
                <a:sym typeface="Calibri"/>
              </a:rPr>
              <a:t>05</a:t>
            </a:r>
            <a:endParaRPr b="0" i="0" sz="1400" u="none" cap="none" strike="noStrike">
              <a:solidFill>
                <a:schemeClr val="dk1"/>
              </a:solidFill>
              <a:latin typeface="Calibri"/>
              <a:ea typeface="Calibri"/>
              <a:cs typeface="Calibri"/>
              <a:sym typeface="Calibri"/>
            </a:endParaRPr>
          </a:p>
        </p:txBody>
      </p:sp>
      <p:sp>
        <p:nvSpPr>
          <p:cNvPr id="419" name="Google Shape;419;p10"/>
          <p:cNvSpPr/>
          <p:nvPr/>
        </p:nvSpPr>
        <p:spPr>
          <a:xfrm>
            <a:off x="960120" y="3813048"/>
            <a:ext cx="3429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2342"/>
              </a:buClr>
              <a:buSzPts val="1200"/>
              <a:buFont typeface="Calibri"/>
              <a:buNone/>
            </a:pPr>
            <a:r>
              <a:rPr b="1" i="0" lang="en-US" sz="1200" u="none" cap="none" strike="noStrike">
                <a:solidFill>
                  <a:srgbClr val="0A2342"/>
                </a:solidFill>
                <a:latin typeface="Calibri"/>
                <a:ea typeface="Calibri"/>
                <a:cs typeface="Calibri"/>
                <a:sym typeface="Calibri"/>
              </a:rPr>
              <a:t>SHAP Computational Cost</a:t>
            </a:r>
            <a:endParaRPr b="0" i="0" sz="1200" u="none" cap="none" strike="noStrike">
              <a:solidFill>
                <a:schemeClr val="dk1"/>
              </a:solidFill>
              <a:latin typeface="Calibri"/>
              <a:ea typeface="Calibri"/>
              <a:cs typeface="Calibri"/>
              <a:sym typeface="Calibri"/>
            </a:endParaRPr>
          </a:p>
        </p:txBody>
      </p:sp>
      <p:sp>
        <p:nvSpPr>
          <p:cNvPr id="420" name="Google Shape;420;p10"/>
          <p:cNvSpPr/>
          <p:nvPr/>
        </p:nvSpPr>
        <p:spPr>
          <a:xfrm>
            <a:off x="484632" y="4178808"/>
            <a:ext cx="3931920" cy="676656"/>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64748B"/>
              </a:buClr>
              <a:buSzPts val="950"/>
              <a:buFont typeface="Calibri"/>
              <a:buNone/>
            </a:pPr>
            <a:r>
              <a:rPr b="0" i="0" lang="en-US" sz="950" u="none" cap="none" strike="noStrike">
                <a:solidFill>
                  <a:srgbClr val="64748B"/>
                </a:solidFill>
                <a:latin typeface="Calibri"/>
                <a:ea typeface="Calibri"/>
                <a:cs typeface="Calibri"/>
                <a:sym typeface="Calibri"/>
              </a:rPr>
              <a:t>Computing SHAP values for all candidates is expensive. Even with LinearExplainer (efficient for Logistic Regression), we needed to subsample 200 test candidates. More complex models like Random Forest would be significantly slower.</a:t>
            </a:r>
            <a:endParaRPr b="0" i="0" sz="950" u="none" cap="none" strike="noStrike">
              <a:solidFill>
                <a:schemeClr val="dk1"/>
              </a:solidFill>
              <a:latin typeface="Calibri"/>
              <a:ea typeface="Calibri"/>
              <a:cs typeface="Calibri"/>
              <a:sym typeface="Calibri"/>
            </a:endParaRPr>
          </a:p>
        </p:txBody>
      </p:sp>
      <p:sp>
        <p:nvSpPr>
          <p:cNvPr id="421" name="Google Shape;421;p10"/>
          <p:cNvSpPr/>
          <p:nvPr/>
        </p:nvSpPr>
        <p:spPr>
          <a:xfrm>
            <a:off x="4754880" y="3739896"/>
            <a:ext cx="4206240" cy="1170432"/>
          </a:xfrm>
          <a:prstGeom prst="rect">
            <a:avLst/>
          </a:prstGeom>
          <a:solidFill>
            <a:srgbClr val="F0F7F8"/>
          </a:solidFill>
          <a:ln cap="flat" cmpd="sng" w="9525">
            <a:solidFill>
              <a:srgbClr val="E2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10"/>
          <p:cNvSpPr/>
          <p:nvPr/>
        </p:nvSpPr>
        <p:spPr>
          <a:xfrm>
            <a:off x="4754880" y="3739896"/>
            <a:ext cx="64008" cy="1170432"/>
          </a:xfrm>
          <a:prstGeom prst="rect">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10"/>
          <p:cNvSpPr/>
          <p:nvPr/>
        </p:nvSpPr>
        <p:spPr>
          <a:xfrm>
            <a:off x="4919472" y="3794760"/>
            <a:ext cx="4572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8090"/>
              </a:buClr>
              <a:buSzPts val="1400"/>
              <a:buFont typeface="Calibri"/>
              <a:buNone/>
            </a:pPr>
            <a:r>
              <a:rPr b="1" i="0" lang="en-US" sz="1400" u="none" cap="none" strike="noStrike">
                <a:solidFill>
                  <a:srgbClr val="028090"/>
                </a:solidFill>
                <a:latin typeface="Calibri"/>
                <a:ea typeface="Calibri"/>
                <a:cs typeface="Calibri"/>
                <a:sym typeface="Calibri"/>
              </a:rPr>
              <a:t>06</a:t>
            </a:r>
            <a:endParaRPr b="0" i="0" sz="1400" u="none" cap="none" strike="noStrike">
              <a:solidFill>
                <a:schemeClr val="dk1"/>
              </a:solidFill>
              <a:latin typeface="Calibri"/>
              <a:ea typeface="Calibri"/>
              <a:cs typeface="Calibri"/>
              <a:sym typeface="Calibri"/>
            </a:endParaRPr>
          </a:p>
        </p:txBody>
      </p:sp>
      <p:sp>
        <p:nvSpPr>
          <p:cNvPr id="424" name="Google Shape;424;p10"/>
          <p:cNvSpPr/>
          <p:nvPr/>
        </p:nvSpPr>
        <p:spPr>
          <a:xfrm>
            <a:off x="5394960" y="3813048"/>
            <a:ext cx="3429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2342"/>
              </a:buClr>
              <a:buSzPts val="1200"/>
              <a:buFont typeface="Calibri"/>
              <a:buNone/>
            </a:pPr>
            <a:r>
              <a:rPr b="1" i="0" lang="en-US" sz="1200" u="none" cap="none" strike="noStrike">
                <a:solidFill>
                  <a:srgbClr val="0A2342"/>
                </a:solidFill>
                <a:latin typeface="Calibri"/>
                <a:ea typeface="Calibri"/>
                <a:cs typeface="Calibri"/>
                <a:sym typeface="Calibri"/>
              </a:rPr>
              <a:t>Intersectional Bias</a:t>
            </a:r>
            <a:endParaRPr b="0" i="0" sz="1200" u="none" cap="none" strike="noStrike">
              <a:solidFill>
                <a:schemeClr val="dk1"/>
              </a:solidFill>
              <a:latin typeface="Calibri"/>
              <a:ea typeface="Calibri"/>
              <a:cs typeface="Calibri"/>
              <a:sym typeface="Calibri"/>
            </a:endParaRPr>
          </a:p>
        </p:txBody>
      </p:sp>
      <p:sp>
        <p:nvSpPr>
          <p:cNvPr id="425" name="Google Shape;425;p10"/>
          <p:cNvSpPr/>
          <p:nvPr/>
        </p:nvSpPr>
        <p:spPr>
          <a:xfrm>
            <a:off x="4919472" y="4178808"/>
            <a:ext cx="3931920" cy="676656"/>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64748B"/>
              </a:buClr>
              <a:buSzPts val="950"/>
              <a:buFont typeface="Calibri"/>
              <a:buNone/>
            </a:pPr>
            <a:r>
              <a:rPr b="0" i="0" lang="en-US" sz="950" u="none" cap="none" strike="noStrike">
                <a:solidFill>
                  <a:srgbClr val="64748B"/>
                </a:solidFill>
                <a:latin typeface="Calibri"/>
                <a:ea typeface="Calibri"/>
                <a:cs typeface="Calibri"/>
                <a:sym typeface="Calibri"/>
              </a:rPr>
              <a:t>Our tool focuses on single-attribute bias (Gender). Real-world bias is intersectional — a candidate who is both female AND from a minority ethnicity AND over 45 may face compounded disadvantage that single-axis analysis cannot capture.</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0" name="Shape 430"/>
        <p:cNvGrpSpPr/>
        <p:nvPr/>
      </p:nvGrpSpPr>
      <p:grpSpPr>
        <a:xfrm>
          <a:off x="0" y="0"/>
          <a:ext cx="0" cy="0"/>
          <a:chOff x="0" y="0"/>
          <a:chExt cx="0" cy="0"/>
        </a:xfrm>
      </p:grpSpPr>
      <p:sp>
        <p:nvSpPr>
          <p:cNvPr id="431" name="Google Shape;431;p11"/>
          <p:cNvSpPr/>
          <p:nvPr/>
        </p:nvSpPr>
        <p:spPr>
          <a:xfrm>
            <a:off x="0" y="0"/>
            <a:ext cx="9144000" cy="1005840"/>
          </a:xfrm>
          <a:prstGeom prst="rect">
            <a:avLst/>
          </a:prstGeom>
          <a:solidFill>
            <a:srgbClr val="0A2342"/>
          </a:solidFill>
          <a:ln cap="flat" cmpd="sng" w="12700">
            <a:solidFill>
              <a:srgbClr val="0A23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11"/>
          <p:cNvSpPr/>
          <p:nvPr/>
        </p:nvSpPr>
        <p:spPr>
          <a:xfrm>
            <a:off x="320040" y="137160"/>
            <a:ext cx="64008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C39A"/>
              </a:buClr>
              <a:buSzPts val="2800"/>
              <a:buFont typeface="Calibri"/>
              <a:buNone/>
            </a:pPr>
            <a:r>
              <a:rPr b="1" i="0" lang="en-US" sz="2800" u="none" cap="none" strike="noStrike">
                <a:solidFill>
                  <a:srgbClr val="02C39A"/>
                </a:solidFill>
                <a:latin typeface="Calibri"/>
                <a:ea typeface="Calibri"/>
                <a:cs typeface="Calibri"/>
                <a:sym typeface="Calibri"/>
              </a:rPr>
              <a:t>09</a:t>
            </a:r>
            <a:endParaRPr b="0" i="0" sz="2800" u="none" cap="none" strike="noStrike">
              <a:solidFill>
                <a:schemeClr val="dk1"/>
              </a:solidFill>
              <a:latin typeface="Calibri"/>
              <a:ea typeface="Calibri"/>
              <a:cs typeface="Calibri"/>
              <a:sym typeface="Calibri"/>
            </a:endParaRPr>
          </a:p>
        </p:txBody>
      </p:sp>
      <p:sp>
        <p:nvSpPr>
          <p:cNvPr id="433" name="Google Shape;433;p11"/>
          <p:cNvSpPr/>
          <p:nvPr/>
        </p:nvSpPr>
        <p:spPr>
          <a:xfrm>
            <a:off x="1005840" y="182880"/>
            <a:ext cx="64008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Calibri"/>
              <a:buNone/>
            </a:pPr>
            <a:r>
              <a:rPr b="1" i="0" lang="en-US" sz="2800" u="none" cap="none" strike="noStrike">
                <a:solidFill>
                  <a:srgbClr val="FFFFFF"/>
                </a:solidFill>
                <a:latin typeface="Calibri"/>
                <a:ea typeface="Calibri"/>
                <a:cs typeface="Calibri"/>
                <a:sym typeface="Calibri"/>
              </a:rPr>
              <a:t>Future Scope</a:t>
            </a:r>
            <a:endParaRPr b="0" i="0" sz="2800" u="none" cap="none" strike="noStrike">
              <a:solidFill>
                <a:schemeClr val="dk1"/>
              </a:solidFill>
              <a:latin typeface="Calibri"/>
              <a:ea typeface="Calibri"/>
              <a:cs typeface="Calibri"/>
              <a:sym typeface="Calibri"/>
            </a:endParaRPr>
          </a:p>
        </p:txBody>
      </p:sp>
      <p:sp>
        <p:nvSpPr>
          <p:cNvPr id="434" name="Google Shape;434;p11"/>
          <p:cNvSpPr/>
          <p:nvPr/>
        </p:nvSpPr>
        <p:spPr>
          <a:xfrm>
            <a:off x="320040" y="1143000"/>
            <a:ext cx="2743200" cy="502920"/>
          </a:xfrm>
          <a:prstGeom prst="rect">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11"/>
          <p:cNvSpPr/>
          <p:nvPr/>
        </p:nvSpPr>
        <p:spPr>
          <a:xfrm>
            <a:off x="411480" y="1161288"/>
            <a:ext cx="2560320" cy="4663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Short Term</a:t>
            </a:r>
            <a:endParaRPr b="0" i="0" sz="1400" u="none" cap="none" strike="noStrike">
              <a:solidFill>
                <a:schemeClr val="dk1"/>
              </a:solidFill>
              <a:latin typeface="Calibri"/>
              <a:ea typeface="Calibri"/>
              <a:cs typeface="Calibri"/>
              <a:sym typeface="Calibri"/>
            </a:endParaRPr>
          </a:p>
        </p:txBody>
      </p:sp>
      <p:sp>
        <p:nvSpPr>
          <p:cNvPr id="436" name="Google Shape;436;p11"/>
          <p:cNvSpPr/>
          <p:nvPr/>
        </p:nvSpPr>
        <p:spPr>
          <a:xfrm>
            <a:off x="320040" y="1645920"/>
            <a:ext cx="2743200" cy="2011680"/>
          </a:xfrm>
          <a:prstGeom prst="rect">
            <a:avLst/>
          </a:prstGeom>
          <a:solidFill>
            <a:srgbClr val="F0F7F8"/>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11"/>
          <p:cNvSpPr/>
          <p:nvPr/>
        </p:nvSpPr>
        <p:spPr>
          <a:xfrm>
            <a:off x="457200" y="1737360"/>
            <a:ext cx="201168" cy="201168"/>
          </a:xfrm>
          <a:prstGeom prst="ellipse">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11"/>
          <p:cNvSpPr/>
          <p:nvPr/>
        </p:nvSpPr>
        <p:spPr>
          <a:xfrm>
            <a:off x="731520" y="1709928"/>
            <a:ext cx="2286000" cy="50292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1E293B"/>
              </a:buClr>
              <a:buSzPts val="1050"/>
              <a:buFont typeface="Calibri"/>
              <a:buNone/>
            </a:pPr>
            <a:r>
              <a:rPr b="0" i="0" lang="en-US" sz="1050" u="none" cap="none" strike="noStrike">
                <a:solidFill>
                  <a:srgbClr val="1E293B"/>
                </a:solidFill>
                <a:latin typeface="Calibri"/>
                <a:ea typeface="Calibri"/>
                <a:cs typeface="Calibri"/>
                <a:sym typeface="Calibri"/>
              </a:rPr>
              <a:t>Test on real-world organizational hiring datasets</a:t>
            </a:r>
            <a:endParaRPr b="0" i="0" sz="1050" u="none" cap="none" strike="noStrike">
              <a:solidFill>
                <a:schemeClr val="dk1"/>
              </a:solidFill>
              <a:latin typeface="Calibri"/>
              <a:ea typeface="Calibri"/>
              <a:cs typeface="Calibri"/>
              <a:sym typeface="Calibri"/>
            </a:endParaRPr>
          </a:p>
        </p:txBody>
      </p:sp>
      <p:sp>
        <p:nvSpPr>
          <p:cNvPr id="439" name="Google Shape;439;p11"/>
          <p:cNvSpPr/>
          <p:nvPr/>
        </p:nvSpPr>
        <p:spPr>
          <a:xfrm>
            <a:off x="457200" y="2359152"/>
            <a:ext cx="201168" cy="201168"/>
          </a:xfrm>
          <a:prstGeom prst="ellipse">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11"/>
          <p:cNvSpPr/>
          <p:nvPr/>
        </p:nvSpPr>
        <p:spPr>
          <a:xfrm>
            <a:off x="731520" y="2331720"/>
            <a:ext cx="2286000" cy="50292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1E293B"/>
              </a:buClr>
              <a:buSzPts val="1050"/>
              <a:buFont typeface="Calibri"/>
              <a:buNone/>
            </a:pPr>
            <a:r>
              <a:rPr b="0" i="0" lang="en-US" sz="1050" u="none" cap="none" strike="noStrike">
                <a:solidFill>
                  <a:srgbClr val="1E293B"/>
                </a:solidFill>
                <a:latin typeface="Calibri"/>
                <a:ea typeface="Calibri"/>
                <a:cs typeface="Calibri"/>
                <a:sym typeface="Calibri"/>
              </a:rPr>
              <a:t>Extend to race, age, and intersectional bias detection</a:t>
            </a:r>
            <a:endParaRPr b="0" i="0" sz="1050" u="none" cap="none" strike="noStrike">
              <a:solidFill>
                <a:schemeClr val="dk1"/>
              </a:solidFill>
              <a:latin typeface="Calibri"/>
              <a:ea typeface="Calibri"/>
              <a:cs typeface="Calibri"/>
              <a:sym typeface="Calibri"/>
            </a:endParaRPr>
          </a:p>
        </p:txBody>
      </p:sp>
      <p:sp>
        <p:nvSpPr>
          <p:cNvPr id="441" name="Google Shape;441;p11"/>
          <p:cNvSpPr/>
          <p:nvPr/>
        </p:nvSpPr>
        <p:spPr>
          <a:xfrm>
            <a:off x="457200" y="2980944"/>
            <a:ext cx="201168" cy="201168"/>
          </a:xfrm>
          <a:prstGeom prst="ellipse">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11"/>
          <p:cNvSpPr/>
          <p:nvPr/>
        </p:nvSpPr>
        <p:spPr>
          <a:xfrm>
            <a:off x="731520" y="2953512"/>
            <a:ext cx="2286000" cy="50292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1E293B"/>
              </a:buClr>
              <a:buSzPts val="1050"/>
              <a:buFont typeface="Calibri"/>
              <a:buNone/>
            </a:pPr>
            <a:r>
              <a:rPr b="0" i="0" lang="en-US" sz="1050" u="none" cap="none" strike="noStrike">
                <a:solidFill>
                  <a:srgbClr val="1E293B"/>
                </a:solidFill>
                <a:latin typeface="Calibri"/>
                <a:ea typeface="Calibri"/>
                <a:cs typeface="Calibri"/>
                <a:sym typeface="Calibri"/>
              </a:rPr>
              <a:t>Add confidence intervals to all fairness metrics</a:t>
            </a:r>
            <a:endParaRPr b="0" i="0" sz="1050" u="none" cap="none" strike="noStrike">
              <a:solidFill>
                <a:schemeClr val="dk1"/>
              </a:solidFill>
              <a:latin typeface="Calibri"/>
              <a:ea typeface="Calibri"/>
              <a:cs typeface="Calibri"/>
              <a:sym typeface="Calibri"/>
            </a:endParaRPr>
          </a:p>
        </p:txBody>
      </p:sp>
      <p:sp>
        <p:nvSpPr>
          <p:cNvPr id="443" name="Google Shape;443;p11"/>
          <p:cNvSpPr/>
          <p:nvPr/>
        </p:nvSpPr>
        <p:spPr>
          <a:xfrm>
            <a:off x="3246120" y="1143000"/>
            <a:ext cx="2743200" cy="502920"/>
          </a:xfrm>
          <a:prstGeom prst="rect">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11"/>
          <p:cNvSpPr/>
          <p:nvPr/>
        </p:nvSpPr>
        <p:spPr>
          <a:xfrm>
            <a:off x="3337560" y="1161288"/>
            <a:ext cx="2560320" cy="4663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Medium Term</a:t>
            </a:r>
            <a:endParaRPr b="0" i="0" sz="1400" u="none" cap="none" strike="noStrike">
              <a:solidFill>
                <a:schemeClr val="dk1"/>
              </a:solidFill>
              <a:latin typeface="Calibri"/>
              <a:ea typeface="Calibri"/>
              <a:cs typeface="Calibri"/>
              <a:sym typeface="Calibri"/>
            </a:endParaRPr>
          </a:p>
        </p:txBody>
      </p:sp>
      <p:sp>
        <p:nvSpPr>
          <p:cNvPr id="445" name="Google Shape;445;p11"/>
          <p:cNvSpPr/>
          <p:nvPr/>
        </p:nvSpPr>
        <p:spPr>
          <a:xfrm>
            <a:off x="3246120" y="1645920"/>
            <a:ext cx="2743200" cy="2011680"/>
          </a:xfrm>
          <a:prstGeom prst="rect">
            <a:avLst/>
          </a:prstGeom>
          <a:solidFill>
            <a:srgbClr val="F0F7F8"/>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1"/>
          <p:cNvSpPr/>
          <p:nvPr/>
        </p:nvSpPr>
        <p:spPr>
          <a:xfrm>
            <a:off x="3383280" y="1737360"/>
            <a:ext cx="201168" cy="201168"/>
          </a:xfrm>
          <a:prstGeom prst="ellipse">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11"/>
          <p:cNvSpPr/>
          <p:nvPr/>
        </p:nvSpPr>
        <p:spPr>
          <a:xfrm>
            <a:off x="3657600" y="1709928"/>
            <a:ext cx="2286000" cy="50292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1E293B"/>
              </a:buClr>
              <a:buSzPts val="1050"/>
              <a:buFont typeface="Calibri"/>
              <a:buNone/>
            </a:pPr>
            <a:r>
              <a:rPr b="0" i="0" lang="en-US" sz="1050" u="none" cap="none" strike="noStrike">
                <a:solidFill>
                  <a:srgbClr val="1E293B"/>
                </a:solidFill>
                <a:latin typeface="Calibri"/>
                <a:ea typeface="Calibri"/>
                <a:cs typeface="Calibri"/>
                <a:sym typeface="Calibri"/>
              </a:rPr>
              <a:t>Build an interactive HR dashboard for upload &amp; audit</a:t>
            </a:r>
            <a:endParaRPr b="0" i="0" sz="1050" u="none" cap="none" strike="noStrike">
              <a:solidFill>
                <a:schemeClr val="dk1"/>
              </a:solidFill>
              <a:latin typeface="Calibri"/>
              <a:ea typeface="Calibri"/>
              <a:cs typeface="Calibri"/>
              <a:sym typeface="Calibri"/>
            </a:endParaRPr>
          </a:p>
        </p:txBody>
      </p:sp>
      <p:sp>
        <p:nvSpPr>
          <p:cNvPr id="448" name="Google Shape;448;p11"/>
          <p:cNvSpPr/>
          <p:nvPr/>
        </p:nvSpPr>
        <p:spPr>
          <a:xfrm>
            <a:off x="3383280" y="2359152"/>
            <a:ext cx="201168" cy="201168"/>
          </a:xfrm>
          <a:prstGeom prst="ellipse">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11"/>
          <p:cNvSpPr/>
          <p:nvPr/>
        </p:nvSpPr>
        <p:spPr>
          <a:xfrm>
            <a:off x="3657600" y="2331720"/>
            <a:ext cx="2286000" cy="50292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1E293B"/>
              </a:buClr>
              <a:buSzPts val="1050"/>
              <a:buFont typeface="Calibri"/>
              <a:buNone/>
            </a:pPr>
            <a:r>
              <a:rPr b="0" i="0" lang="en-US" sz="1050" u="none" cap="none" strike="noStrike">
                <a:solidFill>
                  <a:srgbClr val="1E293B"/>
                </a:solidFill>
                <a:latin typeface="Calibri"/>
                <a:ea typeface="Calibri"/>
                <a:cs typeface="Calibri"/>
                <a:sym typeface="Calibri"/>
              </a:rPr>
              <a:t>Explore post-processing: per-group threshold adjustment</a:t>
            </a:r>
            <a:endParaRPr b="0" i="0" sz="1050" u="none" cap="none" strike="noStrike">
              <a:solidFill>
                <a:schemeClr val="dk1"/>
              </a:solidFill>
              <a:latin typeface="Calibri"/>
              <a:ea typeface="Calibri"/>
              <a:cs typeface="Calibri"/>
              <a:sym typeface="Calibri"/>
            </a:endParaRPr>
          </a:p>
        </p:txBody>
      </p:sp>
      <p:sp>
        <p:nvSpPr>
          <p:cNvPr id="450" name="Google Shape;450;p11"/>
          <p:cNvSpPr/>
          <p:nvPr/>
        </p:nvSpPr>
        <p:spPr>
          <a:xfrm>
            <a:off x="3383280" y="2980944"/>
            <a:ext cx="201168" cy="201168"/>
          </a:xfrm>
          <a:prstGeom prst="ellipse">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11"/>
          <p:cNvSpPr/>
          <p:nvPr/>
        </p:nvSpPr>
        <p:spPr>
          <a:xfrm>
            <a:off x="3657600" y="2953512"/>
            <a:ext cx="2286000" cy="50292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1E293B"/>
              </a:buClr>
              <a:buSzPts val="1050"/>
              <a:buFont typeface="Calibri"/>
              <a:buNone/>
            </a:pPr>
            <a:r>
              <a:rPr b="0" i="0" lang="en-US" sz="1050" u="none" cap="none" strike="noStrike">
                <a:solidFill>
                  <a:srgbClr val="1E293B"/>
                </a:solidFill>
                <a:latin typeface="Calibri"/>
                <a:ea typeface="Calibri"/>
                <a:cs typeface="Calibri"/>
                <a:sym typeface="Calibri"/>
              </a:rPr>
              <a:t>Add adversarial debiasing as a 3rd mitigation method</a:t>
            </a:r>
            <a:endParaRPr b="0" i="0" sz="1050" u="none" cap="none" strike="noStrike">
              <a:solidFill>
                <a:schemeClr val="dk1"/>
              </a:solidFill>
              <a:latin typeface="Calibri"/>
              <a:ea typeface="Calibri"/>
              <a:cs typeface="Calibri"/>
              <a:sym typeface="Calibri"/>
            </a:endParaRPr>
          </a:p>
        </p:txBody>
      </p:sp>
      <p:sp>
        <p:nvSpPr>
          <p:cNvPr id="452" name="Google Shape;452;p11"/>
          <p:cNvSpPr/>
          <p:nvPr/>
        </p:nvSpPr>
        <p:spPr>
          <a:xfrm>
            <a:off x="6172200" y="1143000"/>
            <a:ext cx="2743200" cy="502920"/>
          </a:xfrm>
          <a:prstGeom prst="rect">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11"/>
          <p:cNvSpPr/>
          <p:nvPr/>
        </p:nvSpPr>
        <p:spPr>
          <a:xfrm>
            <a:off x="6263640" y="1161288"/>
            <a:ext cx="2560320" cy="4663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Long Term</a:t>
            </a:r>
            <a:endParaRPr b="0" i="0" sz="1400" u="none" cap="none" strike="noStrike">
              <a:solidFill>
                <a:schemeClr val="dk1"/>
              </a:solidFill>
              <a:latin typeface="Calibri"/>
              <a:ea typeface="Calibri"/>
              <a:cs typeface="Calibri"/>
              <a:sym typeface="Calibri"/>
            </a:endParaRPr>
          </a:p>
        </p:txBody>
      </p:sp>
      <p:sp>
        <p:nvSpPr>
          <p:cNvPr id="454" name="Google Shape;454;p11"/>
          <p:cNvSpPr/>
          <p:nvPr/>
        </p:nvSpPr>
        <p:spPr>
          <a:xfrm>
            <a:off x="6172200" y="1645920"/>
            <a:ext cx="2743200" cy="2011680"/>
          </a:xfrm>
          <a:prstGeom prst="rect">
            <a:avLst/>
          </a:prstGeom>
          <a:solidFill>
            <a:srgbClr val="F0F7F8"/>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11"/>
          <p:cNvSpPr/>
          <p:nvPr/>
        </p:nvSpPr>
        <p:spPr>
          <a:xfrm>
            <a:off x="6309360" y="1737360"/>
            <a:ext cx="201168" cy="201168"/>
          </a:xfrm>
          <a:prstGeom prst="ellipse">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11"/>
          <p:cNvSpPr/>
          <p:nvPr/>
        </p:nvSpPr>
        <p:spPr>
          <a:xfrm>
            <a:off x="6583680" y="1709928"/>
            <a:ext cx="2286000" cy="50292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1E293B"/>
              </a:buClr>
              <a:buSzPts val="1050"/>
              <a:buFont typeface="Calibri"/>
              <a:buNone/>
            </a:pPr>
            <a:r>
              <a:rPr b="0" i="0" lang="en-US" sz="1050" u="none" cap="none" strike="noStrike">
                <a:solidFill>
                  <a:srgbClr val="1E293B"/>
                </a:solidFill>
                <a:latin typeface="Calibri"/>
                <a:ea typeface="Calibri"/>
                <a:cs typeface="Calibri"/>
                <a:sym typeface="Calibri"/>
              </a:rPr>
              <a:t>Continuous monitoring system for deployed models</a:t>
            </a:r>
            <a:endParaRPr b="0" i="0" sz="1050" u="none" cap="none" strike="noStrike">
              <a:solidFill>
                <a:schemeClr val="dk1"/>
              </a:solidFill>
              <a:latin typeface="Calibri"/>
              <a:ea typeface="Calibri"/>
              <a:cs typeface="Calibri"/>
              <a:sym typeface="Calibri"/>
            </a:endParaRPr>
          </a:p>
        </p:txBody>
      </p:sp>
      <p:sp>
        <p:nvSpPr>
          <p:cNvPr id="457" name="Google Shape;457;p11"/>
          <p:cNvSpPr/>
          <p:nvPr/>
        </p:nvSpPr>
        <p:spPr>
          <a:xfrm>
            <a:off x="6309360" y="2359152"/>
            <a:ext cx="201168" cy="201168"/>
          </a:xfrm>
          <a:prstGeom prst="ellipse">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11"/>
          <p:cNvSpPr/>
          <p:nvPr/>
        </p:nvSpPr>
        <p:spPr>
          <a:xfrm>
            <a:off x="6583680" y="2331720"/>
            <a:ext cx="2286000" cy="50292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1E293B"/>
              </a:buClr>
              <a:buSzPts val="1050"/>
              <a:buFont typeface="Calibri"/>
              <a:buNone/>
            </a:pPr>
            <a:r>
              <a:rPr b="0" i="0" lang="en-US" sz="1050" u="none" cap="none" strike="noStrike">
                <a:solidFill>
                  <a:srgbClr val="1E293B"/>
                </a:solidFill>
                <a:latin typeface="Calibri"/>
                <a:ea typeface="Calibri"/>
                <a:cs typeface="Calibri"/>
                <a:sym typeface="Calibri"/>
              </a:rPr>
              <a:t>Expand beyond hiring: credit, healthcare, criminal justice</a:t>
            </a:r>
            <a:endParaRPr b="0" i="0" sz="1050" u="none" cap="none" strike="noStrike">
              <a:solidFill>
                <a:schemeClr val="dk1"/>
              </a:solidFill>
              <a:latin typeface="Calibri"/>
              <a:ea typeface="Calibri"/>
              <a:cs typeface="Calibri"/>
              <a:sym typeface="Calibri"/>
            </a:endParaRPr>
          </a:p>
        </p:txBody>
      </p:sp>
      <p:sp>
        <p:nvSpPr>
          <p:cNvPr id="459" name="Google Shape;459;p11"/>
          <p:cNvSpPr/>
          <p:nvPr/>
        </p:nvSpPr>
        <p:spPr>
          <a:xfrm>
            <a:off x="6309360" y="2980944"/>
            <a:ext cx="201168" cy="201168"/>
          </a:xfrm>
          <a:prstGeom prst="ellipse">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11"/>
          <p:cNvSpPr/>
          <p:nvPr/>
        </p:nvSpPr>
        <p:spPr>
          <a:xfrm>
            <a:off x="6583680" y="2953512"/>
            <a:ext cx="2286000" cy="50292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1E293B"/>
              </a:buClr>
              <a:buSzPts val="1050"/>
              <a:buFont typeface="Calibri"/>
              <a:buNone/>
            </a:pPr>
            <a:r>
              <a:rPr b="0" i="0" lang="en-US" sz="1050" u="none" cap="none" strike="noStrike">
                <a:solidFill>
                  <a:srgbClr val="1E293B"/>
                </a:solidFill>
                <a:latin typeface="Calibri"/>
                <a:ea typeface="Calibri"/>
                <a:cs typeface="Calibri"/>
                <a:sym typeface="Calibri"/>
              </a:rPr>
              <a:t>Contribute to open-source AI fairness standards</a:t>
            </a:r>
            <a:endParaRPr b="0" i="0" sz="1050" u="none" cap="none" strike="noStrike">
              <a:solidFill>
                <a:schemeClr val="dk1"/>
              </a:solidFill>
              <a:latin typeface="Calibri"/>
              <a:ea typeface="Calibri"/>
              <a:cs typeface="Calibri"/>
              <a:sym typeface="Calibri"/>
            </a:endParaRPr>
          </a:p>
        </p:txBody>
      </p:sp>
      <p:sp>
        <p:nvSpPr>
          <p:cNvPr id="461" name="Google Shape;461;p11"/>
          <p:cNvSpPr/>
          <p:nvPr/>
        </p:nvSpPr>
        <p:spPr>
          <a:xfrm>
            <a:off x="320040" y="3794760"/>
            <a:ext cx="8503920" cy="1188720"/>
          </a:xfrm>
          <a:prstGeom prst="rect">
            <a:avLst/>
          </a:prstGeom>
          <a:solidFill>
            <a:srgbClr val="0A2342"/>
          </a:solidFill>
          <a:ln cap="flat" cmpd="sng" w="12700">
            <a:solidFill>
              <a:srgbClr val="0A2342"/>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11"/>
          <p:cNvSpPr/>
          <p:nvPr/>
        </p:nvSpPr>
        <p:spPr>
          <a:xfrm>
            <a:off x="457200" y="3886200"/>
            <a:ext cx="10972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C39A"/>
              </a:buClr>
              <a:buSzPts val="1300"/>
              <a:buFont typeface="Calibri"/>
              <a:buNone/>
            </a:pPr>
            <a:r>
              <a:rPr b="1" i="0" lang="en-US" sz="1300" u="none" cap="none" strike="noStrike">
                <a:solidFill>
                  <a:srgbClr val="02C39A"/>
                </a:solidFill>
                <a:latin typeface="Calibri"/>
                <a:ea typeface="Calibri"/>
                <a:cs typeface="Calibri"/>
                <a:sym typeface="Calibri"/>
              </a:rPr>
              <a:t>💡  Vision</a:t>
            </a:r>
            <a:endParaRPr b="0" i="0" sz="1300" u="none" cap="none" strike="noStrike">
              <a:solidFill>
                <a:schemeClr val="dk1"/>
              </a:solidFill>
              <a:latin typeface="Calibri"/>
              <a:ea typeface="Calibri"/>
              <a:cs typeface="Calibri"/>
              <a:sym typeface="Calibri"/>
            </a:endParaRPr>
          </a:p>
        </p:txBody>
      </p:sp>
      <p:sp>
        <p:nvSpPr>
          <p:cNvPr id="463" name="Google Shape;463;p11"/>
          <p:cNvSpPr/>
          <p:nvPr/>
        </p:nvSpPr>
        <p:spPr>
          <a:xfrm>
            <a:off x="457200" y="4224528"/>
            <a:ext cx="8229600" cy="658368"/>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B0C4D4"/>
              </a:buClr>
              <a:buSzPts val="1100"/>
              <a:buFont typeface="Calibri"/>
              <a:buNone/>
            </a:pPr>
            <a:r>
              <a:rPr b="0" i="0" lang="en-US" sz="1100" u="none" cap="none" strike="noStrike">
                <a:solidFill>
                  <a:srgbClr val="B0C4D4"/>
                </a:solidFill>
                <a:latin typeface="Calibri"/>
                <a:ea typeface="Calibri"/>
                <a:cs typeface="Calibri"/>
                <a:sym typeface="Calibri"/>
              </a:rPr>
              <a:t>Transform this notebook into a plug-and-play fairness audit tool that any HR team can use — upload a model's predictions, get a full fairness report, flagged violations, and recommended mitigations — with zero ML expertise required.</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2342"/>
        </a:solidFill>
      </p:bgPr>
    </p:bg>
    <p:spTree>
      <p:nvGrpSpPr>
        <p:cNvPr id="468" name="Shape 468"/>
        <p:cNvGrpSpPr/>
        <p:nvPr/>
      </p:nvGrpSpPr>
      <p:grpSpPr>
        <a:xfrm>
          <a:off x="0" y="0"/>
          <a:ext cx="0" cy="0"/>
          <a:chOff x="0" y="0"/>
          <a:chExt cx="0" cy="0"/>
        </a:xfrm>
      </p:grpSpPr>
      <p:sp>
        <p:nvSpPr>
          <p:cNvPr id="469" name="Google Shape;469;p12"/>
          <p:cNvSpPr/>
          <p:nvPr/>
        </p:nvSpPr>
        <p:spPr>
          <a:xfrm>
            <a:off x="0" y="0"/>
            <a:ext cx="73152" cy="5143500"/>
          </a:xfrm>
          <a:prstGeom prst="rect">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12"/>
          <p:cNvSpPr/>
          <p:nvPr/>
        </p:nvSpPr>
        <p:spPr>
          <a:xfrm>
            <a:off x="365760" y="274320"/>
            <a:ext cx="45720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C39A"/>
              </a:buClr>
              <a:buSzPts val="1400"/>
              <a:buFont typeface="Calibri"/>
              <a:buNone/>
            </a:pPr>
            <a:r>
              <a:rPr b="1" i="0" lang="en-US" sz="1400" u="none" cap="none" strike="noStrike">
                <a:solidFill>
                  <a:srgbClr val="02C39A"/>
                </a:solidFill>
                <a:latin typeface="Calibri"/>
                <a:ea typeface="Calibri"/>
                <a:cs typeface="Calibri"/>
                <a:sym typeface="Calibri"/>
              </a:rPr>
              <a:t>10  ·  Conclusion</a:t>
            </a:r>
            <a:endParaRPr b="0" i="0" sz="1400" u="none" cap="none" strike="noStrike">
              <a:solidFill>
                <a:schemeClr val="dk1"/>
              </a:solidFill>
              <a:latin typeface="Calibri"/>
              <a:ea typeface="Calibri"/>
              <a:cs typeface="Calibri"/>
              <a:sym typeface="Calibri"/>
            </a:endParaRPr>
          </a:p>
        </p:txBody>
      </p:sp>
      <p:sp>
        <p:nvSpPr>
          <p:cNvPr id="471" name="Google Shape;471;p12"/>
          <p:cNvSpPr/>
          <p:nvPr/>
        </p:nvSpPr>
        <p:spPr>
          <a:xfrm>
            <a:off x="365760" y="777240"/>
            <a:ext cx="64008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800"/>
              <a:buFont typeface="Calibri"/>
              <a:buNone/>
            </a:pPr>
            <a:r>
              <a:rPr b="1" i="0" lang="en-US" sz="3800" u="none" cap="none" strike="noStrike">
                <a:solidFill>
                  <a:srgbClr val="FFFFFF"/>
                </a:solidFill>
                <a:latin typeface="Calibri"/>
                <a:ea typeface="Calibri"/>
                <a:cs typeface="Calibri"/>
                <a:sym typeface="Calibri"/>
              </a:rPr>
              <a:t>Key Takeaways</a:t>
            </a:r>
            <a:endParaRPr b="0" i="0" sz="3800" u="none" cap="none" strike="noStrike">
              <a:solidFill>
                <a:schemeClr val="dk1"/>
              </a:solidFill>
              <a:latin typeface="Calibri"/>
              <a:ea typeface="Calibri"/>
              <a:cs typeface="Calibri"/>
              <a:sym typeface="Calibri"/>
            </a:endParaRPr>
          </a:p>
        </p:txBody>
      </p:sp>
      <p:sp>
        <p:nvSpPr>
          <p:cNvPr id="472" name="Google Shape;472;p12"/>
          <p:cNvSpPr/>
          <p:nvPr/>
        </p:nvSpPr>
        <p:spPr>
          <a:xfrm>
            <a:off x="365760" y="1828800"/>
            <a:ext cx="5943600" cy="438912"/>
          </a:xfrm>
          <a:prstGeom prst="rect">
            <a:avLst/>
          </a:prstGeom>
          <a:solidFill>
            <a:srgbClr val="FFFFFF">
              <a:alpha val="10196"/>
            </a:srgbClr>
          </a:solidFill>
          <a:ln cap="flat" cmpd="sng" w="9525">
            <a:solidFill>
              <a:srgbClr val="FFFFFF">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12"/>
          <p:cNvSpPr/>
          <p:nvPr/>
        </p:nvSpPr>
        <p:spPr>
          <a:xfrm>
            <a:off x="457200" y="1847088"/>
            <a:ext cx="36576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474" name="Google Shape;474;p12"/>
          <p:cNvSpPr/>
          <p:nvPr/>
        </p:nvSpPr>
        <p:spPr>
          <a:xfrm>
            <a:off x="868680" y="1865376"/>
            <a:ext cx="53492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0E8F0"/>
              </a:buClr>
              <a:buSzPts val="1050"/>
              <a:buFont typeface="Calibri"/>
              <a:buNone/>
            </a:pPr>
            <a:r>
              <a:rPr b="0" i="0" lang="en-US" sz="1050" u="none" cap="none" strike="noStrike">
                <a:solidFill>
                  <a:srgbClr val="D0E8F0"/>
                </a:solidFill>
                <a:latin typeface="Calibri"/>
                <a:ea typeface="Calibri"/>
                <a:cs typeface="Calibri"/>
                <a:sym typeface="Calibri"/>
              </a:rPr>
              <a:t>The baseline model inherited &amp; amplified the +12% gender bias present in training data</a:t>
            </a:r>
            <a:endParaRPr b="0" i="0" sz="1050" u="none" cap="none" strike="noStrike">
              <a:solidFill>
                <a:schemeClr val="dk1"/>
              </a:solidFill>
              <a:latin typeface="Calibri"/>
              <a:ea typeface="Calibri"/>
              <a:cs typeface="Calibri"/>
              <a:sym typeface="Calibri"/>
            </a:endParaRPr>
          </a:p>
        </p:txBody>
      </p:sp>
      <p:sp>
        <p:nvSpPr>
          <p:cNvPr id="475" name="Google Shape;475;p12"/>
          <p:cNvSpPr/>
          <p:nvPr/>
        </p:nvSpPr>
        <p:spPr>
          <a:xfrm>
            <a:off x="365760" y="2331720"/>
            <a:ext cx="5943600" cy="438912"/>
          </a:xfrm>
          <a:prstGeom prst="rect">
            <a:avLst/>
          </a:prstGeom>
          <a:solidFill>
            <a:srgbClr val="FFFFFF">
              <a:alpha val="10196"/>
            </a:srgbClr>
          </a:solidFill>
          <a:ln cap="flat" cmpd="sng" w="9525">
            <a:solidFill>
              <a:srgbClr val="FFFFFF">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12"/>
          <p:cNvSpPr/>
          <p:nvPr/>
        </p:nvSpPr>
        <p:spPr>
          <a:xfrm>
            <a:off x="457200" y="2350008"/>
            <a:ext cx="36576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477" name="Google Shape;477;p12"/>
          <p:cNvSpPr/>
          <p:nvPr/>
        </p:nvSpPr>
        <p:spPr>
          <a:xfrm>
            <a:off x="868680" y="2368296"/>
            <a:ext cx="53492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0E8F0"/>
              </a:buClr>
              <a:buSzPts val="1050"/>
              <a:buFont typeface="Calibri"/>
              <a:buNone/>
            </a:pPr>
            <a:r>
              <a:rPr b="0" i="0" lang="en-US" sz="1050" u="none" cap="none" strike="noStrike">
                <a:solidFill>
                  <a:srgbClr val="D0E8F0"/>
                </a:solidFill>
                <a:latin typeface="Calibri"/>
                <a:ea typeface="Calibri"/>
                <a:cs typeface="Calibri"/>
                <a:sym typeface="Calibri"/>
              </a:rPr>
              <a:t>Fairlearn MetricFrame clearly quantified disparity — DP Difference 0.23, 4/5 Rule violated</a:t>
            </a:r>
            <a:endParaRPr b="0" i="0" sz="1050" u="none" cap="none" strike="noStrike">
              <a:solidFill>
                <a:schemeClr val="dk1"/>
              </a:solidFill>
              <a:latin typeface="Calibri"/>
              <a:ea typeface="Calibri"/>
              <a:cs typeface="Calibri"/>
              <a:sym typeface="Calibri"/>
            </a:endParaRPr>
          </a:p>
        </p:txBody>
      </p:sp>
      <p:sp>
        <p:nvSpPr>
          <p:cNvPr id="478" name="Google Shape;478;p12"/>
          <p:cNvSpPr/>
          <p:nvPr/>
        </p:nvSpPr>
        <p:spPr>
          <a:xfrm>
            <a:off x="365760" y="2834640"/>
            <a:ext cx="5943600" cy="438912"/>
          </a:xfrm>
          <a:prstGeom prst="rect">
            <a:avLst/>
          </a:prstGeom>
          <a:solidFill>
            <a:srgbClr val="FFFFFF">
              <a:alpha val="10196"/>
            </a:srgbClr>
          </a:solidFill>
          <a:ln cap="flat" cmpd="sng" w="9525">
            <a:solidFill>
              <a:srgbClr val="FFFFFF">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12"/>
          <p:cNvSpPr/>
          <p:nvPr/>
        </p:nvSpPr>
        <p:spPr>
          <a:xfrm>
            <a:off x="457200" y="2852928"/>
            <a:ext cx="36576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480" name="Google Shape;480;p12"/>
          <p:cNvSpPr/>
          <p:nvPr/>
        </p:nvSpPr>
        <p:spPr>
          <a:xfrm>
            <a:off x="868680" y="2871216"/>
            <a:ext cx="53492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0E8F0"/>
              </a:buClr>
              <a:buSzPts val="1050"/>
              <a:buFont typeface="Calibri"/>
              <a:buNone/>
            </a:pPr>
            <a:r>
              <a:rPr b="0" i="0" lang="en-US" sz="1050" u="none" cap="none" strike="noStrike">
                <a:solidFill>
                  <a:srgbClr val="D0E8F0"/>
                </a:solidFill>
                <a:latin typeface="Calibri"/>
                <a:ea typeface="Calibri"/>
                <a:cs typeface="Calibri"/>
                <a:sym typeface="Calibri"/>
              </a:rPr>
              <a:t>Sample Reweighting reduced bias by 39% with only a 2% accuracy loss</a:t>
            </a:r>
            <a:endParaRPr b="0" i="0" sz="1050" u="none" cap="none" strike="noStrike">
              <a:solidFill>
                <a:schemeClr val="dk1"/>
              </a:solidFill>
              <a:latin typeface="Calibri"/>
              <a:ea typeface="Calibri"/>
              <a:cs typeface="Calibri"/>
              <a:sym typeface="Calibri"/>
            </a:endParaRPr>
          </a:p>
        </p:txBody>
      </p:sp>
      <p:sp>
        <p:nvSpPr>
          <p:cNvPr id="481" name="Google Shape;481;p12"/>
          <p:cNvSpPr/>
          <p:nvPr/>
        </p:nvSpPr>
        <p:spPr>
          <a:xfrm>
            <a:off x="365760" y="3337560"/>
            <a:ext cx="5943600" cy="438912"/>
          </a:xfrm>
          <a:prstGeom prst="rect">
            <a:avLst/>
          </a:prstGeom>
          <a:solidFill>
            <a:srgbClr val="FFFFFF">
              <a:alpha val="10196"/>
            </a:srgbClr>
          </a:solidFill>
          <a:ln cap="flat" cmpd="sng" w="9525">
            <a:solidFill>
              <a:srgbClr val="FFFFFF">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12"/>
          <p:cNvSpPr/>
          <p:nvPr/>
        </p:nvSpPr>
        <p:spPr>
          <a:xfrm>
            <a:off x="457200" y="3355848"/>
            <a:ext cx="36576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483" name="Google Shape;483;p12"/>
          <p:cNvSpPr/>
          <p:nvPr/>
        </p:nvSpPr>
        <p:spPr>
          <a:xfrm>
            <a:off x="868680" y="3374136"/>
            <a:ext cx="53492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0E8F0"/>
              </a:buClr>
              <a:buSzPts val="1050"/>
              <a:buFont typeface="Calibri"/>
              <a:buNone/>
            </a:pPr>
            <a:r>
              <a:rPr b="0" i="0" lang="en-US" sz="1050" u="none" cap="none" strike="noStrike">
                <a:solidFill>
                  <a:srgbClr val="D0E8F0"/>
                </a:solidFill>
                <a:latin typeface="Calibri"/>
                <a:ea typeface="Calibri"/>
                <a:cs typeface="Calibri"/>
                <a:sym typeface="Calibri"/>
              </a:rPr>
              <a:t>ExponentiatedGradient reduced bias by 87% — best fairness, marginal accuracy cost</a:t>
            </a:r>
            <a:endParaRPr b="0" i="0" sz="1050" u="none" cap="none" strike="noStrike">
              <a:solidFill>
                <a:schemeClr val="dk1"/>
              </a:solidFill>
              <a:latin typeface="Calibri"/>
              <a:ea typeface="Calibri"/>
              <a:cs typeface="Calibri"/>
              <a:sym typeface="Calibri"/>
            </a:endParaRPr>
          </a:p>
        </p:txBody>
      </p:sp>
      <p:sp>
        <p:nvSpPr>
          <p:cNvPr id="484" name="Google Shape;484;p12"/>
          <p:cNvSpPr/>
          <p:nvPr/>
        </p:nvSpPr>
        <p:spPr>
          <a:xfrm>
            <a:off x="365760" y="3840480"/>
            <a:ext cx="5943600" cy="438912"/>
          </a:xfrm>
          <a:prstGeom prst="rect">
            <a:avLst/>
          </a:prstGeom>
          <a:solidFill>
            <a:srgbClr val="FFFFFF">
              <a:alpha val="10196"/>
            </a:srgbClr>
          </a:solidFill>
          <a:ln cap="flat" cmpd="sng" w="9525">
            <a:solidFill>
              <a:srgbClr val="FFFFFF">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12"/>
          <p:cNvSpPr/>
          <p:nvPr/>
        </p:nvSpPr>
        <p:spPr>
          <a:xfrm>
            <a:off x="457200" y="3858768"/>
            <a:ext cx="36576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486" name="Google Shape;486;p12"/>
          <p:cNvSpPr/>
          <p:nvPr/>
        </p:nvSpPr>
        <p:spPr>
          <a:xfrm>
            <a:off x="868680" y="3877056"/>
            <a:ext cx="53492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0E8F0"/>
              </a:buClr>
              <a:buSzPts val="1050"/>
              <a:buFont typeface="Calibri"/>
              <a:buNone/>
            </a:pPr>
            <a:r>
              <a:rPr b="0" i="0" lang="en-US" sz="1050" u="none" cap="none" strike="noStrike">
                <a:solidFill>
                  <a:srgbClr val="D0E8F0"/>
                </a:solidFill>
                <a:latin typeface="Calibri"/>
                <a:ea typeface="Calibri"/>
                <a:cs typeface="Calibri"/>
                <a:sym typeface="Calibri"/>
              </a:rPr>
              <a:t>SHAP revealed Gender contributing comparable weight to ExperienceYears — direct evidence</a:t>
            </a:r>
            <a:endParaRPr b="0" i="0" sz="1050" u="none" cap="none" strike="noStrike">
              <a:solidFill>
                <a:schemeClr val="dk1"/>
              </a:solidFill>
              <a:latin typeface="Calibri"/>
              <a:ea typeface="Calibri"/>
              <a:cs typeface="Calibri"/>
              <a:sym typeface="Calibri"/>
            </a:endParaRPr>
          </a:p>
        </p:txBody>
      </p:sp>
      <p:sp>
        <p:nvSpPr>
          <p:cNvPr id="487" name="Google Shape;487;p12"/>
          <p:cNvSpPr/>
          <p:nvPr/>
        </p:nvSpPr>
        <p:spPr>
          <a:xfrm>
            <a:off x="365760" y="4343400"/>
            <a:ext cx="5943600" cy="438912"/>
          </a:xfrm>
          <a:prstGeom prst="rect">
            <a:avLst/>
          </a:prstGeom>
          <a:solidFill>
            <a:srgbClr val="FFFFFF">
              <a:alpha val="10196"/>
            </a:srgbClr>
          </a:solidFill>
          <a:ln cap="flat" cmpd="sng" w="9525">
            <a:solidFill>
              <a:srgbClr val="FFFFFF">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12"/>
          <p:cNvSpPr/>
          <p:nvPr/>
        </p:nvSpPr>
        <p:spPr>
          <a:xfrm>
            <a:off x="457200" y="4361688"/>
            <a:ext cx="36576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489" name="Google Shape;489;p12"/>
          <p:cNvSpPr/>
          <p:nvPr/>
        </p:nvSpPr>
        <p:spPr>
          <a:xfrm>
            <a:off x="868680" y="4379976"/>
            <a:ext cx="53492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0E8F0"/>
              </a:buClr>
              <a:buSzPts val="1050"/>
              <a:buFont typeface="Calibri"/>
              <a:buNone/>
            </a:pPr>
            <a:r>
              <a:rPr b="0" i="0" lang="en-US" sz="1050" u="none" cap="none" strike="noStrike">
                <a:solidFill>
                  <a:srgbClr val="D0E8F0"/>
                </a:solidFill>
                <a:latin typeface="Calibri"/>
                <a:ea typeface="Calibri"/>
                <a:cs typeface="Calibri"/>
                <a:sym typeface="Calibri"/>
              </a:rPr>
              <a:t>Fairness &amp; accuracy are not mutually exclusive — mitigation makes AI systems both fair AND useful</a:t>
            </a:r>
            <a:endParaRPr b="0" i="0" sz="1050" u="none" cap="none" strike="noStrike">
              <a:solidFill>
                <a:schemeClr val="dk1"/>
              </a:solidFill>
              <a:latin typeface="Calibri"/>
              <a:ea typeface="Calibri"/>
              <a:cs typeface="Calibri"/>
              <a:sym typeface="Calibri"/>
            </a:endParaRPr>
          </a:p>
        </p:txBody>
      </p:sp>
      <p:sp>
        <p:nvSpPr>
          <p:cNvPr id="490" name="Google Shape;490;p12"/>
          <p:cNvSpPr/>
          <p:nvPr/>
        </p:nvSpPr>
        <p:spPr>
          <a:xfrm>
            <a:off x="6720840" y="1463040"/>
            <a:ext cx="2103120" cy="804672"/>
          </a:xfrm>
          <a:prstGeom prst="rect">
            <a:avLst/>
          </a:prstGeom>
          <a:solidFill>
            <a:srgbClr val="028090">
              <a:alpha val="70196"/>
            </a:srgbClr>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12"/>
          <p:cNvSpPr/>
          <p:nvPr/>
        </p:nvSpPr>
        <p:spPr>
          <a:xfrm>
            <a:off x="6766560" y="1499616"/>
            <a:ext cx="20116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2C39A"/>
              </a:buClr>
              <a:buSzPts val="2600"/>
              <a:buFont typeface="Calibri"/>
              <a:buNone/>
            </a:pPr>
            <a:r>
              <a:rPr b="1" i="0" lang="en-US" sz="2600" u="none" cap="none" strike="noStrike">
                <a:solidFill>
                  <a:srgbClr val="02C39A"/>
                </a:solidFill>
                <a:latin typeface="Calibri"/>
                <a:ea typeface="Calibri"/>
                <a:cs typeface="Calibri"/>
                <a:sym typeface="Calibri"/>
              </a:rPr>
              <a:t>87%</a:t>
            </a:r>
            <a:endParaRPr b="0" i="0" sz="2600" u="none" cap="none" strike="noStrike">
              <a:solidFill>
                <a:schemeClr val="dk1"/>
              </a:solidFill>
              <a:latin typeface="Calibri"/>
              <a:ea typeface="Calibri"/>
              <a:cs typeface="Calibri"/>
              <a:sym typeface="Calibri"/>
            </a:endParaRPr>
          </a:p>
        </p:txBody>
      </p:sp>
      <p:sp>
        <p:nvSpPr>
          <p:cNvPr id="492" name="Google Shape;492;p12"/>
          <p:cNvSpPr/>
          <p:nvPr/>
        </p:nvSpPr>
        <p:spPr>
          <a:xfrm>
            <a:off x="6766560" y="1965960"/>
            <a:ext cx="201168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0C0CC"/>
              </a:buClr>
              <a:buSzPts val="950"/>
              <a:buFont typeface="Calibri"/>
              <a:buNone/>
            </a:pPr>
            <a:r>
              <a:rPr b="0" i="0" lang="en-US" sz="950" u="none" cap="none" strike="noStrike">
                <a:solidFill>
                  <a:srgbClr val="A0C0CC"/>
                </a:solidFill>
                <a:latin typeface="Calibri"/>
                <a:ea typeface="Calibri"/>
                <a:cs typeface="Calibri"/>
                <a:sym typeface="Calibri"/>
              </a:rPr>
              <a:t>Max bias reduction</a:t>
            </a:r>
            <a:endParaRPr b="0" i="0" sz="950" u="none" cap="none" strike="noStrike">
              <a:solidFill>
                <a:schemeClr val="dk1"/>
              </a:solidFill>
              <a:latin typeface="Calibri"/>
              <a:ea typeface="Calibri"/>
              <a:cs typeface="Calibri"/>
              <a:sym typeface="Calibri"/>
            </a:endParaRPr>
          </a:p>
        </p:txBody>
      </p:sp>
      <p:sp>
        <p:nvSpPr>
          <p:cNvPr id="493" name="Google Shape;493;p12"/>
          <p:cNvSpPr/>
          <p:nvPr/>
        </p:nvSpPr>
        <p:spPr>
          <a:xfrm>
            <a:off x="6720840" y="2377440"/>
            <a:ext cx="2103120" cy="804672"/>
          </a:xfrm>
          <a:prstGeom prst="rect">
            <a:avLst/>
          </a:prstGeom>
          <a:solidFill>
            <a:srgbClr val="028090">
              <a:alpha val="70196"/>
            </a:srgbClr>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12"/>
          <p:cNvSpPr/>
          <p:nvPr/>
        </p:nvSpPr>
        <p:spPr>
          <a:xfrm>
            <a:off x="6766560" y="2414016"/>
            <a:ext cx="20116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2C39A"/>
              </a:buClr>
              <a:buSzPts val="2600"/>
              <a:buFont typeface="Calibri"/>
              <a:buNone/>
            </a:pPr>
            <a:r>
              <a:rPr b="1" i="0" lang="en-US" sz="2600" u="none" cap="none" strike="noStrike">
                <a:solidFill>
                  <a:srgbClr val="02C39A"/>
                </a:solidFill>
                <a:latin typeface="Calibri"/>
                <a:ea typeface="Calibri"/>
                <a:cs typeface="Calibri"/>
                <a:sym typeface="Calibri"/>
              </a:rPr>
              <a:t>3%</a:t>
            </a:r>
            <a:endParaRPr b="0" i="0" sz="2600" u="none" cap="none" strike="noStrike">
              <a:solidFill>
                <a:schemeClr val="dk1"/>
              </a:solidFill>
              <a:latin typeface="Calibri"/>
              <a:ea typeface="Calibri"/>
              <a:cs typeface="Calibri"/>
              <a:sym typeface="Calibri"/>
            </a:endParaRPr>
          </a:p>
        </p:txBody>
      </p:sp>
      <p:sp>
        <p:nvSpPr>
          <p:cNvPr id="495" name="Google Shape;495;p12"/>
          <p:cNvSpPr/>
          <p:nvPr/>
        </p:nvSpPr>
        <p:spPr>
          <a:xfrm>
            <a:off x="6766560" y="2880360"/>
            <a:ext cx="201168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0C0CC"/>
              </a:buClr>
              <a:buSzPts val="950"/>
              <a:buFont typeface="Calibri"/>
              <a:buNone/>
            </a:pPr>
            <a:r>
              <a:rPr b="0" i="0" lang="en-US" sz="950" u="none" cap="none" strike="noStrike">
                <a:solidFill>
                  <a:srgbClr val="A0C0CC"/>
                </a:solidFill>
                <a:latin typeface="Calibri"/>
                <a:ea typeface="Calibri"/>
                <a:cs typeface="Calibri"/>
                <a:sym typeface="Calibri"/>
              </a:rPr>
              <a:t>Accuracy trade-off</a:t>
            </a:r>
            <a:endParaRPr b="0" i="0" sz="950" u="none" cap="none" strike="noStrike">
              <a:solidFill>
                <a:schemeClr val="dk1"/>
              </a:solidFill>
              <a:latin typeface="Calibri"/>
              <a:ea typeface="Calibri"/>
              <a:cs typeface="Calibri"/>
              <a:sym typeface="Calibri"/>
            </a:endParaRPr>
          </a:p>
        </p:txBody>
      </p:sp>
      <p:sp>
        <p:nvSpPr>
          <p:cNvPr id="496" name="Google Shape;496;p12"/>
          <p:cNvSpPr/>
          <p:nvPr/>
        </p:nvSpPr>
        <p:spPr>
          <a:xfrm>
            <a:off x="6720840" y="3291840"/>
            <a:ext cx="2103120" cy="804672"/>
          </a:xfrm>
          <a:prstGeom prst="rect">
            <a:avLst/>
          </a:prstGeom>
          <a:solidFill>
            <a:srgbClr val="028090">
              <a:alpha val="70196"/>
            </a:srgbClr>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12"/>
          <p:cNvSpPr/>
          <p:nvPr/>
        </p:nvSpPr>
        <p:spPr>
          <a:xfrm>
            <a:off x="6766560" y="3328416"/>
            <a:ext cx="20116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2C39A"/>
              </a:buClr>
              <a:buSzPts val="2600"/>
              <a:buFont typeface="Calibri"/>
              <a:buNone/>
            </a:pPr>
            <a:r>
              <a:rPr b="1" i="0" lang="en-US" sz="2600" u="none" cap="none" strike="noStrike">
                <a:solidFill>
                  <a:srgbClr val="02C39A"/>
                </a:solidFill>
                <a:latin typeface="Calibri"/>
                <a:ea typeface="Calibri"/>
                <a:cs typeface="Calibri"/>
                <a:sym typeface="Calibri"/>
              </a:rPr>
              <a:t>0.96</a:t>
            </a:r>
            <a:endParaRPr b="0" i="0" sz="2600" u="none" cap="none" strike="noStrike">
              <a:solidFill>
                <a:schemeClr val="dk1"/>
              </a:solidFill>
              <a:latin typeface="Calibri"/>
              <a:ea typeface="Calibri"/>
              <a:cs typeface="Calibri"/>
              <a:sym typeface="Calibri"/>
            </a:endParaRPr>
          </a:p>
        </p:txBody>
      </p:sp>
      <p:sp>
        <p:nvSpPr>
          <p:cNvPr id="498" name="Google Shape;498;p12"/>
          <p:cNvSpPr/>
          <p:nvPr/>
        </p:nvSpPr>
        <p:spPr>
          <a:xfrm>
            <a:off x="6766560" y="3794760"/>
            <a:ext cx="201168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0C0CC"/>
              </a:buClr>
              <a:buSzPts val="950"/>
              <a:buFont typeface="Calibri"/>
              <a:buNone/>
            </a:pPr>
            <a:r>
              <a:rPr b="0" i="0" lang="en-US" sz="950" u="none" cap="none" strike="noStrike">
                <a:solidFill>
                  <a:srgbClr val="A0C0CC"/>
                </a:solidFill>
                <a:latin typeface="Calibri"/>
                <a:ea typeface="Calibri"/>
                <a:cs typeface="Calibri"/>
                <a:sym typeface="Calibri"/>
              </a:rPr>
              <a:t>Final DP Ratio</a:t>
            </a:r>
            <a:endParaRPr b="0" i="0" sz="950" u="none" cap="none" strike="noStrike">
              <a:solidFill>
                <a:schemeClr val="dk1"/>
              </a:solidFill>
              <a:latin typeface="Calibri"/>
              <a:ea typeface="Calibri"/>
              <a:cs typeface="Calibri"/>
              <a:sym typeface="Calibri"/>
            </a:endParaRPr>
          </a:p>
        </p:txBody>
      </p:sp>
      <p:sp>
        <p:nvSpPr>
          <p:cNvPr id="499" name="Google Shape;499;p12"/>
          <p:cNvSpPr/>
          <p:nvPr/>
        </p:nvSpPr>
        <p:spPr>
          <a:xfrm>
            <a:off x="6720840" y="4206240"/>
            <a:ext cx="2103120" cy="804672"/>
          </a:xfrm>
          <a:prstGeom prst="rect">
            <a:avLst/>
          </a:prstGeom>
          <a:solidFill>
            <a:srgbClr val="028090">
              <a:alpha val="70196"/>
            </a:srgbClr>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12"/>
          <p:cNvSpPr/>
          <p:nvPr/>
        </p:nvSpPr>
        <p:spPr>
          <a:xfrm>
            <a:off x="6766560" y="4242816"/>
            <a:ext cx="20116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2C39A"/>
              </a:buClr>
              <a:buSzPts val="2600"/>
              <a:buFont typeface="Calibri"/>
              <a:buNone/>
            </a:pPr>
            <a:r>
              <a:rPr b="1" i="0" lang="en-US" sz="2600" u="none" cap="none" strike="noStrike">
                <a:solidFill>
                  <a:srgbClr val="02C39A"/>
                </a:solidFill>
                <a:latin typeface="Calibri"/>
                <a:ea typeface="Calibri"/>
                <a:cs typeface="Calibri"/>
                <a:sym typeface="Calibri"/>
              </a:rPr>
              <a:t>✅</a:t>
            </a:r>
            <a:endParaRPr b="0" i="0" sz="2600" u="none" cap="none" strike="noStrike">
              <a:solidFill>
                <a:schemeClr val="dk1"/>
              </a:solidFill>
              <a:latin typeface="Calibri"/>
              <a:ea typeface="Calibri"/>
              <a:cs typeface="Calibri"/>
              <a:sym typeface="Calibri"/>
            </a:endParaRPr>
          </a:p>
        </p:txBody>
      </p:sp>
      <p:sp>
        <p:nvSpPr>
          <p:cNvPr id="501" name="Google Shape;501;p12"/>
          <p:cNvSpPr/>
          <p:nvPr/>
        </p:nvSpPr>
        <p:spPr>
          <a:xfrm>
            <a:off x="6766560" y="4709160"/>
            <a:ext cx="201168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0C0CC"/>
              </a:buClr>
              <a:buSzPts val="950"/>
              <a:buFont typeface="Calibri"/>
              <a:buNone/>
            </a:pPr>
            <a:r>
              <a:rPr b="0" i="0" lang="en-US" sz="950" u="none" cap="none" strike="noStrike">
                <a:solidFill>
                  <a:srgbClr val="A0C0CC"/>
                </a:solidFill>
                <a:latin typeface="Calibri"/>
                <a:ea typeface="Calibri"/>
                <a:cs typeface="Calibri"/>
                <a:sym typeface="Calibri"/>
              </a:rPr>
              <a:t>4/5 Rule satisfied</a:t>
            </a:r>
            <a:endParaRPr b="0" i="0" sz="950" u="none" cap="none" strike="noStrike">
              <a:solidFill>
                <a:schemeClr val="dk1"/>
              </a:solidFill>
              <a:latin typeface="Calibri"/>
              <a:ea typeface="Calibri"/>
              <a:cs typeface="Calibri"/>
              <a:sym typeface="Calibri"/>
            </a:endParaRPr>
          </a:p>
        </p:txBody>
      </p:sp>
      <p:sp>
        <p:nvSpPr>
          <p:cNvPr id="502" name="Google Shape;502;p12"/>
          <p:cNvSpPr/>
          <p:nvPr/>
        </p:nvSpPr>
        <p:spPr>
          <a:xfrm>
            <a:off x="365760" y="4846320"/>
            <a:ext cx="841248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7A8A"/>
              </a:buClr>
              <a:buSzPts val="900"/>
              <a:buFont typeface="Calibri"/>
              <a:buNone/>
            </a:pPr>
            <a:r>
              <a:rPr b="0" i="0" lang="en-US" sz="900" u="none" cap="none" strike="noStrike">
                <a:solidFill>
                  <a:srgbClr val="5A7A8A"/>
                </a:solidFill>
                <a:latin typeface="Calibri"/>
                <a:ea typeface="Calibri"/>
                <a:cs typeface="Calibri"/>
                <a:sym typeface="Calibri"/>
              </a:rPr>
              <a:t>github.com/sonu786786/Bias-Detection-Tool  ·  Built with Python · Fairlearn · SHAP</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